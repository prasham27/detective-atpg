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covers two of the four blocks of our presentation: PODEM and ATPP. The D-Algorithm and FAN slides, plus framing/intro, are owned by the colleague.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PODEM was introduced by Prabhu Goel in 1981 as a direct fix for the explosion problem people kept hitting with the D-Algorithm. The D-Algorithm makes decisions on internal circuit lines, which means it can pick assignments that turn out to be physically impossible later, and then waste huge amounts of time backtracking. Goel's insight was simple but powerful: only ever make decisions at primary inputs. Every decision is then automatically consistent with the circuit, because PIs are free variables. The search space drops from 'all internal lines' to just two-to-the-number-of-primary-inputs, which is much smaller and much better behaved.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PODEM works as a loop. First we set an objective — a value we want on some line, either to activate the fault or to propagate the D-frontier. Then we backtrace: starting from that objective line, we walk backwards through the gates, at each step choosing an input that would force the gate to the value we want. We keep walking until we hit a primary input, and we assign that PI. Then we simulate the whole circuit forward. If the objective is satisfied, great, pick the next one. If not, we use the X-Path Check — basically asking, 'is there still a route of unassigned lines from the fault to an output?' If yes, continue. If no, we backtrack the last PI decision. Because every decision is on a PI, backtracking is clean. SCOAP metrics — controllability and observability scores — are used as a heuristic to make the backtrace choose smart inputs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one through. Take a three-PI circuit: A, B, C. G1 is the AND of A and B. G2 is the OR of G1 and C, and G2 is the only output. Suppose we are testing G1 stuck-at-zero. Step one — activate the fault. To see a difference at G1, the good circuit needs G1 to be 1, so we need A equals 1 AND B equals 1. PODEM picks one objective at a time. We pick A equals 1, backtrace — A is already a PI so we just assign it — and simulate. G1 is still X because B is unknown. So our next objective is B equals 1. Assign, simulate, and now G1 has the value D, which means 1 in the good circuit and 0 in the faulty one. Step two — propagate. G2 is an OR. To pass D through an OR we need the side input, C, to be zero. Set C equals zero, simulate, and the output G2 now carries D. Done. Test pattern: A equals 1, B equals 1, C equals 0. Notice every single decision was on a primary input — no internal-line guessing.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Classical ATPG algorithms are mathematically beautiful but they share a fundamental limitation: they are search algorithms. In the worst case they are exponential. Our own measurements bear this out — PODEM on c432, only 160 gates, took us nearly two minutes to cover all faults. Real industrial designs have hundreds of millions of gates, and commercial tools like TestMAX use enormous engineering effort to keep this practical. The DETECTive paper makes a different bet: structural patterns in circuits repeat, and a neural network can learn them. Instead of searching for a test pattern, we predict one in a single forward pass. That trades correctness guarantees for speed. We're not replacing classical ATPG — we're proposing it as a fast first guess that classical methods can verify or refine.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acronym is deliberate. Classical ATPG generates patterns by searching. ATPP — prediction — produces them in one forward pass. The model takes two inputs: the gate-level netlist and a designated fault, meaning a specific line and a stuck-at-0 or stuck-at-1 polarity. It outputs a vector of bits, one per primary input. That's the proposed test pattern. The architecture has three blocks: a graph neural network encodes the local gate structure, an LSTM encodes the activation and propagation paths, and a small MLP head decodes the joint embedding into PI bits. One important detail from Section 5 of the paper: the model is trained to prioritize one test per fault, not to find a maximally compacted pattern that covers many faults at once.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is turning the netlist into something a neural network can consume. Every gate becomes a node, every wire becomes a directed edge from the driving gate to the loading gate. Primary inputs and outputs become special nodes. The target fault is encoded by setting a flag bit on the node where the fault sits. Because we restrict ourselves to combinational logic, the resulting graph is a directed acyclic graph, which keeps the GNN well-behaved. This is exactly the representation in Figure 2 of the paper, and we follow it without modification. The key advantage: a GNN can directly attend to the local fanin and fanout structure around the fault, which is exactly the information classical ATPG also exploits, just in a different form.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encoder stacks two graph layers. The first is a Graph Attention Network. GAT is important here because, at any node, its neighbors are not equally informative. A fanout going to a deep cone matters more for propagation than a fanout going to a dead end. GAT learns those weights from data. The second layer is a standard Graph Convolutional Network, which does uniform mean-aggregation. We use GCN as a smoothing step on top of GAT — it refines the attention output and tends to stabilize training. Both layers produce 32-dimensional node embeddings, with ReLU activations and dropout of zero point two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GNN tells us about local structure. The LSTM tells us about path-level structure, which is what ATPG actually cares about. For each fault we extract up to ten activation paths — routes from a primary input to the fault site — and up to ten propagation paths — routes from the fault site to a primary output. Each path is a sequence of node embeddings produced by the GNN. We feed those sequences into a bidirectional LSTM with hidden size thirty-two. Bidirectional matters because both ends of a path matter — the PI end determines controllability, the PO end determines observability. We then mean-pool across the up-to-ten paths to get a single fixed-size embedding per path type.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it all together — three modules. The GNN encodes the netlist into node embeddings. The path encoder selects up to ten activation and ten propagation paths and passes each through a bidirectional LSTM. The InputPredictor head takes three vectors — the embedding of the fault node itself, the pooled activation-path embedding, and the pooled propagation-path embedding — concatenates them into a 96-dim vector, and passes them through a two-layer MLP with sigmoid output. The output dimension is the number of primary inputs of whatever circuit we're predicting on. The total parameter count is around twenty-five thousand — deliberately small.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Concretely, every node carries an eleven-dimensional feature vector. Ten of those bits are a one-hot indicator of the gate type. The eleventh bit is a fault flag, set on the single node where we are targeting a fault. The GNN turns N-by-eleven into N-by-thirty-two. We then extract path tensors of shape p paths by max-length L by thirty-two, run them through the BiLSTM, pool across paths, and get a single thirty-two-vector per path type. Concatenated with the fault node's own embedding, that's a ninety-six-vector going into the MLP. The same architecture, same parameters, work for circuits of any size — that's what graph weight sharing gives us.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is straightforward. The loss is binary cross-entropy applied independently to each primary-input bit and averaged — the paper treats every bit as its own classification problem. We use Adam at learning rate one-e-minus-three, clip gradients at one point zero to keep training stable, and batch thirty-two. The dataset is twelve thousand synthetic four-input circuits, split eighty-twenty for train and validation. We trained for one hundred epochs. Best validation bit-accuracy was zero point eight three five eight at epoch forty. Beyond epoch forty the model started overfitting cleanly. So we report the epoch-forty checkpoint.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what makes the paper-faithful evaluation possible. We generated about twelve thousand random combinational circuits, each constrained to have exactly four primary inputs. Because the input space is only sixteen patterns, we can compute ground truth by brute force — for each fault we simply enumerate all sixteen and record which of them detect it. That gives a set of valid patterns per fault, often multiple. The paper handles multi-pattern faults the same way we do: at evaluation time we compare the predicted pattern against whichever ground-truth pattern is closest in Hamming distance.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measured ATPP numbers across the five ISCAS-85 benchmarks. Two metrics: bit-accuracy, which is the paper's official metric, and fault-simulation coverage, which is a strictly harder metric we computed for honesty. Bit-accuracy is high on c17, c432, and c880, all above eighty-five percent, with c880 the best at ninety-two-and-a-half. c499 is the painful one, dropping to forty-four percent — c499 is XOR-heavy and full of reconvergence. Runtimes are in milliseconds total across all faults, all well under two seconds. Notice c432 — only six hundred sixty-five milliseconds against PODEM's one hundred seventeen seconds.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bit-accuracy comparison across all four algorithms. The metric is the paper's official one — Section 5, verbatim, says: 'we compute our model's accuracy by selecting the test pattern that exhibits the closest similarity to the predicted test pattern.' Under that metric, ATPP comes within a few points of the classical algorithms on c17, c432, and c880. It's clearly weakest on c499, which is consistent with the paper's own Figure 7b — c499 is the lowest point on their plot too, around seventy-five percent. The take-away is: on the metric the paper defines, ATPP is competitive everywhere except XOR-heavy reconvergent circuits.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result in the deck. On c432 specifically, PODEM took one hundred seventeen seconds end-to-end to cover the fault list. ATPP did the same circuit in six hundred sixty-five milliseconds. That's a one-hundred-seventy-six-times reduction at circuit level — about seventeen-point-six-times faster per individual fault. Across all five benchmarks, ATPP stays in the hundreds-of-milliseconds regime, while classical methods grow with the circuit. Note: we're comparing our local PODEM, not Synopsys TestMAX. The paper reports DETECTive as roughly two-times faster than TestMAX and fifteen-times faster than ATALANTA.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we have to be careful and honest. The paper's metric is bit-accuracy — closest-pattern bitwise match. That metric is real and meaningful, but it isn't the same as 'did the predicted pattern actually detect the fault.' A pattern can be one bit off and totally fail to activate the fault. We computed the stricter metric too — fault-simulation coverage. The gap is large. On c432, eighty-five percent bit-accuracy translates to forty-two percent fault coverage. On c880, ninety-two becomes fifteen. We're not trying to invalidate the paper — Section six-point-two explicitly justifies the bit-level choice — but a faithful replication has to surface this gap so the audience can judge for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reproduced Figure 5a from the paper. The plot is a heatmap over a grid of gate counts on one axis and circuit depths on the other, on synthetic four-PI circuits drawn from the same generator as training. Bit-accuracy ranges from zero point seven eight up to one point zero, with a mean around zero point eight seven. The trend is monotone: small and shallow circuits are easy, deep and large circuits are hard, but the degradation is smooth — no sharp cliffs. One thing to keep in mind — these are in-distribution circuits. ISCAS-85 is out-of-distribution: bigger circuits, more PIs, different structural conventions.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companion plot — bit-accuracy as a function of circuit depth, holding gate count fixed. We see zero point eight nine at depth one, drifting down to zero point seven eight at depth twenty-five. The curve is smooth — no phase transition, no collapse, just a gentle slope. This matches the shape in Figure 6a of the paper. The mechanistic explanation is that deeper circuits produce longer activation and propagation paths, and the LSTM is being asked to extrapolate beyond the path lengths it saw during training. The simplest improvement: train on deeper circuits, or swap the LSTM for a Transformer with positional embeddings.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the ATPP block — what did we actually demonstrate? Speed, yes — seventeen-times faster than PODEM on c432, hundreds of milliseconds across all benchmarks. Bit-accuracy is competitive with classical ATPG on most circuits under the paper's metric. But completeness, no — there's no formal guarantee any individual prediction detects its fault. The architecture struggles on c499 and c1908, the same circuits where D-Algorithm and FAN also struggle. The honest framing: ATPP is best understood as a very fast first guess that a classical verifier can confirm or repair. Used that way, the speedup compounds. Used as a standalone replacement for ATPG, it doesn't yet hold.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0"/>
            <a:ext cx="10972800" cy="1371600"/>
          </a:xfrm>
          <a:prstGeom prst="rect">
            <a:avLst/>
          </a:prstGeom>
          <a:noFill/>
        </p:spPr>
        <p:txBody>
          <a:bodyPr wrap="square">
            <a:spAutoFit/>
          </a:bodyPr>
          <a:lstStyle/>
          <a:p>
            <a:r>
              <a:rPr sz="3600" b="1">
                <a:solidFill>
                  <a:srgbClr val="1F2E4F"/>
                </a:solidFill>
              </a:rPr>
              <a:t>Replicating DETECTive: GNN+LSTM Test Pattern Prediction</a:t>
            </a:r>
          </a:p>
        </p:txBody>
      </p:sp>
      <p:sp>
        <p:nvSpPr>
          <p:cNvPr id="3" name="TextBox 2"/>
          <p:cNvSpPr txBox="1"/>
          <p:nvPr/>
        </p:nvSpPr>
        <p:spPr>
          <a:xfrm>
            <a:off x="548640" y="2651760"/>
            <a:ext cx="10972800" cy="914400"/>
          </a:xfrm>
          <a:prstGeom prst="rect">
            <a:avLst/>
          </a:prstGeom>
          <a:noFill/>
        </p:spPr>
        <p:txBody>
          <a:bodyPr wrap="square">
            <a:spAutoFit/>
          </a:bodyPr>
          <a:lstStyle/>
          <a:p>
            <a:r>
              <a:rPr sz="2400" b="0">
                <a:solidFill>
                  <a:srgbClr val="333333"/>
                </a:solidFill>
              </a:rPr>
              <a:t>PODEM and ATPP Sections</a:t>
            </a:r>
          </a:p>
        </p:txBody>
      </p:sp>
      <p:sp>
        <p:nvSpPr>
          <p:cNvPr id="4" name="TextBox 3"/>
          <p:cNvSpPr txBox="1"/>
          <p:nvPr/>
        </p:nvSpPr>
        <p:spPr>
          <a:xfrm>
            <a:off x="548640" y="4023360"/>
            <a:ext cx="10972800" cy="1371600"/>
          </a:xfrm>
          <a:prstGeom prst="rect">
            <a:avLst/>
          </a:prstGeom>
          <a:noFill/>
        </p:spPr>
        <p:txBody>
          <a:bodyPr wrap="square">
            <a:spAutoFit/>
          </a:bodyPr>
          <a:lstStyle/>
          <a:p>
            <a:r>
              <a:rPr sz="1600" b="0">
                <a:solidFill>
                  <a:srgbClr val="555555"/>
                </a:solidFill>
              </a:rPr>
              <a:t>Reference: Petrolo et al., DETECTive: Machine Learning-driven Automatic Test Pattern Prediction for Faults in Digital Circuits, GLSVLSI 2024.</a:t>
            </a:r>
          </a:p>
        </p:txBody>
      </p:sp>
      <p:sp>
        <p:nvSpPr>
          <p:cNvPr id="5" name="TextBox 4"/>
          <p:cNvSpPr txBox="1"/>
          <p:nvPr/>
        </p:nvSpPr>
        <p:spPr>
          <a:xfrm>
            <a:off x="548640" y="5760720"/>
            <a:ext cx="10972800" cy="640080"/>
          </a:xfrm>
          <a:prstGeom prst="rect">
            <a:avLst/>
          </a:prstGeom>
          <a:noFill/>
        </p:spPr>
        <p:txBody>
          <a:bodyPr wrap="none">
            <a:spAutoFit/>
          </a:bodyPr>
          <a:lstStyle/>
          <a:p>
            <a:r>
              <a:rPr sz="1400" b="0">
                <a:solidFill>
                  <a:srgbClr val="777777"/>
                </a:solidFill>
              </a:rPr>
              <a:t>PODEM author + ATPP author. Slides 9-11 (PODEM) and 12-27 (ATPP).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9. PODEM (Goel 1981)</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Path-Oriented Decision Making — proposed by Prabhu Goel at IBM, 1981.</a:t>
            </a:r>
          </a:p>
          <a:p>
            <a:pPr>
              <a:spcAft>
                <a:spcPts val="600"/>
              </a:spcAft>
            </a:pPr>
            <a:r>
              <a:rPr sz="1600">
                <a:solidFill>
                  <a:srgbClr val="222222"/>
                </a:solidFill>
              </a:rPr>
              <a:t>• Direct response to D-Algorithm's exponential blow-up on XOR-heavy and reconvergent circuits.</a:t>
            </a:r>
          </a:p>
          <a:p>
            <a:pPr>
              <a:spcAft>
                <a:spcPts val="600"/>
              </a:spcAft>
            </a:pPr>
            <a:r>
              <a:rPr sz="1600">
                <a:solidFill>
                  <a:srgbClr val="222222"/>
                </a:solidFill>
              </a:rPr>
              <a:t>• Key idea: branch only on Primary Inputs, never on internal lines.</a:t>
            </a:r>
          </a:p>
          <a:p>
            <a:pPr>
              <a:spcAft>
                <a:spcPts val="600"/>
              </a:spcAft>
            </a:pPr>
            <a:r>
              <a:rPr sz="1600">
                <a:solidFill>
                  <a:srgbClr val="222222"/>
                </a:solidFill>
              </a:rPr>
              <a:t>• Every decision is therefore directly implementable — no inconsistent internal assignments to retract.</a:t>
            </a:r>
          </a:p>
          <a:p>
            <a:pPr>
              <a:spcAft>
                <a:spcPts val="600"/>
              </a:spcAft>
            </a:pPr>
            <a:r>
              <a:rPr sz="1600">
                <a:solidFill>
                  <a:srgbClr val="222222"/>
                </a:solidFill>
              </a:rPr>
              <a:t>• Backtracking is bounded by 2^|PI|, far smaller than the D-Alg search space over all internal lines.</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~75s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10. Working of PODEM</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Objective: pick a target value on a specific line needed to activate or propagate the fault.</a:t>
            </a:r>
          </a:p>
          <a:p>
            <a:pPr>
              <a:spcAft>
                <a:spcPts val="600"/>
              </a:spcAft>
            </a:pPr>
            <a:r>
              <a:rPr sz="1600">
                <a:solidFill>
                  <a:srgbClr val="222222"/>
                </a:solidFill>
              </a:rPr>
              <a:t>• Backtrace: walk backward from the objective line to a PI, choosing gate inputs that cause the desired output.</a:t>
            </a:r>
          </a:p>
          <a:p>
            <a:pPr>
              <a:spcAft>
                <a:spcPts val="600"/>
              </a:spcAft>
            </a:pPr>
            <a:r>
              <a:rPr sz="1600">
                <a:solidFill>
                  <a:srgbClr val="222222"/>
                </a:solidFill>
              </a:rPr>
              <a:t>• Assign that PI, simulate forward, check if the objective is met.</a:t>
            </a:r>
          </a:p>
          <a:p>
            <a:pPr>
              <a:spcAft>
                <a:spcPts val="600"/>
              </a:spcAft>
            </a:pPr>
            <a:r>
              <a:rPr sz="1600">
                <a:solidFill>
                  <a:srgbClr val="222222"/>
                </a:solidFill>
              </a:rPr>
              <a:t>• X-Path Check: confirm at least one all-X path still exists from the fault site to a PO; if not, backtrack.</a:t>
            </a:r>
          </a:p>
          <a:p>
            <a:pPr>
              <a:spcAft>
                <a:spcPts val="600"/>
              </a:spcAft>
            </a:pPr>
            <a:r>
              <a:rPr sz="1600">
                <a:solidFill>
                  <a:srgbClr val="222222"/>
                </a:solidFill>
              </a:rPr>
              <a:t>• Completeness: PODEM is complete — if a test exists, it will eventually find it.</a:t>
            </a:r>
          </a:p>
          <a:p>
            <a:pPr>
              <a:spcAft>
                <a:spcPts val="600"/>
              </a:spcAft>
            </a:pPr>
            <a:r>
              <a:rPr sz="1600">
                <a:solidFill>
                  <a:srgbClr val="222222"/>
                </a:solidFill>
              </a:rPr>
              <a:t>• Heuristics: SCOAP controllability/observability metrics guide objective and backtrace choices to reach a PI faster.</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~90s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11. Worked PODEM Example</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Tiny circuit: A, B, C are PIs. G1 = AND(A, B). G2 = OR(G1, C). Fault: G1 stuck-at-0.</a:t>
            </a:r>
          </a:p>
          <a:p>
            <a:pPr>
              <a:spcAft>
                <a:spcPts val="600"/>
              </a:spcAft>
            </a:pPr>
            <a:r>
              <a:rPr sz="1600">
                <a:solidFill>
                  <a:srgbClr val="222222"/>
                </a:solidFill>
              </a:rPr>
              <a:t>• Activation objective: G1 = 1, which means A = 1 AND B = 1.</a:t>
            </a:r>
          </a:p>
          <a:p>
            <a:pPr>
              <a:spcAft>
                <a:spcPts val="600"/>
              </a:spcAft>
            </a:pPr>
            <a:r>
              <a:rPr sz="1600">
                <a:solidFill>
                  <a:srgbClr val="222222"/>
                </a:solidFill>
              </a:rPr>
              <a:t>• Backtrace from G1: pick A first (highest controllability-1), assign A = 1, simulate.</a:t>
            </a:r>
          </a:p>
          <a:p>
            <a:pPr>
              <a:spcAft>
                <a:spcPts val="600"/>
              </a:spcAft>
            </a:pPr>
            <a:r>
              <a:rPr sz="1600">
                <a:solidFill>
                  <a:srgbClr val="222222"/>
                </a:solidFill>
              </a:rPr>
              <a:t>• Re-evaluate: G1 still X because B is X. New objective: B = 1. Backtrace, assign B = 1.</a:t>
            </a:r>
          </a:p>
          <a:p>
            <a:pPr>
              <a:spcAft>
                <a:spcPts val="600"/>
              </a:spcAft>
            </a:pPr>
            <a:r>
              <a:rPr sz="1600">
                <a:solidFill>
                  <a:srgbClr val="222222"/>
                </a:solidFill>
              </a:rPr>
              <a:t>• Now G1 = 1 in good circuit, 0 in faulty circuit — D activated at G1.</a:t>
            </a:r>
          </a:p>
          <a:p>
            <a:pPr>
              <a:spcAft>
                <a:spcPts val="600"/>
              </a:spcAft>
            </a:pPr>
            <a:r>
              <a:rPr sz="1600">
                <a:solidFill>
                  <a:srgbClr val="222222"/>
                </a:solidFill>
              </a:rPr>
              <a:t>• Propagation objective: G2 must be 1 in good and 0 in faulty, so set side-input C = 0.</a:t>
            </a:r>
          </a:p>
          <a:p>
            <a:pPr>
              <a:spcAft>
                <a:spcPts val="600"/>
              </a:spcAft>
            </a:pPr>
            <a:r>
              <a:rPr sz="1600">
                <a:solidFill>
                  <a:srgbClr val="222222"/>
                </a:solidFill>
              </a:rPr>
              <a:t>• Backtrace C = 0, assign, simulate. PO = G2 differs. Test pattern: A=1, B=1, C=0.</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~120s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12. Why ML for ATPG</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Classical ATPG (D-Alg, PODEM, FAN) is correct and complete but inherently search-based.</a:t>
            </a:r>
          </a:p>
          <a:p>
            <a:pPr>
              <a:spcAft>
                <a:spcPts val="600"/>
              </a:spcAft>
            </a:pPr>
            <a:r>
              <a:rPr sz="1600">
                <a:solidFill>
                  <a:srgbClr val="222222"/>
                </a:solidFill>
              </a:rPr>
              <a:t>• Worst-case complexity is exponential in circuit size — c432 took us 117 seconds in PODEM.</a:t>
            </a:r>
          </a:p>
          <a:p>
            <a:pPr>
              <a:spcAft>
                <a:spcPts val="600"/>
              </a:spcAft>
            </a:pPr>
            <a:r>
              <a:rPr sz="1600">
                <a:solidFill>
                  <a:srgbClr val="222222"/>
                </a:solidFill>
              </a:rPr>
              <a:t>• Modern designs have hundreds of millions of gates; commercial tools amortize cost with heuristics, but still scale poorly.</a:t>
            </a:r>
          </a:p>
          <a:p>
            <a:pPr>
              <a:spcAft>
                <a:spcPts val="600"/>
              </a:spcAft>
            </a:pPr>
            <a:r>
              <a:rPr sz="1600">
                <a:solidFill>
                  <a:srgbClr val="222222"/>
                </a:solidFill>
              </a:rPr>
              <a:t>• ML observation: most useful test patterns share structural regularities — fanout cones, reconvergence shapes, gate-type sequences.</a:t>
            </a:r>
          </a:p>
          <a:p>
            <a:pPr>
              <a:spcAft>
                <a:spcPts val="600"/>
              </a:spcAft>
            </a:pPr>
            <a:r>
              <a:rPr sz="1600">
                <a:solidFill>
                  <a:srgbClr val="222222"/>
                </a:solidFill>
              </a:rPr>
              <a:t>• A trained model can learn these regularities and produce a candidate test pattern in one forward pass — no search.</a:t>
            </a:r>
          </a:p>
          <a:p>
            <a:pPr>
              <a:spcAft>
                <a:spcPts val="600"/>
              </a:spcAft>
            </a:pPr>
            <a:r>
              <a:rPr sz="1600">
                <a:solidFill>
                  <a:srgbClr val="222222"/>
                </a:solidFill>
              </a:rPr>
              <a:t>• Risk: ML gives no completeness guarantee. We use it as a fast first guess, not a replacement.</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13. ATPP Concept</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ATPP = Automatic Test Pattern Prediction (vs. Generation).</a:t>
            </a:r>
          </a:p>
          <a:p>
            <a:pPr>
              <a:spcAft>
                <a:spcPts val="600"/>
              </a:spcAft>
            </a:pPr>
            <a:r>
              <a:rPr sz="1600">
                <a:solidFill>
                  <a:srgbClr val="222222"/>
                </a:solidFill>
              </a:rPr>
              <a:t>• Input: gate-level netlist + a target stuck-at fault location and polarity.</a:t>
            </a:r>
          </a:p>
          <a:p>
            <a:pPr>
              <a:spcAft>
                <a:spcPts val="600"/>
              </a:spcAft>
            </a:pPr>
            <a:r>
              <a:rPr sz="1600">
                <a:solidFill>
                  <a:srgbClr val="222222"/>
                </a:solidFill>
              </a:rPr>
              <a:t>• Output: a single binary test pattern over the primary inputs, in one forward pass.</a:t>
            </a:r>
          </a:p>
          <a:p>
            <a:pPr>
              <a:spcAft>
                <a:spcPts val="600"/>
              </a:spcAft>
            </a:pPr>
            <a:r>
              <a:rPr sz="1600">
                <a:solidFill>
                  <a:srgbClr val="222222"/>
                </a:solidFill>
              </a:rPr>
              <a:t>• Architecture: GNN encoder learns gate-level structure, LSTM encoder learns path context, MLP head predicts PI bits.</a:t>
            </a:r>
          </a:p>
          <a:p>
            <a:pPr>
              <a:spcAft>
                <a:spcPts val="600"/>
              </a:spcAft>
            </a:pPr>
            <a:r>
              <a:rPr sz="1600">
                <a:solidFill>
                  <a:srgbClr val="222222"/>
                </a:solidFill>
              </a:rPr>
              <a:t>• Goal per the paper: prioritize one test per fault, not maximize coverage in one pattern.</a:t>
            </a:r>
          </a:p>
          <a:p>
            <a:pPr>
              <a:spcAft>
                <a:spcPts val="600"/>
              </a:spcAft>
            </a:pPr>
            <a:r>
              <a:rPr sz="1600">
                <a:solidFill>
                  <a:srgbClr val="222222"/>
                </a:solidFill>
              </a:rPr>
              <a:t>• Evaluation: bit-wise comparison with the closest-matching ground-truth pattern (paper Sec. 5).</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14. Circuit as Graph</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Each gate becomes a node; each wire becomes a directed edge from driver to load.</a:t>
            </a:r>
          </a:p>
          <a:p>
            <a:pPr>
              <a:spcAft>
                <a:spcPts val="600"/>
              </a:spcAft>
            </a:pPr>
            <a:r>
              <a:rPr sz="1600">
                <a:solidFill>
                  <a:srgbClr val="222222"/>
                </a:solidFill>
              </a:rPr>
              <a:t>• Primary inputs and outputs are special node types with no driver / no load.</a:t>
            </a:r>
          </a:p>
          <a:p>
            <a:pPr>
              <a:spcAft>
                <a:spcPts val="600"/>
              </a:spcAft>
            </a:pPr>
            <a:r>
              <a:rPr sz="1600">
                <a:solidFill>
                  <a:srgbClr val="222222"/>
                </a:solidFill>
              </a:rPr>
              <a:t>• The fault site is encoded by a one-bit flag on the affected node.</a:t>
            </a:r>
          </a:p>
          <a:p>
            <a:pPr>
              <a:spcAft>
                <a:spcPts val="600"/>
              </a:spcAft>
            </a:pPr>
            <a:r>
              <a:rPr sz="1600">
                <a:solidFill>
                  <a:srgbClr val="222222"/>
                </a:solidFill>
              </a:rPr>
              <a:t>• Resulting structure is a directed acyclic graph (combinational logic only).</a:t>
            </a:r>
          </a:p>
          <a:p>
            <a:pPr>
              <a:spcAft>
                <a:spcPts val="600"/>
              </a:spcAft>
            </a:pPr>
            <a:r>
              <a:rPr sz="1600">
                <a:solidFill>
                  <a:srgbClr val="222222"/>
                </a:solidFill>
              </a:rPr>
              <a:t>• Paper Fig. 2 shows this transformation; we follow it exactly.</a:t>
            </a:r>
          </a:p>
          <a:p>
            <a:pPr>
              <a:spcAft>
                <a:spcPts val="600"/>
              </a:spcAft>
            </a:pPr>
            <a:r>
              <a:rPr sz="1600">
                <a:solidFill>
                  <a:srgbClr val="222222"/>
                </a:solidFill>
              </a:rPr>
              <a:t>• This representation lets a GNN reason about local fanin/fanout and reconvergence directly.</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~60s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15. GNN Encoder: GAT + GCN</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First layer: Graph Attention Network (GAT) — learns weighted importance over each node's neighbors.</a:t>
            </a:r>
          </a:p>
          <a:p>
            <a:pPr>
              <a:spcAft>
                <a:spcPts val="600"/>
              </a:spcAft>
            </a:pPr>
            <a:r>
              <a:rPr sz="1600">
                <a:solidFill>
                  <a:srgbClr val="222222"/>
                </a:solidFill>
              </a:rPr>
              <a:t>• Useful for fanout, where some loads matter more than others for fault propagation.</a:t>
            </a:r>
          </a:p>
          <a:p>
            <a:pPr>
              <a:spcAft>
                <a:spcPts val="600"/>
              </a:spcAft>
            </a:pPr>
            <a:r>
              <a:rPr sz="1600">
                <a:solidFill>
                  <a:srgbClr val="222222"/>
                </a:solidFill>
              </a:rPr>
              <a:t>• Second layer: Graph Convolutional Network (GCN) — uniform aggregation, refines the attention output.</a:t>
            </a:r>
          </a:p>
          <a:p>
            <a:pPr>
              <a:spcAft>
                <a:spcPts val="600"/>
              </a:spcAft>
            </a:pPr>
            <a:r>
              <a:rPr sz="1600">
                <a:solidFill>
                  <a:srgbClr val="222222"/>
                </a:solidFill>
              </a:rPr>
              <a:t>• Output embedding dimension: 32 per node.</a:t>
            </a:r>
          </a:p>
          <a:p>
            <a:pPr>
              <a:spcAft>
                <a:spcPts val="600"/>
              </a:spcAft>
            </a:pPr>
            <a:r>
              <a:rPr sz="1600">
                <a:solidFill>
                  <a:srgbClr val="222222"/>
                </a:solidFill>
              </a:rPr>
              <a:t>• ReLU activations, dropout 0.2 between layers.</a:t>
            </a:r>
          </a:p>
          <a:p>
            <a:pPr>
              <a:spcAft>
                <a:spcPts val="600"/>
              </a:spcAft>
            </a:pPr>
            <a:r>
              <a:rPr sz="1600">
                <a:solidFill>
                  <a:srgbClr val="222222"/>
                </a:solidFill>
              </a:rPr>
              <a:t>• Result: each node carries a learned vector summarizing its structural role.</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~65s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16. LSTM Path Encoder</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Two path types per fault: activation paths (PIs to fault site) and propagation paths (fault site to POs).</a:t>
            </a:r>
          </a:p>
          <a:p>
            <a:pPr>
              <a:spcAft>
                <a:spcPts val="600"/>
              </a:spcAft>
            </a:pPr>
            <a:r>
              <a:rPr sz="1600">
                <a:solidFill>
                  <a:srgbClr val="222222"/>
                </a:solidFill>
              </a:rPr>
              <a:t>• Up to p = 10 paths of each type; paths are variable length.</a:t>
            </a:r>
          </a:p>
          <a:p>
            <a:pPr>
              <a:spcAft>
                <a:spcPts val="600"/>
              </a:spcAft>
            </a:pPr>
            <a:r>
              <a:rPr sz="1600">
                <a:solidFill>
                  <a:srgbClr val="222222"/>
                </a:solidFill>
              </a:rPr>
              <a:t>• Each path is a sequence of GNN node embeddings — naturally fits an LSTM.</a:t>
            </a:r>
          </a:p>
          <a:p>
            <a:pPr>
              <a:spcAft>
                <a:spcPts val="600"/>
              </a:spcAft>
            </a:pPr>
            <a:r>
              <a:rPr sz="1600">
                <a:solidFill>
                  <a:srgbClr val="222222"/>
                </a:solidFill>
              </a:rPr>
              <a:t>• We use a Bidirectional LSTM so context flows both forward and backward along the path.</a:t>
            </a:r>
          </a:p>
          <a:p>
            <a:pPr>
              <a:spcAft>
                <a:spcPts val="600"/>
              </a:spcAft>
            </a:pPr>
            <a:r>
              <a:rPr sz="1600">
                <a:solidFill>
                  <a:srgbClr val="222222"/>
                </a:solidFill>
              </a:rPr>
              <a:t>• Hidden size 32, single layer, mean-pooled across the p paths to give a fixed vector per type.</a:t>
            </a:r>
          </a:p>
          <a:p>
            <a:pPr>
              <a:spcAft>
                <a:spcPts val="600"/>
              </a:spcAft>
            </a:pPr>
            <a:r>
              <a:rPr sz="1600">
                <a:solidFill>
                  <a:srgbClr val="222222"/>
                </a:solidFill>
              </a:rPr>
              <a:t>• Output: an activation-path embedding and a propagation-path embedding, each in R^32.</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17. Full Architecture</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Three modules: GNN encoder, LSTM path encoder, MLP InputPredictor head.</a:t>
            </a:r>
          </a:p>
          <a:p>
            <a:pPr>
              <a:spcAft>
                <a:spcPts val="600"/>
              </a:spcAft>
            </a:pPr>
            <a:r>
              <a:rPr sz="1600">
                <a:solidFill>
                  <a:srgbClr val="222222"/>
                </a:solidFill>
              </a:rPr>
              <a:t>• Hidden dim 32 throughout, p = 10 paths, dropout 0.2.</a:t>
            </a:r>
          </a:p>
          <a:p>
            <a:pPr>
              <a:spcAft>
                <a:spcPts val="600"/>
              </a:spcAft>
            </a:pPr>
            <a:r>
              <a:rPr sz="1600">
                <a:solidFill>
                  <a:srgbClr val="222222"/>
                </a:solidFill>
              </a:rPr>
              <a:t>• InputPredictor concatenates (GNN-fault-node-embedding, activation-path-emb, propagation-path-emb).</a:t>
            </a:r>
          </a:p>
          <a:p>
            <a:pPr>
              <a:spcAft>
                <a:spcPts val="600"/>
              </a:spcAft>
            </a:pPr>
            <a:r>
              <a:rPr sz="1600">
                <a:solidFill>
                  <a:srgbClr val="222222"/>
                </a:solidFill>
              </a:rPr>
              <a:t>• MLP: 96 -&gt; 64 -&gt; |PI| with sigmoid output, one bit per primary input.</a:t>
            </a:r>
          </a:p>
          <a:p>
            <a:pPr>
              <a:spcAft>
                <a:spcPts val="600"/>
              </a:spcAft>
            </a:pPr>
            <a:r>
              <a:rPr sz="1600">
                <a:solidFill>
                  <a:srgbClr val="222222"/>
                </a:solidFill>
              </a:rPr>
              <a:t>• Total trainable parameters: ~25 k — small by modern standards, intentionally so.</a:t>
            </a:r>
          </a:p>
          <a:p>
            <a:pPr>
              <a:spcAft>
                <a:spcPts val="600"/>
              </a:spcAft>
            </a:pPr>
            <a:r>
              <a:rPr sz="1600">
                <a:solidFill>
                  <a:srgbClr val="222222"/>
                </a:solidFill>
              </a:rPr>
              <a:t>• One forward pass per fault gives the predicted test pattern.</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18. Node Features and Tensor Shapes</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Per-node feature: 11-dim vector — 10-way one-hot for gate type plus 1-bit fault flag.</a:t>
            </a:r>
          </a:p>
          <a:p>
            <a:pPr>
              <a:spcAft>
                <a:spcPts val="600"/>
              </a:spcAft>
            </a:pPr>
            <a:r>
              <a:rPr sz="1600">
                <a:solidFill>
                  <a:srgbClr val="222222"/>
                </a:solidFill>
              </a:rPr>
              <a:t>• Gate types: AND, OR, NAND, NOR, XOR, XNOR, NOT, BUFF, PI, PO.</a:t>
            </a:r>
          </a:p>
          <a:p>
            <a:pPr>
              <a:spcAft>
                <a:spcPts val="600"/>
              </a:spcAft>
            </a:pPr>
            <a:r>
              <a:rPr sz="1600">
                <a:solidFill>
                  <a:srgbClr val="222222"/>
                </a:solidFill>
              </a:rPr>
              <a:t>• Tensor flow: [N, 11] -&gt; GNN -&gt; [N, 32] -&gt; path slice [p, L, 32] -&gt; BiLSTM -&gt; [p, 32] -&gt; mean -&gt; [32].</a:t>
            </a:r>
          </a:p>
          <a:p>
            <a:pPr>
              <a:spcAft>
                <a:spcPts val="600"/>
              </a:spcAft>
            </a:pPr>
            <a:r>
              <a:rPr sz="1600">
                <a:solidFill>
                  <a:srgbClr val="222222"/>
                </a:solidFill>
              </a:rPr>
              <a:t>• Concatenated head input: [96] -&gt; MLP -&gt; [|PI|] sigmoid -&gt; binary test pattern.</a:t>
            </a:r>
          </a:p>
          <a:p>
            <a:pPr>
              <a:spcAft>
                <a:spcPts val="600"/>
              </a:spcAft>
            </a:pPr>
            <a:r>
              <a:rPr sz="1600">
                <a:solidFill>
                  <a:srgbClr val="222222"/>
                </a:solidFill>
              </a:rPr>
              <a:t>• Threshold at 0.5 to get hard bits at inference; raw logits used for paper's bit-accuracy metric.</a:t>
            </a:r>
          </a:p>
          <a:p>
            <a:pPr>
              <a:spcAft>
                <a:spcPts val="600"/>
              </a:spcAft>
            </a:pPr>
            <a:r>
              <a:rPr sz="1600">
                <a:solidFill>
                  <a:srgbClr val="222222"/>
                </a:solidFill>
              </a:rPr>
              <a:t>• Same shapes whether circuit is 5 gates or 1000 gates — model is parameter-shared across N.</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~75s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19. Training and Curve</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Loss: Binary Cross-Entropy applied per PI bit, averaged.</a:t>
            </a:r>
          </a:p>
          <a:p>
            <a:pPr>
              <a:spcAft>
                <a:spcPts val="600"/>
              </a:spcAft>
            </a:pPr>
            <a:r>
              <a:rPr sz="1600">
                <a:solidFill>
                  <a:srgbClr val="222222"/>
                </a:solidFill>
              </a:rPr>
              <a:t>• Optimizer: Adam, learning rate 1e-3, gradient clipping at 1.0, batch size 32.</a:t>
            </a:r>
          </a:p>
          <a:p>
            <a:pPr>
              <a:spcAft>
                <a:spcPts val="600"/>
              </a:spcAft>
            </a:pPr>
            <a:r>
              <a:rPr sz="1600">
                <a:solidFill>
                  <a:srgbClr val="222222"/>
                </a:solidFill>
              </a:rPr>
              <a:t>• Train/val split: 80/20 over ~12 k synthetic 4-input circuits.</a:t>
            </a:r>
          </a:p>
          <a:p>
            <a:pPr>
              <a:spcAft>
                <a:spcPts val="600"/>
              </a:spcAft>
            </a:pPr>
            <a:r>
              <a:rPr sz="1600">
                <a:solidFill>
                  <a:srgbClr val="222222"/>
                </a:solidFill>
              </a:rPr>
              <a:t>• Trained 100 epochs; best validation bit-accuracy 0.8358 at epoch 40.</a:t>
            </a:r>
          </a:p>
          <a:p>
            <a:pPr>
              <a:spcAft>
                <a:spcPts val="600"/>
              </a:spcAft>
            </a:pPr>
            <a:r>
              <a:rPr sz="1600">
                <a:solidFill>
                  <a:srgbClr val="222222"/>
                </a:solidFill>
              </a:rPr>
              <a:t>• Past epoch 40 the model overfits — train acc keeps climbing, val acc plateaus then dips.</a:t>
            </a:r>
          </a:p>
          <a:p>
            <a:pPr>
              <a:spcAft>
                <a:spcPts val="600"/>
              </a:spcAft>
            </a:pPr>
            <a:r>
              <a:rPr sz="1600">
                <a:solidFill>
                  <a:srgbClr val="222222"/>
                </a:solidFill>
              </a:rPr>
              <a:t>• We report epoch-40 weights, stored at 100_epoch_run/best_detective_model.pt.</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20. Dataset</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~12 000 randomly generated combinational circuits, each with exactly 4 primary inputs.</a:t>
            </a:r>
          </a:p>
          <a:p>
            <a:pPr>
              <a:spcAft>
                <a:spcPts val="600"/>
              </a:spcAft>
            </a:pPr>
            <a:r>
              <a:rPr sz="1600">
                <a:solidFill>
                  <a:srgbClr val="222222"/>
                </a:solidFill>
              </a:rPr>
              <a:t>• Random gate counts, depths, and topologies — chosen to span the regimes the paper studies.</a:t>
            </a:r>
          </a:p>
          <a:p>
            <a:pPr>
              <a:spcAft>
                <a:spcPts val="600"/>
              </a:spcAft>
            </a:pPr>
            <a:r>
              <a:rPr sz="1600">
                <a:solidFill>
                  <a:srgbClr val="222222"/>
                </a:solidFill>
              </a:rPr>
              <a:t>• Ground truth: brute-force exhaustive search across all 16 PI patterns per fault.</a:t>
            </a:r>
          </a:p>
          <a:p>
            <a:pPr>
              <a:spcAft>
                <a:spcPts val="600"/>
              </a:spcAft>
            </a:pPr>
            <a:r>
              <a:rPr sz="1600">
                <a:solidFill>
                  <a:srgbClr val="222222"/>
                </a:solidFill>
              </a:rPr>
              <a:t>• Multiple valid test patterns exist per fault — handled by closest-pattern selection at evaluation.</a:t>
            </a:r>
          </a:p>
          <a:p>
            <a:pPr>
              <a:spcAft>
                <a:spcPts val="600"/>
              </a:spcAft>
            </a:pPr>
            <a:r>
              <a:rPr sz="1600">
                <a:solidFill>
                  <a:srgbClr val="222222"/>
                </a:solidFill>
              </a:rPr>
              <a:t>• Fault list: every line in every circuit, both stuck-at-0 and stuck-at-1.</a:t>
            </a:r>
          </a:p>
          <a:p>
            <a:pPr>
              <a:spcAft>
                <a:spcPts val="600"/>
              </a:spcAft>
            </a:pPr>
            <a:r>
              <a:rPr sz="1600">
                <a:solidFill>
                  <a:srgbClr val="222222"/>
                </a:solidFill>
              </a:rPr>
              <a:t>• Generation script and pickled splits live in train_dataset.pkl, val_dataset.pkl.</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21. ISCAS-85 Results Table</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Five circuits evaluated: c17, c432, c499, c880, c1908.</a:t>
            </a:r>
          </a:p>
          <a:p>
            <a:pPr>
              <a:spcAft>
                <a:spcPts val="600"/>
              </a:spcAft>
            </a:pPr>
            <a:r>
              <a:rPr sz="1600">
                <a:solidFill>
                  <a:srgbClr val="222222"/>
                </a:solidFill>
              </a:rPr>
              <a:t>• Per circuit: gate count, ATPP bit-accuracy, ATPP fault-sim coverage, total runtime in ms.</a:t>
            </a:r>
          </a:p>
          <a:p>
            <a:pPr>
              <a:spcAft>
                <a:spcPts val="600"/>
              </a:spcAft>
            </a:pPr>
            <a:r>
              <a:rPr sz="1600">
                <a:solidFill>
                  <a:srgbClr val="222222"/>
                </a:solidFill>
              </a:rPr>
              <a:t>• c17 (6 gates): bit-acc 86.67%, fault-cov 83.33%, 408.5 ms.</a:t>
            </a:r>
          </a:p>
          <a:p>
            <a:pPr>
              <a:spcAft>
                <a:spcPts val="600"/>
              </a:spcAft>
            </a:pPr>
            <a:r>
              <a:rPr sz="1600">
                <a:solidFill>
                  <a:srgbClr val="222222"/>
                </a:solidFill>
              </a:rPr>
              <a:t>• c432 (160 gates): bit-acc 85.53%, fault-cov 41.88%, 665 ms.</a:t>
            </a:r>
          </a:p>
          <a:p>
            <a:pPr>
              <a:spcAft>
                <a:spcPts val="600"/>
              </a:spcAft>
            </a:pPr>
            <a:r>
              <a:rPr sz="1600">
                <a:solidFill>
                  <a:srgbClr val="222222"/>
                </a:solidFill>
              </a:rPr>
              <a:t>• c499 (202 gates): bit-acc 44.27%, fault-cov 17.82%, 692.8 ms.</a:t>
            </a:r>
          </a:p>
          <a:p>
            <a:pPr>
              <a:spcAft>
                <a:spcPts val="600"/>
              </a:spcAft>
            </a:pPr>
            <a:r>
              <a:rPr sz="1600">
                <a:solidFill>
                  <a:srgbClr val="222222"/>
                </a:solidFill>
              </a:rPr>
              <a:t>• c880 (383 gates): bit-acc 92.58%, fault-cov 15.54%, 1130.2 ms.</a:t>
            </a:r>
          </a:p>
          <a:p>
            <a:pPr>
              <a:spcAft>
                <a:spcPts val="600"/>
              </a:spcAft>
            </a:pPr>
            <a:r>
              <a:rPr sz="1600">
                <a:solidFill>
                  <a:srgbClr val="222222"/>
                </a:solidFill>
              </a:rPr>
              <a:t>• c1908 (880 gates): bit-acc 69.70%, fault-cov 23.86%, 572.2 ms.</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~80s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22. 4-Way Bit-Accuracy (Paper-Faithful)</a:t>
            </a:r>
          </a:p>
        </p:txBody>
      </p:sp>
      <p:sp>
        <p:nvSpPr>
          <p:cNvPr id="3" name="TextBox 2"/>
          <p:cNvSpPr txBox="1"/>
          <p:nvPr/>
        </p:nvSpPr>
        <p:spPr>
          <a:xfrm>
            <a:off x="457200" y="1188720"/>
            <a:ext cx="5943600" cy="5029200"/>
          </a:xfrm>
          <a:prstGeom prst="rect">
            <a:avLst/>
          </a:prstGeom>
          <a:noFill/>
        </p:spPr>
        <p:txBody>
          <a:bodyPr wrap="square">
            <a:spAutoFit/>
          </a:bodyPr>
          <a:lstStyle/>
          <a:p>
            <a:pPr>
              <a:spcAft>
                <a:spcPts val="600"/>
              </a:spcAft>
            </a:pPr>
            <a:r>
              <a:rPr sz="1600">
                <a:solidFill>
                  <a:srgbClr val="222222"/>
                </a:solidFill>
              </a:rPr>
              <a:t>• Bar chart compares ATPP, PODEM, D-Algorithm, FAN on the bit-accuracy metric.</a:t>
            </a:r>
          </a:p>
          <a:p>
            <a:pPr>
              <a:spcAft>
                <a:spcPts val="600"/>
              </a:spcAft>
            </a:pPr>
            <a:r>
              <a:rPr sz="1600">
                <a:solidFill>
                  <a:srgbClr val="222222"/>
                </a:solidFill>
              </a:rPr>
              <a:t>• Paper Section 5 verbatim: bit-accuracy is the official DETECTive metric — closest-pattern bit-wise compare.</a:t>
            </a:r>
          </a:p>
          <a:p>
            <a:pPr>
              <a:spcAft>
                <a:spcPts val="600"/>
              </a:spcAft>
            </a:pPr>
            <a:r>
              <a:rPr sz="1600">
                <a:solidFill>
                  <a:srgbClr val="222222"/>
                </a:solidFill>
              </a:rPr>
              <a:t>• ATPP scores (%): c17 86.67, c432 85.53, c499 44.27, c880 92.58, c1908 69.70.</a:t>
            </a:r>
          </a:p>
          <a:p>
            <a:pPr>
              <a:spcAft>
                <a:spcPts val="600"/>
              </a:spcAft>
            </a:pPr>
            <a:r>
              <a:rPr sz="1600">
                <a:solidFill>
                  <a:srgbClr val="222222"/>
                </a:solidFill>
              </a:rPr>
              <a:t>• ATPP is competitive with classical algorithms on c17, c432, c880.</a:t>
            </a:r>
          </a:p>
          <a:p>
            <a:pPr>
              <a:spcAft>
                <a:spcPts val="600"/>
              </a:spcAft>
            </a:pPr>
            <a:r>
              <a:rPr sz="1600">
                <a:solidFill>
                  <a:srgbClr val="222222"/>
                </a:solidFill>
              </a:rPr>
              <a:t>• ATPP underperforms on c499 (XOR-heavy reconvergence) — same family of circuits the paper flags as hardest.</a:t>
            </a:r>
          </a:p>
          <a:p>
            <a:pPr>
              <a:spcAft>
                <a:spcPts val="600"/>
              </a:spcAft>
            </a:pPr>
            <a:r>
              <a:rPr sz="1600">
                <a:solidFill>
                  <a:srgbClr val="222222"/>
                </a:solidFill>
              </a:rPr>
              <a:t>• This is the apples-to-apples view the paper uses; runtime is reported separately.</a:t>
            </a:r>
          </a:p>
        </p:txBody>
      </p:sp>
      <p:sp>
        <p:nvSpPr>
          <p:cNvPr id="4" name="TextBox 3"/>
          <p:cNvSpPr txBox="1"/>
          <p:nvPr/>
        </p:nvSpPr>
        <p:spPr>
          <a:xfrm>
            <a:off x="6583680" y="1371600"/>
            <a:ext cx="5303520" cy="4114800"/>
          </a:xfrm>
          <a:prstGeom prst="rect">
            <a:avLst/>
          </a:prstGeom>
          <a:noFill/>
        </p:spPr>
        <p:txBody>
          <a:bodyPr wrap="square">
            <a:spAutoFit/>
          </a:bodyPr>
          <a:lstStyle/>
          <a:p>
            <a:r>
              <a:rPr sz="1400" b="0" i="1">
                <a:solidFill>
                  <a:srgbClr val="888888"/>
                </a:solidFill>
              </a:rPr>
              <a:t>[Image placeholder]</a:t>
            </a:r>
          </a:p>
          <a:p/>
          <a:p>
            <a:r>
              <a:t>presentation_images/bit_accuracy_4way.png</a:t>
            </a:r>
          </a:p>
          <a:p/>
          <a:p>
            <a:r>
              <a:t>(PNG not found — Agent 2 generates this asset.)</a:t>
            </a:r>
          </a:p>
        </p:txBody>
      </p:sp>
      <p:sp>
        <p:nvSpPr>
          <p:cNvPr id="5" name="TextBox 4"/>
          <p:cNvSpPr txBox="1"/>
          <p:nvPr/>
        </p:nvSpPr>
        <p:spPr>
          <a:xfrm>
            <a:off x="10058400" y="6309360"/>
            <a:ext cx="2011680" cy="365760"/>
          </a:xfrm>
          <a:prstGeom prst="rect">
            <a:avLst/>
          </a:prstGeom>
          <a:noFill/>
        </p:spPr>
        <p:txBody>
          <a:bodyPr wrap="none">
            <a:spAutoFit/>
          </a:bodyPr>
          <a:lstStyle/>
          <a:p>
            <a:r>
              <a:rPr sz="1100" b="0">
                <a:solidFill>
                  <a:srgbClr val="999999"/>
                </a:solidFill>
              </a:rPr>
              <a:t>~75s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23. Runtime per Fault — 17.6x Speedup on c432</a:t>
            </a:r>
          </a:p>
        </p:txBody>
      </p:sp>
      <p:sp>
        <p:nvSpPr>
          <p:cNvPr id="3" name="TextBox 2"/>
          <p:cNvSpPr txBox="1"/>
          <p:nvPr/>
        </p:nvSpPr>
        <p:spPr>
          <a:xfrm>
            <a:off x="457200" y="1188720"/>
            <a:ext cx="5943600" cy="5029200"/>
          </a:xfrm>
          <a:prstGeom prst="rect">
            <a:avLst/>
          </a:prstGeom>
          <a:noFill/>
        </p:spPr>
        <p:txBody>
          <a:bodyPr wrap="square">
            <a:spAutoFit/>
          </a:bodyPr>
          <a:lstStyle/>
          <a:p>
            <a:pPr>
              <a:spcAft>
                <a:spcPts val="600"/>
              </a:spcAft>
            </a:pPr>
            <a:r>
              <a:rPr sz="1600">
                <a:solidFill>
                  <a:srgbClr val="222222"/>
                </a:solidFill>
              </a:rPr>
              <a:t>• c432 headline: PODEM 117 034 ms total vs ATPP 665 ms — a 176x circuit-level speedup, ~17.6x per-fault.</a:t>
            </a:r>
          </a:p>
          <a:p>
            <a:pPr>
              <a:spcAft>
                <a:spcPts val="600"/>
              </a:spcAft>
            </a:pPr>
            <a:r>
              <a:rPr sz="1600">
                <a:solidFill>
                  <a:srgbClr val="222222"/>
                </a:solidFill>
              </a:rPr>
              <a:t>• Across all five circuits ATPP runtime stays in the hundreds-of-ms range.</a:t>
            </a:r>
          </a:p>
          <a:p>
            <a:pPr>
              <a:spcAft>
                <a:spcPts val="600"/>
              </a:spcAft>
            </a:pPr>
            <a:r>
              <a:rPr sz="1600">
                <a:solidFill>
                  <a:srgbClr val="222222"/>
                </a:solidFill>
              </a:rPr>
              <a:t>• PODEM runtime explodes with circuit complexity — exponential search behavior visible.</a:t>
            </a:r>
          </a:p>
          <a:p>
            <a:pPr>
              <a:spcAft>
                <a:spcPts val="600"/>
              </a:spcAft>
            </a:pPr>
            <a:r>
              <a:rPr sz="1600">
                <a:solidFill>
                  <a:srgbClr val="222222"/>
                </a:solidFill>
              </a:rPr>
              <a:t>• D-Algorithm and FAN follow PODEM's general scaling pattern, just with different constants.</a:t>
            </a:r>
          </a:p>
          <a:p>
            <a:pPr>
              <a:spcAft>
                <a:spcPts val="600"/>
              </a:spcAft>
            </a:pPr>
            <a:r>
              <a:rPr sz="1600">
                <a:solidFill>
                  <a:srgbClr val="222222"/>
                </a:solidFill>
              </a:rPr>
              <a:t>• ATPP runtime is dominated by GNN+LSTM forward pass, near-constant per fault.</a:t>
            </a:r>
          </a:p>
          <a:p>
            <a:pPr>
              <a:spcAft>
                <a:spcPts val="600"/>
              </a:spcAft>
            </a:pPr>
            <a:r>
              <a:rPr sz="1600">
                <a:solidFill>
                  <a:srgbClr val="222222"/>
                </a:solidFill>
              </a:rPr>
              <a:t>• This is the result the paper centers on, and our measurements reproduce it directionally.</a:t>
            </a:r>
          </a:p>
        </p:txBody>
      </p:sp>
      <p:sp>
        <p:nvSpPr>
          <p:cNvPr id="4" name="TextBox 3"/>
          <p:cNvSpPr txBox="1"/>
          <p:nvPr/>
        </p:nvSpPr>
        <p:spPr>
          <a:xfrm>
            <a:off x="6583680" y="1371600"/>
            <a:ext cx="5303520" cy="4114800"/>
          </a:xfrm>
          <a:prstGeom prst="rect">
            <a:avLst/>
          </a:prstGeom>
          <a:noFill/>
        </p:spPr>
        <p:txBody>
          <a:bodyPr wrap="square">
            <a:spAutoFit/>
          </a:bodyPr>
          <a:lstStyle/>
          <a:p>
            <a:r>
              <a:rPr sz="1400" b="0" i="1">
                <a:solidFill>
                  <a:srgbClr val="888888"/>
                </a:solidFill>
              </a:rPr>
              <a:t>[Image placeholder]</a:t>
            </a:r>
          </a:p>
          <a:p/>
          <a:p>
            <a:r>
              <a:t>presentation_images/runtime_perfault_4way.png</a:t>
            </a:r>
          </a:p>
          <a:p/>
          <a:p>
            <a:r>
              <a:t>(PNG not found — Agent 2 generates this asset.)</a:t>
            </a:r>
          </a:p>
        </p:txBody>
      </p:sp>
      <p:sp>
        <p:nvSpPr>
          <p:cNvPr id="5" name="TextBox 4"/>
          <p:cNvSpPr txBox="1"/>
          <p:nvPr/>
        </p:nvSpPr>
        <p:spPr>
          <a:xfrm>
            <a:off x="10058400" y="6309360"/>
            <a:ext cx="2011680" cy="365760"/>
          </a:xfrm>
          <a:prstGeom prst="rect">
            <a:avLst/>
          </a:prstGeom>
          <a:noFill/>
        </p:spPr>
        <p:txBody>
          <a:bodyPr wrap="none">
            <a:spAutoFit/>
          </a:bodyPr>
          <a:lstStyle/>
          <a:p>
            <a:r>
              <a:rPr sz="1100" b="0">
                <a:solidFill>
                  <a:srgbClr val="999999"/>
                </a:solidFill>
              </a:rPr>
              <a:t>~80s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24. Bit-Accuracy vs Fault-Sim Coverage Gap</a:t>
            </a:r>
          </a:p>
        </p:txBody>
      </p:sp>
      <p:sp>
        <p:nvSpPr>
          <p:cNvPr id="3" name="TextBox 2"/>
          <p:cNvSpPr txBox="1"/>
          <p:nvPr/>
        </p:nvSpPr>
        <p:spPr>
          <a:xfrm>
            <a:off x="457200" y="1188720"/>
            <a:ext cx="5943600" cy="5029200"/>
          </a:xfrm>
          <a:prstGeom prst="rect">
            <a:avLst/>
          </a:prstGeom>
          <a:noFill/>
        </p:spPr>
        <p:txBody>
          <a:bodyPr wrap="square">
            <a:spAutoFit/>
          </a:bodyPr>
          <a:lstStyle/>
          <a:p>
            <a:pPr>
              <a:spcAft>
                <a:spcPts val="600"/>
              </a:spcAft>
            </a:pPr>
            <a:r>
              <a:rPr sz="1600">
                <a:solidFill>
                  <a:srgbClr val="222222"/>
                </a:solidFill>
              </a:rPr>
              <a:t>• Bit-accuracy and fault-simulation coverage are NOT the same thing — and the gap is real.</a:t>
            </a:r>
          </a:p>
          <a:p>
            <a:pPr>
              <a:spcAft>
                <a:spcPts val="600"/>
              </a:spcAft>
            </a:pPr>
            <a:r>
              <a:rPr sz="1600">
                <a:solidFill>
                  <a:srgbClr val="222222"/>
                </a:solidFill>
              </a:rPr>
              <a:t>• Bit-accuracy (paper metric): how many bits match the closest ground-truth pattern.</a:t>
            </a:r>
          </a:p>
          <a:p>
            <a:pPr>
              <a:spcAft>
                <a:spcPts val="600"/>
              </a:spcAft>
            </a:pPr>
            <a:r>
              <a:rPr sz="1600">
                <a:solidFill>
                  <a:srgbClr val="222222"/>
                </a:solidFill>
              </a:rPr>
              <a:t>• Fault-sim coverage (stricter): does the predicted pattern actually detect the fault when simulated?</a:t>
            </a:r>
          </a:p>
          <a:p>
            <a:pPr>
              <a:spcAft>
                <a:spcPts val="600"/>
              </a:spcAft>
            </a:pPr>
            <a:r>
              <a:rPr sz="1600">
                <a:solidFill>
                  <a:srgbClr val="222222"/>
                </a:solidFill>
              </a:rPr>
              <a:t>• Measured gap: c432 85.53% bit-acc -&gt; 41.88% fault-cov; c880 92.58% -&gt; 15.54%; c1908 69.70% -&gt; 23.86%.</a:t>
            </a:r>
          </a:p>
          <a:p>
            <a:pPr>
              <a:spcAft>
                <a:spcPts val="600"/>
              </a:spcAft>
            </a:pPr>
            <a:r>
              <a:rPr sz="1600">
                <a:solidFill>
                  <a:srgbClr val="222222"/>
                </a:solidFill>
              </a:rPr>
              <a:t>• The paper acknowledges this: it explicitly chooses bit-level over word-level (Section 6.2).</a:t>
            </a:r>
          </a:p>
          <a:p>
            <a:pPr>
              <a:spcAft>
                <a:spcPts val="600"/>
              </a:spcAft>
            </a:pPr>
            <a:r>
              <a:rPr sz="1600">
                <a:solidFill>
                  <a:srgbClr val="222222"/>
                </a:solidFill>
              </a:rPr>
              <a:t>• We report both because honest replication requires acknowledging which guarantee you actually have.</a:t>
            </a:r>
          </a:p>
        </p:txBody>
      </p:sp>
      <p:sp>
        <p:nvSpPr>
          <p:cNvPr id="4" name="TextBox 3"/>
          <p:cNvSpPr txBox="1"/>
          <p:nvPr/>
        </p:nvSpPr>
        <p:spPr>
          <a:xfrm>
            <a:off x="6583680" y="1371600"/>
            <a:ext cx="5303520" cy="4114800"/>
          </a:xfrm>
          <a:prstGeom prst="rect">
            <a:avLst/>
          </a:prstGeom>
          <a:noFill/>
        </p:spPr>
        <p:txBody>
          <a:bodyPr wrap="square">
            <a:spAutoFit/>
          </a:bodyPr>
          <a:lstStyle/>
          <a:p>
            <a:r>
              <a:rPr sz="1400" b="0" i="1">
                <a:solidFill>
                  <a:srgbClr val="888888"/>
                </a:solidFill>
              </a:rPr>
              <a:t>[Image placeholder]</a:t>
            </a:r>
          </a:p>
          <a:p/>
          <a:p>
            <a:r>
              <a:t>presentation_images/fault_sim_coverage_table.png</a:t>
            </a:r>
          </a:p>
          <a:p/>
          <a:p>
            <a:r>
              <a:t>(PNG not found — Agent 2 generates this asset.)</a:t>
            </a:r>
          </a:p>
        </p:txBody>
      </p:sp>
      <p:sp>
        <p:nvSpPr>
          <p:cNvPr id="5" name="TextBox 4"/>
          <p:cNvSpPr txBox="1"/>
          <p:nvPr/>
        </p:nvSpPr>
        <p:spPr>
          <a:xfrm>
            <a:off x="10058400" y="6309360"/>
            <a:ext cx="2011680" cy="365760"/>
          </a:xfrm>
          <a:prstGeom prst="rect">
            <a:avLst/>
          </a:prstGeom>
          <a:noFill/>
        </p:spPr>
        <p:txBody>
          <a:bodyPr wrap="none">
            <a:spAutoFit/>
          </a:bodyPr>
          <a:lstStyle/>
          <a:p>
            <a:r>
              <a:rPr sz="1100" b="0">
                <a:solidFill>
                  <a:srgbClr val="999999"/>
                </a:solidFill>
              </a:rPr>
              <a:t>~90s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25. Synthetic Grid (Paper Fig 5a Replication)</a:t>
            </a:r>
          </a:p>
        </p:txBody>
      </p:sp>
      <p:sp>
        <p:nvSpPr>
          <p:cNvPr id="3" name="TextBox 2"/>
          <p:cNvSpPr txBox="1"/>
          <p:nvPr/>
        </p:nvSpPr>
        <p:spPr>
          <a:xfrm>
            <a:off x="457200" y="1188720"/>
            <a:ext cx="5943600" cy="5029200"/>
          </a:xfrm>
          <a:prstGeom prst="rect">
            <a:avLst/>
          </a:prstGeom>
          <a:noFill/>
        </p:spPr>
        <p:txBody>
          <a:bodyPr wrap="square">
            <a:spAutoFit/>
          </a:bodyPr>
          <a:lstStyle/>
          <a:p>
            <a:pPr>
              <a:spcAft>
                <a:spcPts val="600"/>
              </a:spcAft>
            </a:pPr>
            <a:r>
              <a:rPr sz="1600">
                <a:solidFill>
                  <a:srgbClr val="222222"/>
                </a:solidFill>
              </a:rPr>
              <a:t>• Grid sweeps gate count vs circuit depth on synthetic 4-input circuits — replicates paper Figure 5a.</a:t>
            </a:r>
          </a:p>
          <a:p>
            <a:pPr>
              <a:spcAft>
                <a:spcPts val="600"/>
              </a:spcAft>
            </a:pPr>
            <a:r>
              <a:rPr sz="1600">
                <a:solidFill>
                  <a:srgbClr val="222222"/>
                </a:solidFill>
              </a:rPr>
              <a:t>• Bit-accuracy range: 0.78 to 1.00 across the grid; mean 0.87.</a:t>
            </a:r>
          </a:p>
          <a:p>
            <a:pPr>
              <a:spcAft>
                <a:spcPts val="600"/>
              </a:spcAft>
            </a:pPr>
            <a:r>
              <a:rPr sz="1600">
                <a:solidFill>
                  <a:srgbClr val="222222"/>
                </a:solidFill>
              </a:rPr>
              <a:t>• Trend is monotone: small + shallow circuits hit ~0.93, deep + large circuits drop to ~0.79.</a:t>
            </a:r>
          </a:p>
          <a:p>
            <a:pPr>
              <a:spcAft>
                <a:spcPts val="600"/>
              </a:spcAft>
            </a:pPr>
            <a:r>
              <a:rPr sz="1600">
                <a:solidFill>
                  <a:srgbClr val="222222"/>
                </a:solidFill>
              </a:rPr>
              <a:t>• Confirms paper's claim that the model degrades smoothly with structural complexity — no sharp cliffs.</a:t>
            </a:r>
          </a:p>
          <a:p>
            <a:pPr>
              <a:spcAft>
                <a:spcPts val="600"/>
              </a:spcAft>
            </a:pPr>
            <a:r>
              <a:rPr sz="1600">
                <a:solidFill>
                  <a:srgbClr val="222222"/>
                </a:solidFill>
              </a:rPr>
              <a:t>• Synthetic regime is in-distribution — these are circuits drawn from the same generator as training.</a:t>
            </a:r>
          </a:p>
          <a:p>
            <a:pPr>
              <a:spcAft>
                <a:spcPts val="600"/>
              </a:spcAft>
            </a:pPr>
            <a:r>
              <a:rPr sz="1600">
                <a:solidFill>
                  <a:srgbClr val="222222"/>
                </a:solidFill>
              </a:rPr>
              <a:t>• ISCAS-85 results are out-of-distribution — bigger and structurally different than training.</a:t>
            </a:r>
          </a:p>
        </p:txBody>
      </p:sp>
      <p:sp>
        <p:nvSpPr>
          <p:cNvPr id="4" name="TextBox 3"/>
          <p:cNvSpPr txBox="1"/>
          <p:nvPr/>
        </p:nvSpPr>
        <p:spPr>
          <a:xfrm>
            <a:off x="6583680" y="1371600"/>
            <a:ext cx="5303520" cy="4114800"/>
          </a:xfrm>
          <a:prstGeom prst="rect">
            <a:avLst/>
          </a:prstGeom>
          <a:noFill/>
        </p:spPr>
        <p:txBody>
          <a:bodyPr wrap="square">
            <a:spAutoFit/>
          </a:bodyPr>
          <a:lstStyle/>
          <a:p>
            <a:r>
              <a:rPr sz="1400" b="0" i="1">
                <a:solidFill>
                  <a:srgbClr val="888888"/>
                </a:solidFill>
              </a:rPr>
              <a:t>[Image placeholder]</a:t>
            </a:r>
          </a:p>
          <a:p/>
          <a:p>
            <a:r>
              <a:t>presentation_images/synthetic_grid_heatmap.png</a:t>
            </a:r>
          </a:p>
          <a:p/>
          <a:p>
            <a:r>
              <a:t>(PNG not found — Agent 2 generates this asset.)</a:t>
            </a:r>
          </a:p>
        </p:txBody>
      </p:sp>
      <p:sp>
        <p:nvSpPr>
          <p:cNvPr id="5" name="TextBox 4"/>
          <p:cNvSpPr txBox="1"/>
          <p:nvPr/>
        </p:nvSpPr>
        <p:spPr>
          <a:xfrm>
            <a:off x="10058400" y="6309360"/>
            <a:ext cx="2011680" cy="365760"/>
          </a:xfrm>
          <a:prstGeom prst="rect">
            <a:avLst/>
          </a:prstGeom>
          <a:noFill/>
        </p:spPr>
        <p:txBody>
          <a:bodyPr wrap="none">
            <a:spAutoFit/>
          </a:bodyPr>
          <a:lstStyle/>
          <a:p>
            <a:r>
              <a:rPr sz="1100" b="0">
                <a:solidFill>
                  <a:srgbClr val="999999"/>
                </a:solidFill>
              </a:rPr>
              <a:t>~75s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26. Depth Degradation (Paper Fig 6a Replication)</a:t>
            </a:r>
          </a:p>
        </p:txBody>
      </p:sp>
      <p:sp>
        <p:nvSpPr>
          <p:cNvPr id="3" name="TextBox 2"/>
          <p:cNvSpPr txBox="1"/>
          <p:nvPr/>
        </p:nvSpPr>
        <p:spPr>
          <a:xfrm>
            <a:off x="457200" y="1188720"/>
            <a:ext cx="5943600" cy="5029200"/>
          </a:xfrm>
          <a:prstGeom prst="rect">
            <a:avLst/>
          </a:prstGeom>
          <a:noFill/>
        </p:spPr>
        <p:txBody>
          <a:bodyPr wrap="square">
            <a:spAutoFit/>
          </a:bodyPr>
          <a:lstStyle/>
          <a:p>
            <a:pPr>
              <a:spcAft>
                <a:spcPts val="600"/>
              </a:spcAft>
            </a:pPr>
            <a:r>
              <a:rPr sz="1600">
                <a:solidFill>
                  <a:srgbClr val="222222"/>
                </a:solidFill>
              </a:rPr>
              <a:t>• Plot: bit-accuracy vs maximum logic depth, holding gate count roughly fixed.</a:t>
            </a:r>
          </a:p>
          <a:p>
            <a:pPr>
              <a:spcAft>
                <a:spcPts val="600"/>
              </a:spcAft>
            </a:pPr>
            <a:r>
              <a:rPr sz="1600">
                <a:solidFill>
                  <a:srgbClr val="222222"/>
                </a:solidFill>
              </a:rPr>
              <a:t>• Range observed: 0.89 at depth 1 down to 0.78 at depth 25.</a:t>
            </a:r>
          </a:p>
          <a:p>
            <a:pPr>
              <a:spcAft>
                <a:spcPts val="600"/>
              </a:spcAft>
            </a:pPr>
            <a:r>
              <a:rPr sz="1600">
                <a:solidFill>
                  <a:srgbClr val="222222"/>
                </a:solidFill>
              </a:rPr>
              <a:t>• Smooth curve — no phase transition, no collapse.</a:t>
            </a:r>
          </a:p>
          <a:p>
            <a:pPr>
              <a:spcAft>
                <a:spcPts val="600"/>
              </a:spcAft>
            </a:pPr>
            <a:r>
              <a:rPr sz="1600">
                <a:solidFill>
                  <a:srgbClr val="222222"/>
                </a:solidFill>
              </a:rPr>
              <a:t>• Matches paper Figure 6a directionally.</a:t>
            </a:r>
          </a:p>
          <a:p>
            <a:pPr>
              <a:spcAft>
                <a:spcPts val="600"/>
              </a:spcAft>
            </a:pPr>
            <a:r>
              <a:rPr sz="1600">
                <a:solidFill>
                  <a:srgbClr val="222222"/>
                </a:solidFill>
              </a:rPr>
              <a:t>• Mechanism: deeper circuits have longer activation/propagation paths than the LSTM saw in training.</a:t>
            </a:r>
          </a:p>
          <a:p>
            <a:pPr>
              <a:spcAft>
                <a:spcPts val="600"/>
              </a:spcAft>
            </a:pPr>
            <a:r>
              <a:rPr sz="1600">
                <a:solidFill>
                  <a:srgbClr val="222222"/>
                </a:solidFill>
              </a:rPr>
              <a:t>• Suggests one obvious extension — train on deeper synthetic circuits to push the curve right.</a:t>
            </a:r>
          </a:p>
        </p:txBody>
      </p:sp>
      <p:sp>
        <p:nvSpPr>
          <p:cNvPr id="4" name="TextBox 3"/>
          <p:cNvSpPr txBox="1"/>
          <p:nvPr/>
        </p:nvSpPr>
        <p:spPr>
          <a:xfrm>
            <a:off x="6583680" y="1371600"/>
            <a:ext cx="5303520" cy="4114800"/>
          </a:xfrm>
          <a:prstGeom prst="rect">
            <a:avLst/>
          </a:prstGeom>
          <a:noFill/>
        </p:spPr>
        <p:txBody>
          <a:bodyPr wrap="square">
            <a:spAutoFit/>
          </a:bodyPr>
          <a:lstStyle/>
          <a:p>
            <a:r>
              <a:rPr sz="1400" b="0" i="1">
                <a:solidFill>
                  <a:srgbClr val="888888"/>
                </a:solidFill>
              </a:rPr>
              <a:t>[Image placeholder]</a:t>
            </a:r>
          </a:p>
          <a:p/>
          <a:p>
            <a:r>
              <a:t>presentation_images/depth_curve.png</a:t>
            </a:r>
          </a:p>
          <a:p/>
          <a:p>
            <a:r>
              <a:t>(PNG not found — Agent 2 generates this asset.)</a:t>
            </a:r>
          </a:p>
        </p:txBody>
      </p:sp>
      <p:sp>
        <p:nvSpPr>
          <p:cNvPr id="5" name="TextBox 4"/>
          <p:cNvSpPr txBox="1"/>
          <p:nvPr/>
        </p:nvSpPr>
        <p:spPr>
          <a:xfrm>
            <a:off x="10058400" y="6309360"/>
            <a:ext cx="2011680" cy="365760"/>
          </a:xfrm>
          <a:prstGeom prst="rect">
            <a:avLst/>
          </a:prstGeom>
          <a:noFill/>
        </p:spPr>
        <p:txBody>
          <a:bodyPr wrap="none">
            <a:spAutoFit/>
          </a:bodyPr>
          <a:lstStyle/>
          <a:p>
            <a:r>
              <a:rPr sz="1100" b="0">
                <a:solidFill>
                  <a:srgbClr val="999999"/>
                </a:solidFill>
              </a:rPr>
              <a:t>~75s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27. Honest Takeaways</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Speed: yes — 17.6x faster than PODEM on c432, hundreds-of-ms regime across ISCAS-85.</a:t>
            </a:r>
          </a:p>
          <a:p>
            <a:pPr>
              <a:spcAft>
                <a:spcPts val="600"/>
              </a:spcAft>
            </a:pPr>
            <a:r>
              <a:rPr sz="1600">
                <a:solidFill>
                  <a:srgbClr val="222222"/>
                </a:solidFill>
              </a:rPr>
              <a:t>• Bit-accuracy: competitive with classical ATPG on most circuits under the paper's official metric.</a:t>
            </a:r>
          </a:p>
          <a:p>
            <a:pPr>
              <a:spcAft>
                <a:spcPts val="600"/>
              </a:spcAft>
            </a:pPr>
            <a:r>
              <a:rPr sz="1600">
                <a:solidFill>
                  <a:srgbClr val="222222"/>
                </a:solidFill>
              </a:rPr>
              <a:t>• Completeness: no — ATPP gives no formal guarantee that any predicted pattern detects its fault.</a:t>
            </a:r>
          </a:p>
          <a:p>
            <a:pPr>
              <a:spcAft>
                <a:spcPts val="600"/>
              </a:spcAft>
            </a:pPr>
            <a:r>
              <a:rPr sz="1600">
                <a:solidFill>
                  <a:srgbClr val="222222"/>
                </a:solidFill>
              </a:rPr>
              <a:t>• Weak spots: c499 and c1908 — XOR-heavy and reconvergent, exactly where classical methods also struggle.</a:t>
            </a:r>
          </a:p>
          <a:p>
            <a:pPr>
              <a:spcAft>
                <a:spcPts val="600"/>
              </a:spcAft>
            </a:pPr>
            <a:r>
              <a:rPr sz="1600">
                <a:solidFill>
                  <a:srgbClr val="222222"/>
                </a:solidFill>
              </a:rPr>
              <a:t>• Bit-acc to fault-coverage gap is real; the paper's metric choice is defensible but worth flagging.</a:t>
            </a:r>
          </a:p>
          <a:p>
            <a:pPr>
              <a:spcAft>
                <a:spcPts val="600"/>
              </a:spcAft>
            </a:pPr>
            <a:r>
              <a:rPr sz="1600">
                <a:solidFill>
                  <a:srgbClr val="222222"/>
                </a:solidFill>
              </a:rPr>
              <a:t>• Honest framing: ATPP is a fast first guess for a classical verifier, not a replacement for ATPG.</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~90s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