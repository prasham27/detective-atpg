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Default Extension="png" ContentType="image/png"/>
  <Override PartName="/ppt/slides/slide30.xml" ContentType="application/vnd.openxmlformats-officedocument.presentationml.slide+xml"/>
  <Default Extension="jpg" ContentType="image/jpg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22373A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74295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2373A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74295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74295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74295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74295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51790"/>
          </a:xfrm>
          <a:custGeom>
            <a:avLst/>
            <a:gdLst/>
            <a:ahLst/>
            <a:cxnLst/>
            <a:rect l="l" t="t" r="r" b="b"/>
            <a:pathLst>
              <a:path w="5760085" h="351790">
                <a:moveTo>
                  <a:pt x="5759996" y="0"/>
                </a:moveTo>
                <a:lnTo>
                  <a:pt x="0" y="0"/>
                </a:lnTo>
                <a:lnTo>
                  <a:pt x="0" y="351790"/>
                </a:lnTo>
                <a:lnTo>
                  <a:pt x="5759996" y="351790"/>
                </a:lnTo>
                <a:lnTo>
                  <a:pt x="5759996" y="0"/>
                </a:lnTo>
                <a:close/>
              </a:path>
            </a:pathLst>
          </a:custGeom>
          <a:solidFill>
            <a:srgbClr val="2C39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896" y="63700"/>
            <a:ext cx="351726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790429"/>
            <a:ext cx="2350135" cy="1362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22373A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42394" y="2993590"/>
            <a:ext cx="169545" cy="1504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74295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rive.google.com/file/d/1Hn_otVqLK0dllCEOw7Bx0xWCJpabkFpD/view?usp=sharing" TargetMode="Externa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7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28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7294" y="679726"/>
            <a:ext cx="458279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75">
                <a:solidFill>
                  <a:srgbClr val="22373A"/>
                </a:solidFill>
              </a:rPr>
              <a:t>DETECTive:</a:t>
            </a:r>
            <a:r>
              <a:rPr dirty="0" sz="1400" spc="80">
                <a:solidFill>
                  <a:srgbClr val="22373A"/>
                </a:solidFill>
              </a:rPr>
              <a:t> </a:t>
            </a:r>
            <a:r>
              <a:rPr dirty="0" sz="1400" spc="-175">
                <a:solidFill>
                  <a:srgbClr val="22373A"/>
                </a:solidFill>
              </a:rPr>
              <a:t>ML-</a:t>
            </a:r>
            <a:r>
              <a:rPr dirty="0" sz="1400" spc="-25">
                <a:solidFill>
                  <a:srgbClr val="22373A"/>
                </a:solidFill>
              </a:rPr>
              <a:t>driven</a:t>
            </a:r>
            <a:r>
              <a:rPr dirty="0" sz="1400" spc="-50">
                <a:solidFill>
                  <a:srgbClr val="22373A"/>
                </a:solidFill>
              </a:rPr>
              <a:t> Automatic</a:t>
            </a:r>
            <a:r>
              <a:rPr dirty="0" sz="1400" spc="-45">
                <a:solidFill>
                  <a:srgbClr val="22373A"/>
                </a:solidFill>
              </a:rPr>
              <a:t> </a:t>
            </a:r>
            <a:r>
              <a:rPr dirty="0" sz="1400" spc="-80">
                <a:solidFill>
                  <a:srgbClr val="22373A"/>
                </a:solidFill>
              </a:rPr>
              <a:t>Test</a:t>
            </a:r>
            <a:r>
              <a:rPr dirty="0" sz="1400" spc="-50">
                <a:solidFill>
                  <a:srgbClr val="22373A"/>
                </a:solidFill>
              </a:rPr>
              <a:t> </a:t>
            </a:r>
            <a:r>
              <a:rPr dirty="0" sz="1400" spc="-20">
                <a:solidFill>
                  <a:srgbClr val="22373A"/>
                </a:solidFill>
              </a:rPr>
              <a:t>Pattern</a:t>
            </a:r>
            <a:r>
              <a:rPr dirty="0" sz="1400" spc="-50">
                <a:solidFill>
                  <a:srgbClr val="22373A"/>
                </a:solidFill>
              </a:rPr>
              <a:t> </a:t>
            </a:r>
            <a:r>
              <a:rPr dirty="0" sz="1400" spc="-10">
                <a:solidFill>
                  <a:srgbClr val="22373A"/>
                </a:solidFill>
              </a:rPr>
              <a:t>Prediction</a:t>
            </a:r>
            <a:endParaRPr sz="1400"/>
          </a:p>
        </p:txBody>
      </p:sp>
      <p:sp>
        <p:nvSpPr>
          <p:cNvPr id="4" name="object 4"/>
          <p:cNvSpPr txBox="1"/>
          <p:nvPr/>
        </p:nvSpPr>
        <p:spPr>
          <a:xfrm>
            <a:off x="347294" y="1004897"/>
            <a:ext cx="388810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22373A"/>
                </a:solidFill>
                <a:latin typeface="Tahoma"/>
                <a:cs typeface="Tahoma"/>
              </a:rPr>
              <a:t>Faults</a:t>
            </a:r>
            <a:r>
              <a:rPr dirty="0" sz="12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373A"/>
                </a:solidFill>
                <a:latin typeface="Tahoma"/>
                <a:cs typeface="Tahoma"/>
              </a:rPr>
              <a:t>in</a:t>
            </a:r>
            <a:r>
              <a:rPr dirty="0" sz="12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373A"/>
                </a:solidFill>
                <a:latin typeface="Tahoma"/>
                <a:cs typeface="Tahoma"/>
              </a:rPr>
              <a:t>Digital</a:t>
            </a:r>
            <a:r>
              <a:rPr dirty="0" sz="12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373A"/>
                </a:solidFill>
                <a:latin typeface="Tahoma"/>
                <a:cs typeface="Tahoma"/>
              </a:rPr>
              <a:t>Circuits</a:t>
            </a:r>
            <a:r>
              <a:rPr dirty="0" sz="12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200" spc="-160">
                <a:solidFill>
                  <a:srgbClr val="22373A"/>
                </a:solidFill>
                <a:latin typeface="Tahoma"/>
                <a:cs typeface="Tahoma"/>
              </a:rPr>
              <a:t>—</a:t>
            </a:r>
            <a:r>
              <a:rPr dirty="0" sz="12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200" spc="-6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2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200" spc="-80">
                <a:solidFill>
                  <a:srgbClr val="22373A"/>
                </a:solidFill>
                <a:latin typeface="Tahoma"/>
                <a:cs typeface="Tahoma"/>
              </a:rPr>
              <a:t>GNN+LSTM</a:t>
            </a:r>
            <a:r>
              <a:rPr dirty="0" sz="12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373A"/>
                </a:solidFill>
                <a:latin typeface="Tahoma"/>
                <a:cs typeface="Tahoma"/>
              </a:rPr>
              <a:t>Approach</a:t>
            </a:r>
            <a:r>
              <a:rPr dirty="0" sz="12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2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373A"/>
                </a:solidFill>
                <a:latin typeface="Tahoma"/>
                <a:cs typeface="Tahoma"/>
              </a:rPr>
              <a:t>ATPG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9994" y="1414887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2C39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7294" y="1629299"/>
            <a:ext cx="1820545" cy="854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7400"/>
              </a:lnSpc>
              <a:spcBef>
                <a:spcPts val="100"/>
              </a:spcBef>
            </a:pP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Prasham</a:t>
            </a:r>
            <a:r>
              <a:rPr dirty="0" sz="9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Shah</a:t>
            </a:r>
            <a:r>
              <a:rPr dirty="0" sz="900" spc="1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|</a:t>
            </a:r>
            <a:r>
              <a:rPr dirty="0" sz="900" spc="1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Dhruvi</a:t>
            </a:r>
            <a:r>
              <a:rPr dirty="0" sz="9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Tahoma"/>
                <a:cs typeface="Tahoma"/>
              </a:rPr>
              <a:t>Jobanputra 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April</a:t>
            </a:r>
            <a:r>
              <a:rPr dirty="0" sz="900" spc="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Tahoma"/>
                <a:cs typeface="Tahoma"/>
              </a:rPr>
              <a:t>2026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700" spc="-20">
                <a:solidFill>
                  <a:srgbClr val="22373A"/>
                </a:solidFill>
                <a:latin typeface="Tahoma"/>
                <a:cs typeface="Tahoma"/>
              </a:rPr>
              <a:t>BTech</a:t>
            </a:r>
            <a:r>
              <a:rPr dirty="0" sz="7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Mini</a:t>
            </a:r>
            <a:r>
              <a:rPr dirty="0" sz="7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Project</a:t>
            </a:r>
            <a:endParaRPr sz="700">
              <a:latin typeface="Tahoma"/>
              <a:cs typeface="Tahoma"/>
            </a:endParaRPr>
          </a:p>
          <a:p>
            <a:pPr marL="12700" marR="675005">
              <a:lnSpc>
                <a:spcPct val="109100"/>
              </a:lnSpc>
            </a:pPr>
            <a:r>
              <a:rPr dirty="0" sz="700" spc="-45">
                <a:solidFill>
                  <a:srgbClr val="22373A"/>
                </a:solidFill>
                <a:latin typeface="Tahoma"/>
                <a:cs typeface="Tahoma"/>
              </a:rPr>
              <a:t>VLSI</a:t>
            </a:r>
            <a:r>
              <a:rPr dirty="0" sz="7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20">
                <a:solidFill>
                  <a:srgbClr val="22373A"/>
                </a:solidFill>
                <a:latin typeface="Tahoma"/>
                <a:cs typeface="Tahoma"/>
              </a:rPr>
              <a:t>Testing</a:t>
            </a:r>
            <a:r>
              <a:rPr dirty="0" sz="7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dirty="0" sz="7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Validation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Dhirubhai</a:t>
            </a:r>
            <a:r>
              <a:rPr dirty="0" sz="7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Ambani</a:t>
            </a:r>
            <a:r>
              <a:rPr dirty="0" sz="7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University</a:t>
            </a:r>
            <a:endParaRPr sz="7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75524" y="1151728"/>
            <a:ext cx="2372360" cy="54927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2700"/>
              </a:lnSpc>
              <a:spcBef>
                <a:spcPts val="90"/>
              </a:spcBef>
            </a:pPr>
            <a:r>
              <a:rPr dirty="0" sz="1400" spc="-10">
                <a:solidFill>
                  <a:srgbClr val="22373A"/>
                </a:solidFill>
                <a:hlinkClick r:id="rId2" action="ppaction://hlinksldjump"/>
              </a:rPr>
              <a:t>Block</a:t>
            </a:r>
            <a:r>
              <a:rPr dirty="0" sz="1400" spc="-6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dirty="0" sz="1400" spc="-280">
                <a:solidFill>
                  <a:srgbClr val="22373A"/>
                </a:solidFill>
                <a:hlinkClick r:id="rId2" action="ppaction://hlinksldjump"/>
              </a:rPr>
              <a:t>1</a:t>
            </a:r>
            <a:r>
              <a:rPr dirty="0" sz="1400" spc="-55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dirty="0" sz="1400" spc="-280">
                <a:solidFill>
                  <a:srgbClr val="22373A"/>
                </a:solidFill>
                <a:hlinkClick r:id="rId2" action="ppaction://hlinksldjump"/>
              </a:rPr>
              <a:t>—</a:t>
            </a:r>
            <a:r>
              <a:rPr dirty="0" sz="1400" spc="-55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dirty="0" sz="1400" spc="-40">
                <a:solidFill>
                  <a:srgbClr val="22373A"/>
                </a:solidFill>
                <a:hlinkClick r:id="rId2" action="ppaction://hlinksldjump"/>
              </a:rPr>
              <a:t>Traditional</a:t>
            </a:r>
            <a:r>
              <a:rPr dirty="0" sz="1400" spc="-6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dirty="0" sz="1400" spc="-114">
                <a:solidFill>
                  <a:srgbClr val="22373A"/>
                </a:solidFill>
                <a:hlinkClick r:id="rId2" action="ppaction://hlinksldjump"/>
              </a:rPr>
              <a:t>ATPG</a:t>
            </a:r>
            <a:r>
              <a:rPr dirty="0" sz="1400" spc="-55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dirty="0" sz="1400" spc="15">
                <a:solidFill>
                  <a:srgbClr val="22373A"/>
                </a:solidFill>
                <a:hlinkClick r:id="rId2" action="ppaction://hlinksldjump"/>
              </a:rPr>
              <a:t>&amp;</a:t>
            </a:r>
            <a:r>
              <a:rPr dirty="0" sz="1400" spc="15">
                <a:solidFill>
                  <a:srgbClr val="22373A"/>
                </a:solidFill>
              </a:rPr>
              <a:t> </a:t>
            </a:r>
            <a:r>
              <a:rPr dirty="0" sz="1400" spc="-10">
                <a:solidFill>
                  <a:srgbClr val="22373A"/>
                </a:solidFill>
                <a:hlinkClick r:id="rId2" action="ppaction://hlinksldjump"/>
              </a:rPr>
              <a:t>Motivation</a:t>
            </a:r>
            <a:endParaRPr sz="1400"/>
          </a:p>
        </p:txBody>
      </p:sp>
      <p:grpSp>
        <p:nvGrpSpPr>
          <p:cNvPr id="3" name="object 3"/>
          <p:cNvGrpSpPr/>
          <p:nvPr/>
        </p:nvGrpSpPr>
        <p:grpSpPr>
          <a:xfrm>
            <a:off x="1488224" y="1812613"/>
            <a:ext cx="2783840" cy="5080"/>
            <a:chOff x="1488224" y="1812613"/>
            <a:chExt cx="2783840" cy="5080"/>
          </a:xfrm>
        </p:grpSpPr>
        <p:sp>
          <p:nvSpPr>
            <p:cNvPr id="4" name="object 4"/>
            <p:cNvSpPr/>
            <p:nvPr/>
          </p:nvSpPr>
          <p:spPr>
            <a:xfrm>
              <a:off x="1488224" y="1812613"/>
              <a:ext cx="2783840" cy="5080"/>
            </a:xfrm>
            <a:custGeom>
              <a:avLst/>
              <a:gdLst/>
              <a:ahLst/>
              <a:cxnLst/>
              <a:rect l="l" t="t" r="r" b="b"/>
              <a:pathLst>
                <a:path w="2783840" h="5080">
                  <a:moveTo>
                    <a:pt x="0" y="5060"/>
                  </a:moveTo>
                  <a:lnTo>
                    <a:pt x="0" y="0"/>
                  </a:lnTo>
                  <a:lnTo>
                    <a:pt x="2783597" y="0"/>
                  </a:lnTo>
                  <a:lnTo>
                    <a:pt x="278359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D7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88224" y="1812613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w="0" h="5080">
                  <a:moveTo>
                    <a:pt x="0" y="5060"/>
                  </a:moveTo>
                  <a:lnTo>
                    <a:pt x="0" y="0"/>
                  </a:lnTo>
                  <a:lnTo>
                    <a:pt x="0" y="5060"/>
                  </a:lnTo>
                  <a:close/>
                </a:path>
                <a:path w="0" h="5080">
                  <a:moveTo>
                    <a:pt x="0" y="0"/>
                  </a:moveTo>
                </a:path>
              </a:pathLst>
            </a:custGeom>
            <a:solidFill>
              <a:srgbClr val="2C396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63700"/>
            <a:ext cx="76327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Why</a:t>
            </a:r>
            <a:r>
              <a:rPr dirty="0" spc="-40"/>
              <a:t> </a:t>
            </a:r>
            <a:r>
              <a:rPr dirty="0" spc="-70"/>
              <a:t>ATPG?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140"/>
              </a:spcBef>
            </a:pPr>
            <a:r>
              <a:rPr dirty="0" spc="-5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4154" y="898899"/>
            <a:ext cx="4833620" cy="139954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37160" indent="-99060">
              <a:lnSpc>
                <a:spcPct val="100000"/>
              </a:lnSpc>
              <a:spcBef>
                <a:spcPts val="575"/>
              </a:spcBef>
              <a:buClr>
                <a:srgbClr val="2C396B"/>
              </a:buClr>
              <a:buChar char="•"/>
              <a:tabLst>
                <a:tab pos="137160" algn="l"/>
              </a:tabLst>
            </a:pP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Every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fabricated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chip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must be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tested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for 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manufacturing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defects</a:t>
            </a:r>
            <a:r>
              <a:rPr dirty="0" sz="100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before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shipment</a:t>
            </a:r>
            <a:endParaRPr sz="1000">
              <a:latin typeface="Tahoma"/>
              <a:cs typeface="Tahoma"/>
            </a:endParaRPr>
          </a:p>
          <a:p>
            <a:pPr marL="137160" marR="95885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37160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Defects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are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modelled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logical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faults</a:t>
            </a:r>
            <a:r>
              <a:rPr dirty="0" sz="1000" spc="-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on internal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nets;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test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patterns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must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expose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them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at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primary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outputs</a:t>
            </a:r>
            <a:endParaRPr sz="1000">
              <a:latin typeface="Tahoma"/>
              <a:cs typeface="Tahoma"/>
            </a:endParaRPr>
          </a:p>
          <a:p>
            <a:pPr marL="137160" marR="18415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Font typeface="Tahoma"/>
              <a:buChar char="•"/>
              <a:tabLst>
                <a:tab pos="137160" algn="l"/>
              </a:tabLst>
            </a:pP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Automatic</a:t>
            </a:r>
            <a:r>
              <a:rPr dirty="0" sz="1000" spc="-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70">
                <a:solidFill>
                  <a:srgbClr val="22373A"/>
                </a:solidFill>
                <a:latin typeface="Lucida Sans Unicode"/>
                <a:cs typeface="Lucida Sans Unicode"/>
              </a:rPr>
              <a:t>Test</a:t>
            </a:r>
            <a:r>
              <a:rPr dirty="0" sz="1000" spc="-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Pattern</a:t>
            </a:r>
            <a:r>
              <a:rPr dirty="0" sz="1000" spc="-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Generation</a:t>
            </a:r>
            <a:r>
              <a:rPr dirty="0" sz="1000" spc="-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65">
                <a:solidFill>
                  <a:srgbClr val="22373A"/>
                </a:solidFill>
                <a:latin typeface="Lucida Sans Unicode"/>
                <a:cs typeface="Lucida Sans Unicode"/>
              </a:rPr>
              <a:t>(ATPG)</a:t>
            </a:r>
            <a:r>
              <a:rPr dirty="0" sz="1000" spc="1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solves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this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via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deterministic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search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—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D-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Algorithm,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PODEM,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FAN</a:t>
            </a:r>
            <a:endParaRPr sz="1000">
              <a:latin typeface="Tahoma"/>
              <a:cs typeface="Tahoma"/>
            </a:endParaRPr>
          </a:p>
          <a:p>
            <a:pPr marL="137160" marR="3048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Font typeface="Tahoma"/>
              <a:buChar char="•"/>
              <a:tabLst>
                <a:tab pos="137160" algn="l"/>
              </a:tabLst>
            </a:pP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Bottleneck:</a:t>
            </a:r>
            <a:r>
              <a:rPr dirty="0" sz="1000" spc="9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search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space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scales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as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2</a:t>
            </a:r>
            <a:r>
              <a:rPr dirty="0" baseline="27777" sz="1050" spc="-30" i="1">
                <a:solidFill>
                  <a:srgbClr val="22373A"/>
                </a:solidFill>
                <a:latin typeface="Trebuchet MS"/>
                <a:cs typeface="Trebuchet MS"/>
              </a:rPr>
              <a:t>N</a:t>
            </a:r>
            <a:r>
              <a:rPr dirty="0" baseline="27777" sz="750" spc="-30" i="1">
                <a:solidFill>
                  <a:srgbClr val="22373A"/>
                </a:solidFill>
                <a:latin typeface="Trebuchet MS"/>
                <a:cs typeface="Trebuchet MS"/>
              </a:rPr>
              <a:t>PI</a:t>
            </a:r>
            <a:r>
              <a:rPr dirty="0" baseline="27777" sz="750" spc="-67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 spc="-155">
                <a:solidFill>
                  <a:srgbClr val="22373A"/>
                </a:solidFill>
                <a:latin typeface="Tahoma"/>
                <a:cs typeface="Tahoma"/>
              </a:rPr>
              <a:t>;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industrial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designs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(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N</a:t>
            </a:r>
            <a:r>
              <a:rPr dirty="0" baseline="-11904" sz="1050" i="1">
                <a:solidFill>
                  <a:srgbClr val="22373A"/>
                </a:solidFill>
                <a:latin typeface="Trebuchet MS"/>
                <a:cs typeface="Trebuchet MS"/>
              </a:rPr>
              <a:t>PI</a:t>
            </a:r>
            <a:r>
              <a:rPr dirty="0" baseline="-11904" sz="1050" spc="225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 spc="270" i="1">
                <a:solidFill>
                  <a:srgbClr val="22373A"/>
                </a:solidFill>
                <a:latin typeface="Calibri"/>
                <a:cs typeface="Calibri"/>
              </a:rPr>
              <a:t>&gt;</a:t>
            </a:r>
            <a:r>
              <a:rPr dirty="0" sz="1000" spc="80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10</a:t>
            </a:r>
            <a:r>
              <a:rPr dirty="0" baseline="27777" sz="1050" spc="-82">
                <a:solidFill>
                  <a:srgbClr val="22373A"/>
                </a:solidFill>
                <a:latin typeface="Tahoma"/>
                <a:cs typeface="Tahoma"/>
              </a:rPr>
              <a:t>4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)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this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is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intractable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without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strong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heuristics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95"/>
              <a:t>Stuck-</a:t>
            </a:r>
            <a:r>
              <a:rPr dirty="0" spc="-20"/>
              <a:t>at</a:t>
            </a:r>
            <a:r>
              <a:rPr dirty="0" spc="-45"/>
              <a:t> </a:t>
            </a:r>
            <a:r>
              <a:rPr dirty="0" spc="-50"/>
              <a:t>Faults</a:t>
            </a:r>
            <a:r>
              <a:rPr dirty="0" spc="-45"/>
              <a:t> </a:t>
            </a:r>
            <a:r>
              <a:rPr dirty="0" spc="-265"/>
              <a:t>—</a:t>
            </a:r>
            <a:r>
              <a:rPr dirty="0" spc="-40"/>
              <a:t> </a:t>
            </a:r>
            <a:r>
              <a:rPr dirty="0" spc="-80"/>
              <a:t>The</a:t>
            </a:r>
            <a:r>
              <a:rPr dirty="0" spc="-45"/>
              <a:t> </a:t>
            </a:r>
            <a:r>
              <a:rPr dirty="0" spc="-40"/>
              <a:t>Standard</a:t>
            </a:r>
            <a:r>
              <a:rPr dirty="0" spc="-45"/>
              <a:t> Fault</a:t>
            </a:r>
            <a:r>
              <a:rPr dirty="0" spc="-40"/>
              <a:t> </a:t>
            </a:r>
            <a:r>
              <a:rPr dirty="0" spc="-1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62832"/>
            <a:ext cx="2783840" cy="230060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75">
                <a:solidFill>
                  <a:srgbClr val="22373A"/>
                </a:solidFill>
                <a:latin typeface="Lucida Sans Unicode"/>
                <a:cs typeface="Lucida Sans Unicode"/>
              </a:rPr>
              <a:t>Stuck-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at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Fault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Model</a:t>
            </a:r>
            <a:endParaRPr sz="1000">
              <a:latin typeface="Lucida Sans Unicode"/>
              <a:cs typeface="Lucida Sans Unicode"/>
            </a:endParaRPr>
          </a:p>
          <a:p>
            <a:pPr marL="164465" marR="27305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net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permanently tied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 a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logic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value,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regardless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driving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gate</a:t>
            </a:r>
            <a:endParaRPr sz="1000">
              <a:latin typeface="Tahoma"/>
              <a:cs typeface="Tahoma"/>
            </a:endParaRPr>
          </a:p>
          <a:p>
            <a:pPr marL="163830" indent="-99060">
              <a:lnSpc>
                <a:spcPct val="100000"/>
              </a:lnSpc>
              <a:spcBef>
                <a:spcPts val="475"/>
              </a:spcBef>
              <a:buClr>
                <a:srgbClr val="2C396B"/>
              </a:buClr>
              <a:buFont typeface="Tahoma"/>
              <a:buChar char="•"/>
              <a:tabLst>
                <a:tab pos="163830" algn="l"/>
              </a:tabLst>
            </a:pPr>
            <a:r>
              <a:rPr dirty="0" sz="1000" spc="-75">
                <a:solidFill>
                  <a:srgbClr val="22373A"/>
                </a:solidFill>
                <a:latin typeface="Lucida Sans Unicode"/>
                <a:cs typeface="Lucida Sans Unicode"/>
              </a:rPr>
              <a:t>SA0</a:t>
            </a:r>
            <a:r>
              <a:rPr dirty="0" sz="1000" spc="-75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7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net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stuck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at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logic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163830" indent="-99060">
              <a:lnSpc>
                <a:spcPct val="100000"/>
              </a:lnSpc>
              <a:spcBef>
                <a:spcPts val="475"/>
              </a:spcBef>
              <a:buClr>
                <a:srgbClr val="2C396B"/>
              </a:buClr>
              <a:buFont typeface="Tahoma"/>
              <a:buChar char="•"/>
              <a:tabLst>
                <a:tab pos="163830" algn="l"/>
              </a:tabLst>
            </a:pPr>
            <a:r>
              <a:rPr dirty="0" sz="1000" spc="-140">
                <a:solidFill>
                  <a:srgbClr val="22373A"/>
                </a:solidFill>
                <a:latin typeface="Lucida Sans Unicode"/>
                <a:cs typeface="Lucida Sans Unicode"/>
              </a:rPr>
              <a:t>SA1</a:t>
            </a:r>
            <a:r>
              <a:rPr dirty="0" sz="1000" spc="-14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9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net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stuck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at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logic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marL="163830" indent="-99060">
              <a:lnSpc>
                <a:spcPct val="100000"/>
              </a:lnSpc>
              <a:spcBef>
                <a:spcPts val="475"/>
              </a:spcBef>
              <a:buClr>
                <a:srgbClr val="2C396B"/>
              </a:buClr>
              <a:buChar char="•"/>
              <a:tabLst>
                <a:tab pos="163830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Captures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opens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shorts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power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125">
                <a:solidFill>
                  <a:srgbClr val="22373A"/>
                </a:solidFill>
                <a:latin typeface="Tahoma"/>
                <a:cs typeface="Tahoma"/>
              </a:rPr>
              <a:t>/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ground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000" spc="-85">
                <a:solidFill>
                  <a:srgbClr val="22373A"/>
                </a:solidFill>
                <a:latin typeface="Lucida Sans Unicode"/>
                <a:cs typeface="Lucida Sans Unicode"/>
              </a:rPr>
              <a:t>Two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requirements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for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detection:</a:t>
            </a:r>
            <a:endParaRPr sz="1000">
              <a:latin typeface="Lucida Sans Unicode"/>
              <a:cs typeface="Lucida Sans Unicode"/>
            </a:endParaRPr>
          </a:p>
          <a:p>
            <a:pPr marL="163195" indent="-140970">
              <a:lnSpc>
                <a:spcPct val="100000"/>
              </a:lnSpc>
              <a:spcBef>
                <a:spcPts val="475"/>
              </a:spcBef>
              <a:buClr>
                <a:srgbClr val="22373A"/>
              </a:buClr>
              <a:buAutoNum type="arabicPeriod"/>
              <a:tabLst>
                <a:tab pos="163195" algn="l"/>
              </a:tabLst>
            </a:pPr>
            <a:r>
              <a:rPr dirty="0" sz="1000">
                <a:solidFill>
                  <a:srgbClr val="C0392B"/>
                </a:solidFill>
                <a:latin typeface="Tahoma"/>
                <a:cs typeface="Tahoma"/>
              </a:rPr>
              <a:t>Activate</a:t>
            </a:r>
            <a:r>
              <a:rPr dirty="0" sz="1000" spc="-20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000" spc="-145">
                <a:solidFill>
                  <a:srgbClr val="22373A"/>
                </a:solidFill>
                <a:latin typeface="Tahoma"/>
                <a:cs typeface="Tahoma"/>
              </a:rPr>
              <a:t>—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drive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faulty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net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 i="1">
                <a:solidFill>
                  <a:srgbClr val="22373A"/>
                </a:solidFill>
                <a:latin typeface="Trebuchet MS"/>
                <a:cs typeface="Trebuchet MS"/>
              </a:rPr>
              <a:t>opposite</a:t>
            </a:r>
            <a:endParaRPr sz="1000">
              <a:latin typeface="Trebuchet MS"/>
              <a:cs typeface="Trebuchet MS"/>
            </a:endParaRPr>
          </a:p>
          <a:p>
            <a:pPr marL="164465">
              <a:lnSpc>
                <a:spcPct val="100000"/>
              </a:lnSpc>
              <a:spcBef>
                <a:spcPts val="175"/>
              </a:spcBef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value in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fault-free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machine</a:t>
            </a:r>
            <a:endParaRPr sz="1000">
              <a:latin typeface="Tahoma"/>
              <a:cs typeface="Tahoma"/>
            </a:endParaRPr>
          </a:p>
          <a:p>
            <a:pPr marL="163195" marR="5080" indent="-149225">
              <a:lnSpc>
                <a:spcPct val="114599"/>
              </a:lnSpc>
              <a:spcBef>
                <a:spcPts val="295"/>
              </a:spcBef>
              <a:buClr>
                <a:srgbClr val="22373A"/>
              </a:buClr>
              <a:buAutoNum type="arabicPeriod" startAt="2"/>
              <a:tabLst>
                <a:tab pos="164465" algn="l"/>
              </a:tabLst>
            </a:pPr>
            <a:r>
              <a:rPr dirty="0" sz="1000">
                <a:solidFill>
                  <a:srgbClr val="C0392B"/>
                </a:solidFill>
                <a:latin typeface="Tahoma"/>
                <a:cs typeface="Tahoma"/>
              </a:rPr>
              <a:t>Propagate</a:t>
            </a:r>
            <a:r>
              <a:rPr dirty="0" sz="1000" spc="-5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000" spc="-145">
                <a:solidFill>
                  <a:srgbClr val="22373A"/>
                </a:solidFill>
                <a:latin typeface="Tahoma"/>
                <a:cs typeface="Tahoma"/>
              </a:rPr>
              <a:t>—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sensitise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 path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from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site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to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	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primary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output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75785" y="625755"/>
            <a:ext cx="490220" cy="367665"/>
          </a:xfrm>
          <a:prstGeom prst="rect">
            <a:avLst/>
          </a:prstGeom>
          <a:ln w="10122">
            <a:solidFill>
              <a:srgbClr val="2C396B"/>
            </a:solidFill>
          </a:ln>
        </p:spPr>
        <p:txBody>
          <a:bodyPr wrap="square" lIns="0" tIns="112395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885"/>
              </a:spcBef>
            </a:pPr>
            <a:r>
              <a:rPr dirty="0" sz="850" spc="-25">
                <a:solidFill>
                  <a:srgbClr val="2C396B"/>
                </a:solidFill>
                <a:latin typeface="Tahoma"/>
                <a:cs typeface="Tahoma"/>
              </a:rPr>
              <a:t>AND</a:t>
            </a:r>
            <a:endParaRPr sz="8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92184" y="717555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 h="0">
                <a:moveTo>
                  <a:pt x="0" y="0"/>
                </a:moveTo>
                <a:lnTo>
                  <a:pt x="183600" y="0"/>
                </a:lnTo>
              </a:path>
            </a:pathLst>
          </a:custGeom>
          <a:ln w="10122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841057" y="557158"/>
            <a:ext cx="8636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50" i="1">
                <a:solidFill>
                  <a:srgbClr val="22373A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92184" y="901160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 h="0">
                <a:moveTo>
                  <a:pt x="0" y="0"/>
                </a:moveTo>
                <a:lnTo>
                  <a:pt x="183600" y="0"/>
                </a:lnTo>
              </a:path>
            </a:pathLst>
          </a:custGeom>
          <a:ln w="10122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839292" y="894737"/>
            <a:ext cx="89535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50" i="1">
                <a:solidFill>
                  <a:srgbClr val="22373A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65396" y="809358"/>
            <a:ext cx="367665" cy="0"/>
          </a:xfrm>
          <a:custGeom>
            <a:avLst/>
            <a:gdLst/>
            <a:ahLst/>
            <a:cxnLst/>
            <a:rect l="l" t="t" r="r" b="b"/>
            <a:pathLst>
              <a:path w="367664" h="0">
                <a:moveTo>
                  <a:pt x="0" y="0"/>
                </a:moveTo>
                <a:lnTo>
                  <a:pt x="367206" y="0"/>
                </a:lnTo>
              </a:path>
            </a:pathLst>
          </a:custGeom>
          <a:ln w="10122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57896" y="725941"/>
            <a:ext cx="80645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50" i="1">
                <a:solidFill>
                  <a:srgbClr val="22373A"/>
                </a:solidFill>
                <a:latin typeface="Trebuchet MS"/>
                <a:cs typeface="Trebuchet MS"/>
              </a:rPr>
              <a:t>Z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18576" y="778937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60" h="60959">
                <a:moveTo>
                  <a:pt x="30421" y="0"/>
                </a:moveTo>
                <a:lnTo>
                  <a:pt x="18579" y="2390"/>
                </a:lnTo>
                <a:lnTo>
                  <a:pt x="8910" y="8910"/>
                </a:lnTo>
                <a:lnTo>
                  <a:pt x="2390" y="18579"/>
                </a:lnTo>
                <a:lnTo>
                  <a:pt x="0" y="30421"/>
                </a:lnTo>
                <a:lnTo>
                  <a:pt x="2390" y="42262"/>
                </a:lnTo>
                <a:lnTo>
                  <a:pt x="8910" y="51932"/>
                </a:lnTo>
                <a:lnTo>
                  <a:pt x="18579" y="58451"/>
                </a:lnTo>
                <a:lnTo>
                  <a:pt x="30421" y="60842"/>
                </a:lnTo>
                <a:lnTo>
                  <a:pt x="42262" y="58451"/>
                </a:lnTo>
                <a:lnTo>
                  <a:pt x="51932" y="51932"/>
                </a:lnTo>
                <a:lnTo>
                  <a:pt x="58451" y="42262"/>
                </a:lnTo>
                <a:lnTo>
                  <a:pt x="60842" y="30421"/>
                </a:lnTo>
                <a:lnTo>
                  <a:pt x="58451" y="18579"/>
                </a:lnTo>
                <a:lnTo>
                  <a:pt x="51932" y="8910"/>
                </a:lnTo>
                <a:lnTo>
                  <a:pt x="42262" y="2390"/>
                </a:lnTo>
                <a:lnTo>
                  <a:pt x="30421" y="0"/>
                </a:lnTo>
                <a:close/>
              </a:path>
            </a:pathLst>
          </a:custGeom>
          <a:solidFill>
            <a:srgbClr val="BF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573390" y="866231"/>
            <a:ext cx="151765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30">
                <a:solidFill>
                  <a:srgbClr val="C0392B"/>
                </a:solidFill>
                <a:latin typeface="Lucida Sans Unicode"/>
                <a:cs typeface="Lucida Sans Unicode"/>
              </a:rPr>
              <a:t>SA0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140"/>
              </a:spcBef>
            </a:pPr>
            <a:r>
              <a:rPr dirty="0" spc="-50"/>
              <a:t>2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869372" y="1121626"/>
            <a:ext cx="1045844" cy="4768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" marR="28575" indent="-20955">
              <a:lnSpc>
                <a:spcPct val="113399"/>
              </a:lnSpc>
              <a:spcBef>
                <a:spcPts val="100"/>
              </a:spcBef>
            </a:pP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Fault</a:t>
            </a:r>
            <a:r>
              <a:rPr dirty="0" sz="8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dirty="0" sz="8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output</a:t>
            </a:r>
            <a:r>
              <a:rPr dirty="0" sz="8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net</a:t>
            </a:r>
            <a:r>
              <a:rPr dirty="0" sz="8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 spc="-80" i="1">
                <a:solidFill>
                  <a:srgbClr val="22373A"/>
                </a:solidFill>
                <a:latin typeface="Trebuchet MS"/>
                <a:cs typeface="Trebuchet MS"/>
              </a:rPr>
              <a:t>Z</a:t>
            </a:r>
            <a:r>
              <a:rPr dirty="0" sz="800" spc="-8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 activate</a:t>
            </a:r>
            <a:r>
              <a:rPr dirty="0" sz="8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by</a:t>
            </a:r>
            <a:r>
              <a:rPr dirty="0" sz="8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 i="1">
                <a:solidFill>
                  <a:srgbClr val="22373A"/>
                </a:solidFill>
                <a:latin typeface="Trebuchet MS"/>
                <a:cs typeface="Trebuchet MS"/>
              </a:rPr>
              <a:t>A</a:t>
            </a:r>
            <a:r>
              <a:rPr dirty="0" sz="800">
                <a:solidFill>
                  <a:srgbClr val="22373A"/>
                </a:solidFill>
                <a:latin typeface="Calibri"/>
                <a:cs typeface="Calibri"/>
              </a:rPr>
              <a:t>=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1,</a:t>
            </a:r>
            <a:r>
              <a:rPr dirty="0" sz="8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 spc="30" i="1">
                <a:solidFill>
                  <a:srgbClr val="22373A"/>
                </a:solidFill>
                <a:latin typeface="Trebuchet MS"/>
                <a:cs typeface="Trebuchet MS"/>
              </a:rPr>
              <a:t>B</a:t>
            </a:r>
            <a:r>
              <a:rPr dirty="0" sz="800" spc="30">
                <a:solidFill>
                  <a:srgbClr val="22373A"/>
                </a:solidFill>
                <a:latin typeface="Calibri"/>
                <a:cs typeface="Calibri"/>
              </a:rPr>
              <a:t>=</a:t>
            </a:r>
            <a:r>
              <a:rPr dirty="0" sz="800" spc="30">
                <a:solidFill>
                  <a:srgbClr val="22373A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800" spc="-10">
                <a:solidFill>
                  <a:srgbClr val="22373A"/>
                </a:solidFill>
                <a:latin typeface="Tahoma"/>
                <a:cs typeface="Tahoma"/>
              </a:rPr>
              <a:t>(good </a:t>
            </a:r>
            <a:r>
              <a:rPr dirty="0" sz="800" i="1">
                <a:solidFill>
                  <a:srgbClr val="22373A"/>
                </a:solidFill>
                <a:latin typeface="Trebuchet MS"/>
                <a:cs typeface="Trebuchet MS"/>
              </a:rPr>
              <a:t>Z</a:t>
            </a:r>
            <a:r>
              <a:rPr dirty="0" sz="800">
                <a:solidFill>
                  <a:srgbClr val="22373A"/>
                </a:solidFill>
                <a:latin typeface="Calibri"/>
                <a:cs typeface="Calibri"/>
              </a:rPr>
              <a:t>=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1,</a:t>
            </a:r>
            <a:r>
              <a:rPr dirty="0" sz="8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faulty</a:t>
            </a:r>
            <a:r>
              <a:rPr dirty="0" sz="8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 spc="-20" i="1">
                <a:solidFill>
                  <a:srgbClr val="22373A"/>
                </a:solidFill>
                <a:latin typeface="Trebuchet MS"/>
                <a:cs typeface="Trebuchet MS"/>
              </a:rPr>
              <a:t>Z</a:t>
            </a:r>
            <a:r>
              <a:rPr dirty="0" sz="800" spc="-20">
                <a:solidFill>
                  <a:srgbClr val="22373A"/>
                </a:solidFill>
                <a:latin typeface="Calibri"/>
                <a:cs typeface="Calibri"/>
              </a:rPr>
              <a:t>=</a:t>
            </a:r>
            <a:r>
              <a:rPr dirty="0" sz="800" spc="-20">
                <a:solidFill>
                  <a:srgbClr val="22373A"/>
                </a:solidFill>
                <a:latin typeface="Tahoma"/>
                <a:cs typeface="Tahoma"/>
              </a:rPr>
              <a:t>0)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80"/>
              <a:t>The</a:t>
            </a:r>
            <a:r>
              <a:rPr dirty="0" spc="-40"/>
              <a:t> </a:t>
            </a:r>
            <a:r>
              <a:rPr dirty="0" spc="-45"/>
              <a:t>Exponential</a:t>
            </a:r>
            <a:r>
              <a:rPr dirty="0" spc="-35"/>
              <a:t> Problem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140"/>
              </a:spcBef>
            </a:pPr>
            <a:r>
              <a:rPr dirty="0" spc="-5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565943"/>
            <a:ext cx="2758440" cy="1786889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75"/>
              </a:spcBef>
            </a:pP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Why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simple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searching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fails</a:t>
            </a:r>
            <a:endParaRPr sz="1000">
              <a:latin typeface="Lucida Sans Unicode"/>
              <a:cs typeface="Lucida Sans Unicode"/>
            </a:endParaRPr>
          </a:p>
          <a:p>
            <a:pPr marL="189865" marR="24765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89865" algn="l"/>
              </a:tabLst>
            </a:pP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N</a:t>
            </a:r>
            <a:r>
              <a:rPr dirty="0" baseline="-11904" sz="1050" i="1">
                <a:solidFill>
                  <a:srgbClr val="22373A"/>
                </a:solidFill>
                <a:latin typeface="Trebuchet MS"/>
                <a:cs typeface="Trebuchet MS"/>
              </a:rPr>
              <a:t>PI</a:t>
            </a:r>
            <a:r>
              <a:rPr dirty="0" baseline="-11904" sz="1050" spc="209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inputs,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there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are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2</a:t>
            </a:r>
            <a:r>
              <a:rPr dirty="0" baseline="27777" sz="1050" i="1">
                <a:solidFill>
                  <a:srgbClr val="22373A"/>
                </a:solidFill>
                <a:latin typeface="Trebuchet MS"/>
                <a:cs typeface="Trebuchet MS"/>
              </a:rPr>
              <a:t>N</a:t>
            </a:r>
            <a:r>
              <a:rPr dirty="0" baseline="27777" sz="750" i="1">
                <a:solidFill>
                  <a:srgbClr val="22373A"/>
                </a:solidFill>
                <a:latin typeface="Trebuchet MS"/>
                <a:cs typeface="Trebuchet MS"/>
              </a:rPr>
              <a:t>PI</a:t>
            </a:r>
            <a:r>
              <a:rPr dirty="0" baseline="27777" sz="750" spc="375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possible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test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patterns</a:t>
            </a:r>
            <a:endParaRPr sz="1000">
              <a:latin typeface="Tahoma"/>
              <a:cs typeface="Tahoma"/>
            </a:endParaRPr>
          </a:p>
          <a:p>
            <a:pPr marL="189865" marR="178435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89865" algn="l"/>
              </a:tabLst>
            </a:pP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ISCAS-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85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 i="1">
                <a:solidFill>
                  <a:srgbClr val="22373A"/>
                </a:solidFill>
                <a:latin typeface="Courier New"/>
                <a:cs typeface="Courier New"/>
              </a:rPr>
              <a:t>c1908</a:t>
            </a:r>
            <a:r>
              <a:rPr dirty="0" sz="1000" spc="-295" i="1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has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70">
                <a:solidFill>
                  <a:srgbClr val="22373A"/>
                </a:solidFill>
                <a:latin typeface="Tahoma"/>
                <a:cs typeface="Tahoma"/>
              </a:rPr>
              <a:t>33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PIs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⇒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Total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search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space</a:t>
            </a:r>
            <a:r>
              <a:rPr dirty="0" sz="1000" spc="-8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dirty="0" sz="1000" spc="-8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2</a:t>
            </a:r>
            <a:r>
              <a:rPr dirty="0" baseline="27777" sz="1050" spc="-44">
                <a:solidFill>
                  <a:srgbClr val="22373A"/>
                </a:solidFill>
                <a:latin typeface="Tahoma"/>
                <a:cs typeface="Tahoma"/>
              </a:rPr>
              <a:t>33</a:t>
            </a:r>
            <a:r>
              <a:rPr dirty="0" baseline="27777" sz="1050" spc="112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Lucida Sans Unicode"/>
                <a:cs typeface="Lucida Sans Unicode"/>
              </a:rPr>
              <a:t>≈</a:t>
            </a:r>
            <a:r>
              <a:rPr dirty="0" sz="1000" spc="-6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8</a:t>
            </a:r>
            <a:r>
              <a:rPr dirty="0" sz="1000" spc="-10" i="1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6</a:t>
            </a:r>
            <a:r>
              <a:rPr dirty="0" sz="1000" spc="-9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×</a:t>
            </a:r>
            <a:r>
              <a:rPr dirty="0" sz="1000" spc="-9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10</a:t>
            </a:r>
            <a:r>
              <a:rPr dirty="0" baseline="27777" sz="1050" spc="-37">
                <a:solidFill>
                  <a:srgbClr val="22373A"/>
                </a:solidFill>
                <a:latin typeface="Tahoma"/>
                <a:cs typeface="Tahoma"/>
              </a:rPr>
              <a:t>9</a:t>
            </a:r>
            <a:r>
              <a:rPr dirty="0" baseline="27777" sz="1050" spc="112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patterns</a:t>
            </a:r>
            <a:endParaRPr sz="1000">
              <a:latin typeface="Tahoma"/>
              <a:cs typeface="Tahoma"/>
            </a:endParaRPr>
          </a:p>
          <a:p>
            <a:pPr marL="189865" marR="7493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898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Modern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chips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have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N</a:t>
            </a:r>
            <a:r>
              <a:rPr dirty="0" baseline="-11904" sz="1050" i="1">
                <a:solidFill>
                  <a:srgbClr val="22373A"/>
                </a:solidFill>
                <a:latin typeface="Trebuchet MS"/>
                <a:cs typeface="Trebuchet MS"/>
              </a:rPr>
              <a:t>PI</a:t>
            </a:r>
            <a:r>
              <a:rPr dirty="0" baseline="-11904" sz="1050" spc="172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 spc="270" i="1">
                <a:solidFill>
                  <a:srgbClr val="22373A"/>
                </a:solidFill>
                <a:latin typeface="Calibri"/>
                <a:cs typeface="Calibri"/>
              </a:rPr>
              <a:t>&gt;</a:t>
            </a:r>
            <a:r>
              <a:rPr dirty="0" sz="1000" spc="55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10</a:t>
            </a:r>
            <a:r>
              <a:rPr dirty="0" baseline="27777" sz="1050" spc="-37">
                <a:solidFill>
                  <a:srgbClr val="22373A"/>
                </a:solidFill>
                <a:latin typeface="Tahoma"/>
                <a:cs typeface="Tahoma"/>
              </a:rPr>
              <a:t>4</a:t>
            </a:r>
            <a:r>
              <a:rPr dirty="0" baseline="27777" sz="1050" spc="1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(more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patterns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than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atoms in the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universe)</a:t>
            </a:r>
            <a:endParaRPr sz="1000">
              <a:latin typeface="Tahoma"/>
              <a:cs typeface="Tahoma"/>
            </a:endParaRPr>
          </a:p>
          <a:p>
            <a:pPr marL="189865" marR="3048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89865" algn="l"/>
              </a:tabLst>
            </a:pP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Testing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every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across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thousands of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gates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becomes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impossible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0503" y="565943"/>
            <a:ext cx="2082800" cy="209804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Traditional</a:t>
            </a:r>
            <a:r>
              <a:rPr dirty="0" sz="1000" spc="-1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90">
                <a:solidFill>
                  <a:srgbClr val="22373A"/>
                </a:solidFill>
                <a:latin typeface="Lucida Sans Unicode"/>
                <a:cs typeface="Lucida Sans Unicode"/>
              </a:rPr>
              <a:t>ATPG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 Solutions</a:t>
            </a:r>
            <a:endParaRPr sz="1000">
              <a:latin typeface="Lucida Sans Unicode"/>
              <a:cs typeface="Lucida Sans Unicode"/>
            </a:endParaRPr>
          </a:p>
          <a:p>
            <a:pPr marL="164465" marR="205104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Use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smart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search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trees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find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patterns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instead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guessing randomly</a:t>
            </a:r>
            <a:endParaRPr sz="1000">
              <a:latin typeface="Tahoma"/>
              <a:cs typeface="Tahoma"/>
            </a:endParaRPr>
          </a:p>
          <a:p>
            <a:pPr marL="164465" marR="508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Evolution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tools:</a:t>
            </a:r>
            <a:r>
              <a:rPr dirty="0" sz="1000" spc="10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D-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Algorithm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5">
                <a:solidFill>
                  <a:srgbClr val="22373A"/>
                </a:solidFill>
                <a:latin typeface="Lucida Sans Unicode"/>
                <a:cs typeface="Lucida Sans Unicode"/>
              </a:rPr>
              <a:t>→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PODEM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FAN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(each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faster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than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last)</a:t>
            </a:r>
            <a:endParaRPr sz="1000">
              <a:latin typeface="Tahoma"/>
              <a:cs typeface="Tahoma"/>
            </a:endParaRPr>
          </a:p>
          <a:p>
            <a:pPr marL="163830" indent="-99060">
              <a:lnSpc>
                <a:spcPct val="100000"/>
              </a:lnSpc>
              <a:spcBef>
                <a:spcPts val="475"/>
              </a:spcBef>
              <a:buClr>
                <a:srgbClr val="2C396B"/>
              </a:buClr>
              <a:buFont typeface="Tahoma"/>
              <a:buChar char="•"/>
              <a:tabLst>
                <a:tab pos="163830" algn="l"/>
              </a:tabLst>
            </a:pPr>
            <a:r>
              <a:rPr dirty="0" sz="1000" spc="-75">
                <a:solidFill>
                  <a:srgbClr val="22373A"/>
                </a:solidFill>
                <a:latin typeface="Lucida Sans Unicode"/>
                <a:cs typeface="Lucida Sans Unicode"/>
              </a:rPr>
              <a:t>The</a:t>
            </a: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Limit:</a:t>
            </a:r>
            <a:r>
              <a:rPr dirty="0" sz="1000" spc="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They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are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all</a:t>
            </a:r>
            <a:endParaRPr sz="1000">
              <a:latin typeface="Tahoma"/>
              <a:cs typeface="Tahoma"/>
            </a:endParaRPr>
          </a:p>
          <a:p>
            <a:pPr marL="164465" marR="155575">
              <a:lnSpc>
                <a:spcPct val="114599"/>
              </a:lnSpc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”brute-force”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at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heart;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they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still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slow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down</a:t>
            </a:r>
            <a:r>
              <a:rPr dirty="0" sz="1000" spc="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exponentially</a:t>
            </a:r>
            <a:r>
              <a:rPr dirty="0" sz="1000" spc="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on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complex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chips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63700"/>
            <a:ext cx="176085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90"/>
              <a:t>D-</a:t>
            </a:r>
            <a:r>
              <a:rPr dirty="0" spc="-70"/>
              <a:t>Algorithm</a:t>
            </a:r>
            <a:r>
              <a:rPr dirty="0" spc="-40"/>
              <a:t> </a:t>
            </a:r>
            <a:r>
              <a:rPr dirty="0" spc="-265"/>
              <a:t>—</a:t>
            </a:r>
            <a:r>
              <a:rPr dirty="0" spc="-40"/>
              <a:t> </a:t>
            </a:r>
            <a:r>
              <a:rPr dirty="0" spc="-55"/>
              <a:t>Roth,</a:t>
            </a:r>
            <a:r>
              <a:rPr dirty="0" spc="-40"/>
              <a:t> </a:t>
            </a:r>
            <a:r>
              <a:rPr dirty="0" spc="-130"/>
              <a:t>1966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61499"/>
            <a:ext cx="2167890" cy="549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Roth’s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D-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Algebra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represents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65">
                <a:solidFill>
                  <a:srgbClr val="22373A"/>
                </a:solidFill>
                <a:latin typeface="Lucida Sans Unicode"/>
                <a:cs typeface="Lucida Sans Unicode"/>
              </a:rPr>
              <a:t>good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and 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faulty</a:t>
            </a:r>
            <a:r>
              <a:rPr dirty="0" sz="100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machine values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 i="1">
                <a:solidFill>
                  <a:srgbClr val="22373A"/>
                </a:solidFill>
                <a:latin typeface="Trebuchet MS"/>
                <a:cs typeface="Trebuchet MS"/>
              </a:rPr>
              <a:t>simultaneously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every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net.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1037704"/>
          <a:ext cx="2344420" cy="1144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685"/>
                <a:gridCol w="1994535"/>
              </a:tblGrid>
              <a:tr h="189865">
                <a:tc gridSpan="2"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7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The</a:t>
                      </a:r>
                      <a:r>
                        <a:rPr dirty="0" sz="1000" spc="-4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3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five</a:t>
                      </a:r>
                      <a:r>
                        <a:rPr dirty="0" sz="1000" spc="-4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values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6375"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3746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good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8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5">
                          <a:latin typeface="Tahoma"/>
                          <a:cs typeface="Tahoma"/>
                        </a:rPr>
                        <a:t>0,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faulty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8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37465">
                    <a:solidFill>
                      <a:srgbClr val="F4F6F9"/>
                    </a:solidFill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good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8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5">
                          <a:latin typeface="Tahoma"/>
                          <a:cs typeface="Tahoma"/>
                        </a:rPr>
                        <a:t>1,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faulty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8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solidFill>
                      <a:srgbClr val="F4F6F9"/>
                    </a:solidFill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 spc="-50" i="1">
                          <a:latin typeface="Trebuchet MS"/>
                          <a:cs typeface="Trebuchet MS"/>
                        </a:rPr>
                        <a:t>D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508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good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8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5">
                          <a:latin typeface="Tahoma"/>
                          <a:cs typeface="Tahoma"/>
                        </a:rPr>
                        <a:t>1,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faulty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8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solidFill>
                      <a:srgbClr val="F4F6F9"/>
                    </a:solidFill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 spc="-50" i="1">
                          <a:latin typeface="Trebuchet MS"/>
                          <a:cs typeface="Trebuchet MS"/>
                        </a:rPr>
                        <a:t>D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508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good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8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5">
                          <a:latin typeface="Tahoma"/>
                          <a:cs typeface="Tahoma"/>
                        </a:rPr>
                        <a:t>0,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faulty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8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solidFill>
                      <a:srgbClr val="F4F6F9"/>
                    </a:solidFill>
                  </a:tcPr>
                </a:tc>
              </a:tr>
              <a:tr h="226695"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 spc="-50" i="1">
                          <a:latin typeface="Trebuchet MS"/>
                          <a:cs typeface="Trebuchet MS"/>
                        </a:rPr>
                        <a:t>X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508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unknown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25"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don’t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care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78053" y="1811540"/>
            <a:ext cx="80010" cy="0"/>
          </a:xfrm>
          <a:custGeom>
            <a:avLst/>
            <a:gdLst/>
            <a:ahLst/>
            <a:cxnLst/>
            <a:rect l="l" t="t" r="r" b="b"/>
            <a:pathLst>
              <a:path w="80009" h="0">
                <a:moveTo>
                  <a:pt x="0" y="0"/>
                </a:moveTo>
                <a:lnTo>
                  <a:pt x="79705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864142" y="327348"/>
            <a:ext cx="2544445" cy="254381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75"/>
              </a:spcBef>
            </a:pP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Derivation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flow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for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any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PDCF</a:t>
            </a:r>
            <a:endParaRPr sz="1000">
              <a:latin typeface="Lucida Sans Unicode"/>
              <a:cs typeface="Lucida Sans Unicode"/>
            </a:endParaRPr>
          </a:p>
          <a:p>
            <a:pPr marL="166370" marR="87630" indent="-140970">
              <a:lnSpc>
                <a:spcPct val="114599"/>
              </a:lnSpc>
              <a:spcBef>
                <a:spcPts val="295"/>
              </a:spcBef>
              <a:buFont typeface="Tahoma"/>
              <a:buAutoNum type="arabicPeriod"/>
              <a:tabLst>
                <a:tab pos="167640" algn="l"/>
              </a:tabLst>
            </a:pP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Goal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45">
                <a:solidFill>
                  <a:srgbClr val="22373A"/>
                </a:solidFill>
                <a:latin typeface="Tahoma"/>
                <a:cs typeface="Tahoma"/>
              </a:rPr>
              <a:t>—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determine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discrepancy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	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required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at the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gate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output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given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	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fault</a:t>
            </a:r>
            <a:endParaRPr sz="1000">
              <a:latin typeface="Tahoma"/>
              <a:cs typeface="Tahoma"/>
            </a:endParaRPr>
          </a:p>
          <a:p>
            <a:pPr marL="166370" marR="411480" indent="-149225">
              <a:lnSpc>
                <a:spcPct val="114599"/>
              </a:lnSpc>
              <a:spcBef>
                <a:spcPts val="300"/>
              </a:spcBef>
              <a:buFont typeface="Tahoma"/>
              <a:buAutoNum type="arabicPeriod"/>
              <a:tabLst>
                <a:tab pos="167640" algn="l"/>
              </a:tabLst>
            </a:pP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Singular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60">
                <a:solidFill>
                  <a:srgbClr val="22373A"/>
                </a:solidFill>
                <a:latin typeface="Lucida Sans Unicode"/>
                <a:cs typeface="Lucida Sans Unicode"/>
              </a:rPr>
              <a:t>Cover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row</a:t>
            </a:r>
            <a:r>
              <a:rPr dirty="0" sz="1000" spc="-1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45">
                <a:solidFill>
                  <a:srgbClr val="22373A"/>
                </a:solidFill>
                <a:latin typeface="Tahoma"/>
                <a:cs typeface="Tahoma"/>
              </a:rPr>
              <a:t>—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pick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	gate-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truth-table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row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whose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output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	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matches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goal</a:t>
            </a:r>
            <a:endParaRPr sz="1000">
              <a:latin typeface="Tahoma"/>
              <a:cs typeface="Tahoma"/>
            </a:endParaRPr>
          </a:p>
          <a:p>
            <a:pPr marL="167640" marR="5080" indent="-151130">
              <a:lnSpc>
                <a:spcPct val="114599"/>
              </a:lnSpc>
              <a:spcBef>
                <a:spcPts val="300"/>
              </a:spcBef>
              <a:buFont typeface="Tahoma"/>
              <a:buAutoNum type="arabicPeriod"/>
              <a:tabLst>
                <a:tab pos="167640" algn="l"/>
              </a:tabLst>
            </a:pP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Good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vs.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Faulty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Evaluation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45">
                <a:solidFill>
                  <a:srgbClr val="22373A"/>
                </a:solidFill>
                <a:latin typeface="Tahoma"/>
                <a:cs typeface="Tahoma"/>
              </a:rPr>
              <a:t>—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evaluate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the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same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input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under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fault-free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and</a:t>
            </a:r>
            <a:r>
              <a:rPr dirty="0" sz="1000" spc="30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faulty machines</a:t>
            </a:r>
            <a:endParaRPr sz="1000">
              <a:latin typeface="Tahoma"/>
              <a:cs typeface="Tahoma"/>
            </a:endParaRPr>
          </a:p>
          <a:p>
            <a:pPr marL="166370" marR="121285" indent="-154305">
              <a:lnSpc>
                <a:spcPct val="114599"/>
              </a:lnSpc>
              <a:spcBef>
                <a:spcPts val="295"/>
              </a:spcBef>
              <a:buFont typeface="Tahoma"/>
              <a:buAutoNum type="arabicPeriod"/>
              <a:tabLst>
                <a:tab pos="167640" algn="l"/>
              </a:tabLst>
            </a:pP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Final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Vector</a:t>
            </a:r>
            <a:r>
              <a:rPr dirty="0" sz="1000" spc="-1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45">
                <a:solidFill>
                  <a:srgbClr val="22373A"/>
                </a:solidFill>
                <a:latin typeface="Tahoma"/>
                <a:cs typeface="Tahoma"/>
              </a:rPr>
              <a:t>—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encode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(good,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faulty)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	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pair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as a single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D-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algebra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symbol</a:t>
            </a:r>
            <a:endParaRPr sz="10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  <a:spcBef>
                <a:spcPts val="875"/>
              </a:spcBef>
            </a:pPr>
            <a:r>
              <a:rPr dirty="0" sz="800" spc="-125">
                <a:solidFill>
                  <a:srgbClr val="22373A"/>
                </a:solidFill>
                <a:latin typeface="Lucida Sans Unicode"/>
                <a:cs typeface="Lucida Sans Unicode"/>
              </a:rPr>
              <a:t>D-</a:t>
            </a:r>
            <a:r>
              <a:rPr dirty="0" sz="800" spc="-30">
                <a:solidFill>
                  <a:srgbClr val="22373A"/>
                </a:solidFill>
                <a:latin typeface="Lucida Sans Unicode"/>
                <a:cs typeface="Lucida Sans Unicode"/>
              </a:rPr>
              <a:t>Frontier:</a:t>
            </a:r>
            <a:r>
              <a:rPr dirty="0" sz="800" spc="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2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8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set</a:t>
            </a:r>
            <a:r>
              <a:rPr dirty="0" sz="8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dirty="0" sz="8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Tahoma"/>
                <a:cs typeface="Tahoma"/>
              </a:rPr>
              <a:t>gates</a:t>
            </a:r>
            <a:r>
              <a:rPr dirty="0" sz="8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whose</a:t>
            </a:r>
            <a:r>
              <a:rPr dirty="0" sz="8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inputs</a:t>
            </a:r>
            <a:r>
              <a:rPr dirty="0" sz="8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carry</a:t>
            </a:r>
            <a:r>
              <a:rPr dirty="0" sz="8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8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Tahoma"/>
                <a:cs typeface="Tahoma"/>
              </a:rPr>
              <a:t>fault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41904" y="2845206"/>
            <a:ext cx="2596515" cy="374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43200"/>
              </a:lnSpc>
              <a:spcBef>
                <a:spcPts val="100"/>
              </a:spcBef>
            </a:pPr>
            <a:r>
              <a:rPr dirty="0" sz="800" spc="-20">
                <a:solidFill>
                  <a:srgbClr val="22373A"/>
                </a:solidFill>
                <a:latin typeface="Tahoma"/>
                <a:cs typeface="Tahoma"/>
              </a:rPr>
              <a:t>(</a:t>
            </a:r>
            <a:r>
              <a:rPr dirty="0" sz="800" spc="-20" i="1">
                <a:solidFill>
                  <a:srgbClr val="22373A"/>
                </a:solidFill>
                <a:latin typeface="Trebuchet MS"/>
                <a:cs typeface="Trebuchet MS"/>
              </a:rPr>
              <a:t>D</a:t>
            </a:r>
            <a:r>
              <a:rPr dirty="0" sz="800" spc="-10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or</a:t>
            </a:r>
            <a:r>
              <a:rPr dirty="0" sz="8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 spc="-130" i="1">
                <a:solidFill>
                  <a:srgbClr val="22373A"/>
                </a:solidFill>
                <a:latin typeface="Trebuchet MS"/>
                <a:cs typeface="Trebuchet MS"/>
              </a:rPr>
              <a:t>D</a:t>
            </a:r>
            <a:r>
              <a:rPr dirty="0" baseline="13888" sz="1200" spc="-195">
                <a:solidFill>
                  <a:srgbClr val="22373A"/>
                </a:solidFill>
                <a:latin typeface="Calibri"/>
                <a:cs typeface="Calibri"/>
              </a:rPr>
              <a:t>¯</a:t>
            </a:r>
            <a:r>
              <a:rPr dirty="0" sz="800" spc="-130">
                <a:solidFill>
                  <a:srgbClr val="22373A"/>
                </a:solidFill>
                <a:latin typeface="Tahoma"/>
                <a:cs typeface="Tahoma"/>
              </a:rPr>
              <a:t>)</a:t>
            </a:r>
            <a:r>
              <a:rPr dirty="0" sz="8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but</a:t>
            </a:r>
            <a:r>
              <a:rPr dirty="0" sz="8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whose</a:t>
            </a:r>
            <a:r>
              <a:rPr dirty="0" sz="8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outputs</a:t>
            </a:r>
            <a:r>
              <a:rPr dirty="0" sz="8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are</a:t>
            </a:r>
            <a:r>
              <a:rPr dirty="0" sz="8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currently</a:t>
            </a:r>
            <a:r>
              <a:rPr dirty="0" sz="8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unassigned</a:t>
            </a:r>
            <a:r>
              <a:rPr dirty="0" sz="8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 spc="-45">
                <a:solidFill>
                  <a:srgbClr val="22373A"/>
                </a:solidFill>
                <a:latin typeface="Tahoma"/>
                <a:cs typeface="Tahoma"/>
              </a:rPr>
              <a:t>(</a:t>
            </a:r>
            <a:r>
              <a:rPr dirty="0" sz="800" spc="-45" i="1">
                <a:solidFill>
                  <a:srgbClr val="22373A"/>
                </a:solidFill>
                <a:latin typeface="Trebuchet MS"/>
                <a:cs typeface="Trebuchet MS"/>
              </a:rPr>
              <a:t>X</a:t>
            </a:r>
            <a:r>
              <a:rPr dirty="0" sz="800" spc="-45">
                <a:solidFill>
                  <a:srgbClr val="22373A"/>
                </a:solidFill>
                <a:latin typeface="Tahoma"/>
                <a:cs typeface="Tahoma"/>
              </a:rPr>
              <a:t>). </a:t>
            </a:r>
            <a:r>
              <a:rPr dirty="0" sz="800" spc="-35">
                <a:solidFill>
                  <a:srgbClr val="22373A"/>
                </a:solidFill>
                <a:latin typeface="Tahoma"/>
                <a:cs typeface="Tahoma"/>
              </a:rPr>
              <a:t>It</a:t>
            </a:r>
            <a:r>
              <a:rPr dirty="0" sz="8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defines</a:t>
            </a:r>
            <a:r>
              <a:rPr dirty="0" sz="8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8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potential</a:t>
            </a:r>
            <a:r>
              <a:rPr dirty="0" sz="8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paths</a:t>
            </a:r>
            <a:r>
              <a:rPr dirty="0" sz="8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dirty="0" sz="8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fault</a:t>
            </a:r>
            <a:r>
              <a:rPr dirty="0" sz="8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Tahoma"/>
                <a:cs typeface="Tahoma"/>
              </a:rPr>
              <a:t>propagation.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2160" y="2999793"/>
            <a:ext cx="717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22373A"/>
                </a:solidFill>
                <a:latin typeface="Tahoma"/>
                <a:cs typeface="Tahoma"/>
              </a:rPr>
              <a:t>4</a:t>
            </a:r>
            <a:endParaRPr sz="7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85"/>
              <a:t>PDCF</a:t>
            </a:r>
            <a:r>
              <a:rPr dirty="0" spc="-55"/>
              <a:t> </a:t>
            </a:r>
            <a:r>
              <a:rPr dirty="0" spc="-45"/>
              <a:t>Derivation</a:t>
            </a:r>
            <a:r>
              <a:rPr dirty="0" spc="-50"/>
              <a:t> </a:t>
            </a:r>
            <a:r>
              <a:rPr dirty="0" spc="-265"/>
              <a:t>—</a:t>
            </a:r>
            <a:r>
              <a:rPr dirty="0" spc="-50"/>
              <a:t> </a:t>
            </a:r>
            <a:r>
              <a:rPr dirty="0" spc="-150"/>
              <a:t>2-</a:t>
            </a:r>
            <a:r>
              <a:rPr dirty="0" spc="-70"/>
              <a:t>Input</a:t>
            </a:r>
            <a:r>
              <a:rPr dirty="0" spc="-50"/>
              <a:t> </a:t>
            </a:r>
            <a:r>
              <a:rPr dirty="0" spc="-130"/>
              <a:t>AND</a:t>
            </a:r>
            <a:r>
              <a:rPr dirty="0" spc="-55"/>
              <a:t> </a:t>
            </a:r>
            <a:r>
              <a:rPr dirty="0" spc="-60"/>
              <a:t>Gate,</a:t>
            </a:r>
            <a:r>
              <a:rPr dirty="0" spc="-50"/>
              <a:t> </a:t>
            </a:r>
            <a:r>
              <a:rPr dirty="0" spc="-55"/>
              <a:t>Output</a:t>
            </a:r>
            <a:r>
              <a:rPr dirty="0" spc="-50"/>
              <a:t> </a:t>
            </a:r>
            <a:r>
              <a:rPr dirty="0" spc="-25"/>
              <a:t>SA0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96043"/>
            <a:ext cx="5010150" cy="872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Primitive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45">
                <a:solidFill>
                  <a:srgbClr val="22373A"/>
                </a:solidFill>
                <a:latin typeface="Lucida Sans Unicode"/>
                <a:cs typeface="Lucida Sans Unicode"/>
              </a:rPr>
              <a:t>D-</a:t>
            </a:r>
            <a:r>
              <a:rPr dirty="0" sz="1000" spc="-75">
                <a:solidFill>
                  <a:srgbClr val="22373A"/>
                </a:solidFill>
                <a:latin typeface="Lucida Sans Unicode"/>
                <a:cs typeface="Lucida Sans Unicode"/>
              </a:rPr>
              <a:t>Cube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of</a:t>
            </a:r>
            <a:r>
              <a:rPr dirty="0" sz="1000" spc="-1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Failure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(PDCF):</a:t>
            </a:r>
            <a:r>
              <a:rPr dirty="0" sz="100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minimal input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assignment that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produces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D</a:t>
            </a:r>
            <a:r>
              <a:rPr dirty="0" sz="1000" spc="15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at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the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gate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output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given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fault.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Step-</a:t>
            </a:r>
            <a:r>
              <a:rPr dirty="0" sz="1000" spc="-80">
                <a:solidFill>
                  <a:srgbClr val="22373A"/>
                </a:solidFill>
                <a:latin typeface="Lucida Sans Unicode"/>
                <a:cs typeface="Lucida Sans Unicode"/>
              </a:rPr>
              <a:t>by-</a:t>
            </a:r>
            <a:r>
              <a:rPr dirty="0" sz="1000" spc="-60">
                <a:solidFill>
                  <a:srgbClr val="22373A"/>
                </a:solidFill>
                <a:latin typeface="Lucida Sans Unicode"/>
                <a:cs typeface="Lucida Sans Unicode"/>
              </a:rPr>
              <a:t>step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 derivation:</a:t>
            </a:r>
            <a:endParaRPr sz="1000">
              <a:latin typeface="Lucida Sans Unicode"/>
              <a:cs typeface="Lucida Sans Unicode"/>
            </a:endParaRPr>
          </a:p>
          <a:p>
            <a:pPr marL="22225">
              <a:lnSpc>
                <a:spcPct val="100000"/>
              </a:lnSpc>
              <a:spcBef>
                <a:spcPts val="850"/>
              </a:spcBef>
            </a:pP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1.</a:t>
            </a:r>
            <a:r>
              <a:rPr dirty="0" sz="1000" spc="18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Goal.</a:t>
            </a:r>
            <a:r>
              <a:rPr dirty="0" sz="1000" spc="6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Force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good</a:t>
            </a:r>
            <a:r>
              <a:rPr dirty="0" sz="1000" spc="-25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machine</a:t>
            </a:r>
            <a:r>
              <a:rPr dirty="0" sz="1000" spc="-20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output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50">
                <a:solidFill>
                  <a:srgbClr val="22373A"/>
                </a:solidFill>
                <a:latin typeface="Tahoma"/>
                <a:cs typeface="Tahoma"/>
              </a:rPr>
              <a:t>1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so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that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SA0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produces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discrepancy: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23756" y="1382476"/>
            <a:ext cx="608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8333" sz="1500" i="1">
                <a:solidFill>
                  <a:srgbClr val="22373A"/>
                </a:solidFill>
                <a:latin typeface="Trebuchet MS"/>
                <a:cs typeface="Trebuchet MS"/>
              </a:rPr>
              <a:t>Z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faulty</a:t>
            </a:r>
            <a:r>
              <a:rPr dirty="0" sz="700" spc="1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baseline="8333" sz="1500">
                <a:solidFill>
                  <a:srgbClr val="22373A"/>
                </a:solidFill>
                <a:latin typeface="Tahoma"/>
                <a:cs typeface="Tahoma"/>
              </a:rPr>
              <a:t>=</a:t>
            </a:r>
            <a:r>
              <a:rPr dirty="0" baseline="8333" sz="1500" spc="-37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baseline="8333" sz="1500" spc="-75">
                <a:solidFill>
                  <a:srgbClr val="22373A"/>
                </a:solidFill>
                <a:latin typeface="Tahoma"/>
                <a:cs typeface="Tahoma"/>
              </a:rPr>
              <a:t>0</a:t>
            </a:r>
            <a:endParaRPr baseline="8333" sz="15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38870" y="1360251"/>
            <a:ext cx="202183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360170" algn="l"/>
              </a:tabLst>
            </a:pP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Z</a:t>
            </a:r>
            <a:r>
              <a:rPr dirty="0" baseline="-15873" sz="1050">
                <a:solidFill>
                  <a:srgbClr val="22373A"/>
                </a:solidFill>
                <a:latin typeface="Tahoma"/>
                <a:cs typeface="Tahoma"/>
              </a:rPr>
              <a:t>good</a:t>
            </a:r>
            <a:r>
              <a:rPr dirty="0" baseline="-15873" sz="1050" spc="1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=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1</a:t>
            </a:r>
            <a:r>
              <a:rPr dirty="0" sz="1000" spc="-25" i="1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dirty="0" sz="1000" i="1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=</a:t>
            </a:r>
            <a:r>
              <a:rPr dirty="0" sz="1000">
                <a:solidFill>
                  <a:srgbClr val="22373A"/>
                </a:solidFill>
                <a:latin typeface="Lucida Sans Unicode"/>
                <a:cs typeface="Lucida Sans Unicode"/>
              </a:rPr>
              <a:t>⇒</a:t>
            </a:r>
            <a:r>
              <a:rPr dirty="0" sz="1000" spc="459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Z</a:t>
            </a:r>
            <a:r>
              <a:rPr dirty="0" sz="1000" spc="-40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=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 i="1">
                <a:solidFill>
                  <a:srgbClr val="22373A"/>
                </a:solidFill>
                <a:latin typeface="Trebuchet MS"/>
                <a:cs typeface="Trebuchet MS"/>
              </a:rPr>
              <a:t>D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731" y="1587824"/>
            <a:ext cx="4495165" cy="60579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91770" indent="-149225">
              <a:lnSpc>
                <a:spcPct val="100000"/>
              </a:lnSpc>
              <a:spcBef>
                <a:spcPts val="420"/>
              </a:spcBef>
              <a:buFont typeface="Tahoma"/>
              <a:buAutoNum type="arabicPeriod" startAt="2"/>
              <a:tabLst>
                <a:tab pos="191770" algn="l"/>
              </a:tabLst>
            </a:pP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Singular </a:t>
            </a:r>
            <a:r>
              <a:rPr dirty="0" sz="1000" spc="-60">
                <a:solidFill>
                  <a:srgbClr val="22373A"/>
                </a:solidFill>
                <a:latin typeface="Lucida Sans Unicode"/>
                <a:cs typeface="Lucida Sans Unicode"/>
              </a:rPr>
              <a:t>Cover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row.</a:t>
            </a:r>
            <a:r>
              <a:rPr dirty="0" sz="1000" spc="7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Pick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AND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truth-table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row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giving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50">
                <a:solidFill>
                  <a:srgbClr val="22373A"/>
                </a:solidFill>
                <a:latin typeface="Tahoma"/>
                <a:cs typeface="Tahoma"/>
              </a:rPr>
              <a:t>1:</a:t>
            </a:r>
            <a:r>
              <a:rPr dirty="0" sz="1000" spc="8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(</a:t>
            </a:r>
            <a:r>
              <a:rPr dirty="0" sz="1000" spc="-20" i="1">
                <a:solidFill>
                  <a:srgbClr val="22373A"/>
                </a:solidFill>
                <a:latin typeface="Trebuchet MS"/>
                <a:cs typeface="Trebuchet MS"/>
              </a:rPr>
              <a:t>A</a:t>
            </a:r>
            <a:r>
              <a:rPr dirty="0" sz="1000" spc="-20" i="1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dirty="0" sz="1000" spc="-45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B</a:t>
            </a:r>
            <a:r>
              <a:rPr dirty="0" sz="1000" i="1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dirty="0" sz="1000" spc="-50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22373A"/>
                </a:solidFill>
                <a:latin typeface="Trebuchet MS"/>
                <a:cs typeface="Trebuchet MS"/>
              </a:rPr>
              <a:t>Z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)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=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(1</a:t>
            </a:r>
            <a:r>
              <a:rPr dirty="0" sz="1000" spc="-50" i="1">
                <a:solidFill>
                  <a:srgbClr val="22373A"/>
                </a:solidFill>
                <a:latin typeface="Calibri"/>
                <a:cs typeface="Calibri"/>
              </a:rPr>
              <a:t>, </a:t>
            </a:r>
            <a:r>
              <a:rPr dirty="0" sz="1000" spc="-70">
                <a:solidFill>
                  <a:srgbClr val="22373A"/>
                </a:solidFill>
                <a:latin typeface="Tahoma"/>
                <a:cs typeface="Tahoma"/>
              </a:rPr>
              <a:t>1</a:t>
            </a:r>
            <a:r>
              <a:rPr dirty="0" sz="1000" spc="-70" i="1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dirty="0" sz="1000" spc="-50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1).</a:t>
            </a:r>
            <a:endParaRPr sz="1000">
              <a:latin typeface="Tahoma"/>
              <a:cs typeface="Tahoma"/>
            </a:endParaRPr>
          </a:p>
          <a:p>
            <a:pPr marL="192405" indent="-150495">
              <a:lnSpc>
                <a:spcPct val="100000"/>
              </a:lnSpc>
              <a:spcBef>
                <a:spcPts val="325"/>
              </a:spcBef>
              <a:buFont typeface="Tahoma"/>
              <a:buAutoNum type="arabicPeriod" startAt="2"/>
              <a:tabLst>
                <a:tab pos="192405" algn="l"/>
              </a:tabLst>
            </a:pP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Good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vs.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Faulty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Evaluation.</a:t>
            </a:r>
            <a:r>
              <a:rPr dirty="0" sz="1000" spc="6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Z</a:t>
            </a:r>
            <a:r>
              <a:rPr dirty="0" baseline="-15873" sz="1050">
                <a:solidFill>
                  <a:srgbClr val="22373A"/>
                </a:solidFill>
                <a:latin typeface="Tahoma"/>
                <a:cs typeface="Tahoma"/>
              </a:rPr>
              <a:t>good</a:t>
            </a:r>
            <a:r>
              <a:rPr dirty="0" baseline="-15873" sz="1050" spc="172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=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65" i="1">
                <a:solidFill>
                  <a:srgbClr val="22373A"/>
                </a:solidFill>
                <a:latin typeface="Trebuchet MS"/>
                <a:cs typeface="Trebuchet MS"/>
              </a:rPr>
              <a:t>A</a:t>
            </a:r>
            <a:r>
              <a:rPr dirty="0" sz="1000" spc="-75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 spc="-150">
                <a:solidFill>
                  <a:srgbClr val="22373A"/>
                </a:solidFill>
                <a:latin typeface="Lucida Sans Unicode"/>
                <a:cs typeface="Lucida Sans Unicode"/>
              </a:rPr>
              <a:t>∧</a:t>
            </a:r>
            <a:r>
              <a:rPr dirty="0" sz="1000" spc="-8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B</a:t>
            </a:r>
            <a:r>
              <a:rPr dirty="0" sz="1000" spc="-20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=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25">
                <a:solidFill>
                  <a:srgbClr val="22373A"/>
                </a:solidFill>
                <a:latin typeface="Tahoma"/>
                <a:cs typeface="Tahoma"/>
              </a:rPr>
              <a:t>1,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while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Z</a:t>
            </a:r>
            <a:r>
              <a:rPr dirty="0" baseline="-15873" sz="1050">
                <a:solidFill>
                  <a:srgbClr val="22373A"/>
                </a:solidFill>
                <a:latin typeface="Tahoma"/>
                <a:cs typeface="Tahoma"/>
              </a:rPr>
              <a:t>faulty</a:t>
            </a:r>
            <a:r>
              <a:rPr dirty="0" baseline="-15873" sz="1050" spc="172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=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0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by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SA0.</a:t>
            </a:r>
            <a:endParaRPr sz="1000">
              <a:latin typeface="Tahoma"/>
              <a:cs typeface="Tahoma"/>
            </a:endParaRPr>
          </a:p>
          <a:p>
            <a:pPr marL="192405" indent="-154305">
              <a:lnSpc>
                <a:spcPct val="100000"/>
              </a:lnSpc>
              <a:spcBef>
                <a:spcPts val="320"/>
              </a:spcBef>
              <a:buFont typeface="Tahoma"/>
              <a:buAutoNum type="arabicPeriod" startAt="2"/>
              <a:tabLst>
                <a:tab pos="192405" algn="l"/>
              </a:tabLst>
            </a:pP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Final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60">
                <a:solidFill>
                  <a:srgbClr val="22373A"/>
                </a:solidFill>
                <a:latin typeface="Lucida Sans Unicode"/>
                <a:cs typeface="Lucida Sans Unicode"/>
              </a:rPr>
              <a:t>Vector.</a:t>
            </a:r>
            <a:r>
              <a:rPr dirty="0" sz="1000" spc="9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pair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(1</a:t>
            </a:r>
            <a:r>
              <a:rPr dirty="0" sz="1000" spc="-50" i="1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dirty="0" sz="1000" spc="-40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0)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encoded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symbol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 i="1">
                <a:solidFill>
                  <a:srgbClr val="22373A"/>
                </a:solidFill>
                <a:latin typeface="Trebuchet MS"/>
                <a:cs typeface="Trebuchet MS"/>
              </a:rPr>
              <a:t>D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994" y="2284666"/>
            <a:ext cx="5039995" cy="190500"/>
          </a:xfrm>
          <a:prstGeom prst="rect">
            <a:avLst/>
          </a:prstGeom>
          <a:solidFill>
            <a:srgbClr val="E9EBF0"/>
          </a:solidFill>
        </p:spPr>
        <p:txBody>
          <a:bodyPr wrap="square" lIns="0" tIns="7620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60"/>
              </a:spcBef>
            </a:pPr>
            <a:r>
              <a:rPr dirty="0" sz="1000" spc="-70">
                <a:solidFill>
                  <a:srgbClr val="2C396B"/>
                </a:solidFill>
                <a:latin typeface="Lucida Sans Unicode"/>
                <a:cs typeface="Lucida Sans Unicode"/>
              </a:rPr>
              <a:t>PDCF</a:t>
            </a:r>
            <a:r>
              <a:rPr dirty="0" sz="1000" spc="-35">
                <a:solidFill>
                  <a:srgbClr val="2C396B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C396B"/>
                </a:solidFill>
                <a:latin typeface="Lucida Sans Unicode"/>
                <a:cs typeface="Lucida Sans Unicode"/>
              </a:rPr>
              <a:t>for</a:t>
            </a:r>
            <a:r>
              <a:rPr dirty="0" sz="1000" spc="-35">
                <a:solidFill>
                  <a:srgbClr val="2C396B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5">
                <a:solidFill>
                  <a:srgbClr val="2C396B"/>
                </a:solidFill>
                <a:latin typeface="Lucida Sans Unicode"/>
                <a:cs typeface="Lucida Sans Unicode"/>
              </a:rPr>
              <a:t>AND-</a:t>
            </a:r>
            <a:r>
              <a:rPr dirty="0" sz="1000" spc="-65">
                <a:solidFill>
                  <a:srgbClr val="2C396B"/>
                </a:solidFill>
                <a:latin typeface="Lucida Sans Unicode"/>
                <a:cs typeface="Lucida Sans Unicode"/>
              </a:rPr>
              <a:t>gate</a:t>
            </a:r>
            <a:r>
              <a:rPr dirty="0" sz="1000" spc="-35">
                <a:solidFill>
                  <a:srgbClr val="2C396B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C396B"/>
                </a:solidFill>
                <a:latin typeface="Lucida Sans Unicode"/>
                <a:cs typeface="Lucida Sans Unicode"/>
              </a:rPr>
              <a:t>output</a:t>
            </a:r>
            <a:r>
              <a:rPr dirty="0" sz="1000" spc="-35">
                <a:solidFill>
                  <a:srgbClr val="2C396B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>
                <a:solidFill>
                  <a:srgbClr val="2C396B"/>
                </a:solidFill>
                <a:latin typeface="Lucida Sans Unicode"/>
                <a:cs typeface="Lucida Sans Unicode"/>
              </a:rPr>
              <a:t>SA0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9994" y="2474696"/>
            <a:ext cx="5039995" cy="402590"/>
          </a:xfrm>
          <a:custGeom>
            <a:avLst/>
            <a:gdLst/>
            <a:ahLst/>
            <a:cxnLst/>
            <a:rect l="l" t="t" r="r" b="b"/>
            <a:pathLst>
              <a:path w="5039995" h="402589">
                <a:moveTo>
                  <a:pt x="5039995" y="0"/>
                </a:moveTo>
                <a:lnTo>
                  <a:pt x="0" y="0"/>
                </a:lnTo>
                <a:lnTo>
                  <a:pt x="0" y="402412"/>
                </a:lnTo>
                <a:lnTo>
                  <a:pt x="5039995" y="402412"/>
                </a:lnTo>
                <a:lnTo>
                  <a:pt x="5039995" y="0"/>
                </a:lnTo>
                <a:close/>
              </a:path>
            </a:pathLst>
          </a:custGeom>
          <a:solidFill>
            <a:srgbClr val="F4F6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082939" y="2564282"/>
            <a:ext cx="1594485" cy="192405"/>
          </a:xfrm>
          <a:prstGeom prst="rect">
            <a:avLst/>
          </a:prstGeom>
          <a:solidFill>
            <a:srgbClr val="F4F6F9"/>
          </a:solidFill>
          <a:ln w="506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5565">
              <a:lnSpc>
                <a:spcPct val="100000"/>
              </a:lnSpc>
            </a:pPr>
            <a:r>
              <a:rPr dirty="0" sz="1000" spc="-60" i="1">
                <a:latin typeface="Trebuchet MS"/>
                <a:cs typeface="Trebuchet MS"/>
              </a:rPr>
              <a:t>A</a:t>
            </a:r>
            <a:r>
              <a:rPr dirty="0" sz="1000" spc="-25" i="1">
                <a:latin typeface="Trebuchet MS"/>
                <a:cs typeface="Trebuchet MS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1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450" i="1">
                <a:latin typeface="Calibri"/>
                <a:cs typeface="Calibri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B</a:t>
            </a:r>
            <a:r>
              <a:rPr dirty="0" sz="1000" spc="-40" i="1">
                <a:latin typeface="Trebuchet MS"/>
                <a:cs typeface="Trebuchet MS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1</a:t>
            </a:r>
            <a:r>
              <a:rPr dirty="0" sz="1000" spc="47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>
                <a:latin typeface="Lucida Sans Unicode"/>
                <a:cs typeface="Lucida Sans Unicode"/>
              </a:rPr>
              <a:t>⇒</a:t>
            </a:r>
            <a:r>
              <a:rPr dirty="0" sz="1000" spc="459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Z</a:t>
            </a:r>
            <a:r>
              <a:rPr dirty="0" sz="1000" spc="-40" i="1">
                <a:latin typeface="Trebuchet MS"/>
                <a:cs typeface="Trebuchet MS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50" i="1">
                <a:latin typeface="Trebuchet MS"/>
                <a:cs typeface="Trebuchet MS"/>
              </a:rPr>
              <a:t>D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45"/>
              </a:spcBef>
            </a:pPr>
            <a:r>
              <a:rPr dirty="0" spc="-25"/>
              <a:t>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5"/>
              <a:t>Working</a:t>
            </a:r>
            <a:r>
              <a:rPr dirty="0" spc="-45"/>
              <a:t> of </a:t>
            </a:r>
            <a:r>
              <a:rPr dirty="0" spc="-190"/>
              <a:t>D-</a:t>
            </a:r>
            <a:r>
              <a:rPr dirty="0" spc="-55"/>
              <a:t>Algorithm</a:t>
            </a:r>
          </a:p>
        </p:txBody>
      </p:sp>
      <p:sp>
        <p:nvSpPr>
          <p:cNvPr id="3" name="object 3"/>
          <p:cNvSpPr/>
          <p:nvPr/>
        </p:nvSpPr>
        <p:spPr>
          <a:xfrm>
            <a:off x="4080103" y="790155"/>
            <a:ext cx="80010" cy="0"/>
          </a:xfrm>
          <a:custGeom>
            <a:avLst/>
            <a:gdLst/>
            <a:ahLst/>
            <a:cxnLst/>
            <a:rect l="l" t="t" r="r" b="b"/>
            <a:pathLst>
              <a:path w="80010" h="0">
                <a:moveTo>
                  <a:pt x="0" y="0"/>
                </a:moveTo>
                <a:lnTo>
                  <a:pt x="79705" y="0"/>
                </a:lnTo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4131" y="479493"/>
            <a:ext cx="5068570" cy="1614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Four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phases,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looped 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until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detection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or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contradiction:</a:t>
            </a:r>
            <a:endParaRPr sz="1000">
              <a:latin typeface="Lucida Sans Unicode"/>
              <a:cs typeface="Lucida Sans Unicode"/>
            </a:endParaRPr>
          </a:p>
          <a:p>
            <a:pPr marL="166370" indent="-140970">
              <a:lnSpc>
                <a:spcPct val="100000"/>
              </a:lnSpc>
              <a:spcBef>
                <a:spcPts val="969"/>
              </a:spcBef>
              <a:buFont typeface="Tahoma"/>
              <a:buAutoNum type="arabicPeriod"/>
              <a:tabLst>
                <a:tab pos="166370" algn="l"/>
              </a:tabLst>
            </a:pP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Fault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Activation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45">
                <a:solidFill>
                  <a:srgbClr val="22373A"/>
                </a:solidFill>
                <a:latin typeface="Tahoma"/>
                <a:cs typeface="Tahoma"/>
              </a:rPr>
              <a:t>—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apply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PDCF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at the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site,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placing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D</a:t>
            </a:r>
            <a:r>
              <a:rPr dirty="0" sz="1000" spc="10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or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 i="1">
                <a:solidFill>
                  <a:srgbClr val="22373A"/>
                </a:solidFill>
                <a:latin typeface="Trebuchet MS"/>
                <a:cs typeface="Trebuchet MS"/>
              </a:rPr>
              <a:t>D</a:t>
            </a:r>
            <a:endParaRPr sz="1000">
              <a:latin typeface="Trebuchet MS"/>
              <a:cs typeface="Trebuchet MS"/>
            </a:endParaRPr>
          </a:p>
          <a:p>
            <a:pPr marL="166370" marR="5080" indent="-149225">
              <a:lnSpc>
                <a:spcPct val="114599"/>
              </a:lnSpc>
              <a:spcBef>
                <a:spcPts val="300"/>
              </a:spcBef>
              <a:buFont typeface="Tahoma"/>
              <a:buAutoNum type="arabicPeriod"/>
              <a:tabLst>
                <a:tab pos="167640" algn="l"/>
              </a:tabLst>
            </a:pPr>
            <a:r>
              <a:rPr dirty="0" sz="1000" spc="-100">
                <a:solidFill>
                  <a:srgbClr val="22373A"/>
                </a:solidFill>
                <a:latin typeface="Lucida Sans Unicode"/>
                <a:cs typeface="Lucida Sans Unicode"/>
              </a:rPr>
              <a:t>D-</a:t>
            </a:r>
            <a:r>
              <a:rPr dirty="0" sz="1000" spc="-65">
                <a:solidFill>
                  <a:srgbClr val="22373A"/>
                </a:solidFill>
                <a:latin typeface="Lucida Sans Unicode"/>
                <a:cs typeface="Lucida Sans Unicode"/>
              </a:rPr>
              <a:t>Drive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(Forward)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45">
                <a:solidFill>
                  <a:srgbClr val="22373A"/>
                </a:solidFill>
                <a:latin typeface="Tahoma"/>
                <a:cs typeface="Tahoma"/>
              </a:rPr>
              <a:t>—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pick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gate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D-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frontier,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apply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its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propagation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D-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cube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push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	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effect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toward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primary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output</a:t>
            </a:r>
            <a:endParaRPr sz="1000">
              <a:latin typeface="Tahoma"/>
              <a:cs typeface="Tahoma"/>
            </a:endParaRPr>
          </a:p>
          <a:p>
            <a:pPr marL="167640" marR="252729" indent="-151130">
              <a:lnSpc>
                <a:spcPct val="114599"/>
              </a:lnSpc>
              <a:spcBef>
                <a:spcPts val="300"/>
              </a:spcBef>
              <a:buFont typeface="Tahoma"/>
              <a:buAutoNum type="arabicPeriod"/>
              <a:tabLst>
                <a:tab pos="167640" algn="l"/>
              </a:tabLst>
            </a:pP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Line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Justification 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(Backward)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45">
                <a:solidFill>
                  <a:srgbClr val="22373A"/>
                </a:solidFill>
                <a:latin typeface="Tahoma"/>
                <a:cs typeface="Tahoma"/>
              </a:rPr>
              <a:t>—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recursively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justify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any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required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0</a:t>
            </a:r>
            <a:r>
              <a:rPr dirty="0" sz="1000" i="1">
                <a:solidFill>
                  <a:srgbClr val="22373A"/>
                </a:solidFill>
                <a:latin typeface="Calibri"/>
                <a:cs typeface="Calibri"/>
              </a:rPr>
              <a:t>/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1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assignments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by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setting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upstream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lines</a:t>
            </a:r>
            <a:endParaRPr sz="1000">
              <a:latin typeface="Tahoma"/>
              <a:cs typeface="Tahoma"/>
            </a:endParaRPr>
          </a:p>
          <a:p>
            <a:pPr marL="166370" marR="69850" indent="-154305">
              <a:lnSpc>
                <a:spcPct val="114599"/>
              </a:lnSpc>
              <a:spcBef>
                <a:spcPts val="295"/>
              </a:spcBef>
              <a:buFont typeface="Tahoma"/>
              <a:buAutoNum type="arabicPeriod"/>
              <a:tabLst>
                <a:tab pos="167640" algn="l"/>
              </a:tabLst>
            </a:pP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Backtrack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on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Conflict</a:t>
            </a:r>
            <a:r>
              <a:rPr dirty="0" sz="1000" spc="-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45">
                <a:solidFill>
                  <a:srgbClr val="22373A"/>
                </a:solidFill>
                <a:latin typeface="Tahoma"/>
                <a:cs typeface="Tahoma"/>
              </a:rPr>
              <a:t>—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if any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line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 forced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two contradictory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values,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undo the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last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	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decision and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try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alternative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45"/>
              </a:spcBef>
            </a:pPr>
            <a:r>
              <a:rPr dirty="0" spc="-25"/>
              <a:t>6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9994" y="2246325"/>
          <a:ext cx="5116195" cy="5695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55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Why</a:t>
                      </a:r>
                      <a:r>
                        <a:rPr dirty="0" sz="1000" spc="-5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it</a:t>
                      </a:r>
                      <a:r>
                        <a:rPr dirty="0" sz="1000" spc="-45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explodes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Nested</a:t>
                      </a:r>
                      <a:r>
                        <a:rPr dirty="0" sz="10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justifications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1000" spc="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internal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lines,</a:t>
                      </a:r>
                      <a:r>
                        <a:rPr dirty="0" sz="1000" spc="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plus</a:t>
                      </a:r>
                      <a:r>
                        <a:rPr dirty="0" sz="1000" spc="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value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conflicts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at</a:t>
                      </a:r>
                      <a:r>
                        <a:rPr dirty="0" sz="1000" spc="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reconvergence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stems,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trigger</a:t>
                      </a:r>
                      <a:r>
                        <a:rPr dirty="0" sz="1000" spc="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exponential</a:t>
                      </a:r>
                      <a:r>
                        <a:rPr dirty="0" sz="1000" spc="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backtracking.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16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Limitations</a:t>
            </a:r>
            <a:r>
              <a:rPr dirty="0" spc="-35"/>
              <a:t> </a:t>
            </a:r>
            <a:r>
              <a:rPr dirty="0" spc="-45"/>
              <a:t>of</a:t>
            </a:r>
            <a:r>
              <a:rPr dirty="0" spc="-35"/>
              <a:t> </a:t>
            </a:r>
            <a:r>
              <a:rPr dirty="0" spc="-190"/>
              <a:t>D-</a:t>
            </a:r>
            <a:r>
              <a:rPr dirty="0" spc="-55"/>
              <a:t>Algorithm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45"/>
              </a:spcBef>
            </a:pPr>
            <a:r>
              <a:rPr dirty="0" spc="-25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45154"/>
            <a:ext cx="2768600" cy="143764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75">
                <a:solidFill>
                  <a:srgbClr val="22373A"/>
                </a:solidFill>
                <a:latin typeface="Lucida Sans Unicode"/>
                <a:cs typeface="Lucida Sans Unicode"/>
              </a:rPr>
              <a:t>The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first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complete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90">
                <a:solidFill>
                  <a:srgbClr val="22373A"/>
                </a:solidFill>
                <a:latin typeface="Lucida Sans Unicode"/>
                <a:cs typeface="Lucida Sans Unicode"/>
              </a:rPr>
              <a:t>ATPG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algorithm</a:t>
            </a:r>
            <a:endParaRPr sz="1000">
              <a:latin typeface="Lucida Sans Unicode"/>
              <a:cs typeface="Lucida Sans Unicode"/>
            </a:endParaRPr>
          </a:p>
          <a:p>
            <a:pPr marL="163830" indent="-99060">
              <a:lnSpc>
                <a:spcPct val="100000"/>
              </a:lnSpc>
              <a:spcBef>
                <a:spcPts val="470"/>
              </a:spcBef>
              <a:buClr>
                <a:srgbClr val="2C396B"/>
              </a:buClr>
              <a:buChar char="•"/>
              <a:tabLst>
                <a:tab pos="163830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Operates on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any</a:t>
            </a:r>
            <a:r>
              <a:rPr dirty="0" sz="1000" spc="20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signal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line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(internal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or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PI)</a:t>
            </a:r>
            <a:endParaRPr sz="1000">
              <a:latin typeface="Tahoma"/>
              <a:cs typeface="Tahoma"/>
            </a:endParaRPr>
          </a:p>
          <a:p>
            <a:pPr marL="164465" marR="508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Two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phases: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C0392B"/>
                </a:solidFill>
                <a:latin typeface="Tahoma"/>
                <a:cs typeface="Tahoma"/>
              </a:rPr>
              <a:t>D-drive</a:t>
            </a:r>
            <a:r>
              <a:rPr dirty="0" sz="1000" spc="-50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(push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D</a:t>
            </a:r>
            <a:r>
              <a:rPr dirty="0" sz="1000" spc="-40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toward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outputs)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and </a:t>
            </a:r>
            <a:r>
              <a:rPr dirty="0" sz="1000">
                <a:solidFill>
                  <a:srgbClr val="C0392B"/>
                </a:solidFill>
                <a:latin typeface="Tahoma"/>
                <a:cs typeface="Tahoma"/>
              </a:rPr>
              <a:t>consistency</a:t>
            </a:r>
            <a:r>
              <a:rPr dirty="0" sz="1000" spc="-5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C0392B"/>
                </a:solidFill>
                <a:latin typeface="Tahoma"/>
                <a:cs typeface="Tahoma"/>
              </a:rPr>
              <a:t>check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(justify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required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values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back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PIs)</a:t>
            </a:r>
            <a:endParaRPr sz="1000">
              <a:latin typeface="Tahoma"/>
              <a:cs typeface="Tahoma"/>
            </a:endParaRPr>
          </a:p>
          <a:p>
            <a:pPr marL="163830" indent="-99060">
              <a:lnSpc>
                <a:spcPct val="100000"/>
              </a:lnSpc>
              <a:spcBef>
                <a:spcPts val="475"/>
              </a:spcBef>
              <a:buClr>
                <a:srgbClr val="2C396B"/>
              </a:buClr>
              <a:buChar char="•"/>
              <a:tabLst>
                <a:tab pos="163830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Provably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complete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45">
                <a:solidFill>
                  <a:srgbClr val="22373A"/>
                </a:solidFill>
                <a:latin typeface="Tahoma"/>
                <a:cs typeface="Tahoma"/>
              </a:rPr>
              <a:t>—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finds a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test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if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one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exists</a:t>
            </a:r>
            <a:endParaRPr sz="1000">
              <a:latin typeface="Tahoma"/>
              <a:cs typeface="Tahoma"/>
            </a:endParaRPr>
          </a:p>
          <a:p>
            <a:pPr marL="163830" indent="-99060">
              <a:lnSpc>
                <a:spcPct val="100000"/>
              </a:lnSpc>
              <a:spcBef>
                <a:spcPts val="475"/>
              </a:spcBef>
              <a:buClr>
                <a:srgbClr val="2C396B"/>
              </a:buClr>
              <a:buChar char="•"/>
              <a:tabLst>
                <a:tab pos="163830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Foundation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all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later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structural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ATPG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0503" y="541090"/>
            <a:ext cx="2063750" cy="139954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75">
                <a:solidFill>
                  <a:srgbClr val="22373A"/>
                </a:solidFill>
                <a:latin typeface="Lucida Sans Unicode"/>
                <a:cs typeface="Lucida Sans Unicode"/>
              </a:rPr>
              <a:t>The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cost</a:t>
            </a:r>
            <a:endParaRPr sz="1000">
              <a:latin typeface="Lucida Sans Unicode"/>
              <a:cs typeface="Lucida Sans Unicode"/>
            </a:endParaRPr>
          </a:p>
          <a:p>
            <a:pPr marL="164465" marR="8890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Decisions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 i="1">
                <a:solidFill>
                  <a:srgbClr val="22373A"/>
                </a:solidFill>
                <a:latin typeface="Trebuchet MS"/>
                <a:cs typeface="Trebuchet MS"/>
              </a:rPr>
              <a:t>internal</a:t>
            </a:r>
            <a:r>
              <a:rPr dirty="0" sz="1000" spc="10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nets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often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conflict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with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PI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assignments</a:t>
            </a:r>
            <a:endParaRPr sz="1000">
              <a:latin typeface="Tahoma"/>
              <a:cs typeface="Tahoma"/>
            </a:endParaRPr>
          </a:p>
          <a:p>
            <a:pPr marL="163830" indent="-99060">
              <a:lnSpc>
                <a:spcPct val="100000"/>
              </a:lnSpc>
              <a:spcBef>
                <a:spcPts val="475"/>
              </a:spcBef>
              <a:buClr>
                <a:srgbClr val="2C396B"/>
              </a:buClr>
              <a:buChar char="•"/>
              <a:tabLst>
                <a:tab pos="163830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Backtracking</a:t>
            </a:r>
            <a:r>
              <a:rPr dirty="0" sz="1000" spc="-7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grows</a:t>
            </a:r>
            <a:r>
              <a:rPr dirty="0" sz="1000" spc="-6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exponentially</a:t>
            </a:r>
            <a:endParaRPr sz="1000">
              <a:latin typeface="Lucida Sans Unicode"/>
              <a:cs typeface="Lucida Sans Unicode"/>
            </a:endParaRPr>
          </a:p>
          <a:p>
            <a:pPr marL="164465">
              <a:lnSpc>
                <a:spcPct val="100000"/>
              </a:lnSpc>
              <a:spcBef>
                <a:spcPts val="175"/>
              </a:spcBef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with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reconvergent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fanout</a:t>
            </a:r>
            <a:endParaRPr sz="1000">
              <a:latin typeface="Tahoma"/>
              <a:cs typeface="Tahoma"/>
            </a:endParaRPr>
          </a:p>
          <a:p>
            <a:pPr marL="164465" marR="26416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Justification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often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dominates runtime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9994" y="2097785"/>
          <a:ext cx="5116195" cy="561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6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Worst-</a:t>
                      </a:r>
                      <a:r>
                        <a:rPr dirty="0" sz="1000" spc="-5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case</a:t>
                      </a:r>
                      <a:r>
                        <a:rPr dirty="0" sz="1000" spc="-1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complexity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Reconvergent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circuits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push</a:t>
                      </a:r>
                      <a:r>
                        <a:rPr dirty="0" sz="1000" spc="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runtime</a:t>
                      </a:r>
                      <a:r>
                        <a:rPr dirty="0" sz="1000" spc="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exponential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45">
                          <a:latin typeface="Tahoma"/>
                          <a:cs typeface="Tahoma"/>
                        </a:rPr>
                        <a:t>—</a:t>
                      </a:r>
                      <a:r>
                        <a:rPr dirty="0" sz="1000" spc="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motivating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move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PI-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only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decisions</a:t>
                      </a:r>
                      <a:r>
                        <a:rPr dirty="0" sz="1000" spc="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(PODEM)</a:t>
                      </a:r>
                      <a:r>
                        <a:rPr dirty="0" sz="1000" spc="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structural</a:t>
                      </a:r>
                      <a:r>
                        <a:rPr dirty="0" sz="1000" spc="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headlines</a:t>
                      </a:r>
                      <a:r>
                        <a:rPr dirty="0" sz="1000" spc="4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(FAN).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16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63700"/>
            <a:ext cx="238188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5"/>
              <a:t>Classical</a:t>
            </a:r>
            <a:r>
              <a:rPr dirty="0" spc="-40"/>
              <a:t> </a:t>
            </a:r>
            <a:r>
              <a:rPr dirty="0" spc="-105"/>
              <a:t>ATPG:</a:t>
            </a:r>
            <a:r>
              <a:rPr dirty="0" spc="-40"/>
              <a:t> </a:t>
            </a:r>
            <a:r>
              <a:rPr dirty="0" spc="-70"/>
              <a:t>PODEM</a:t>
            </a:r>
            <a:r>
              <a:rPr dirty="0" spc="-40"/>
              <a:t> </a:t>
            </a:r>
            <a:r>
              <a:rPr dirty="0" spc="-50"/>
              <a:t>(Goel,</a:t>
            </a:r>
            <a:r>
              <a:rPr dirty="0" spc="-35"/>
              <a:t> </a:t>
            </a:r>
            <a:r>
              <a:rPr dirty="0" spc="-125"/>
              <a:t>1981)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45"/>
              </a:spcBef>
            </a:pPr>
            <a:r>
              <a:rPr dirty="0" spc="-25"/>
              <a:t>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90417"/>
            <a:ext cx="5066030" cy="374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000" spc="-75">
                <a:solidFill>
                  <a:srgbClr val="22373A"/>
                </a:solidFill>
                <a:latin typeface="Lucida Sans Unicode"/>
                <a:cs typeface="Lucida Sans Unicode"/>
              </a:rPr>
              <a:t>The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Breakthrough:</a:t>
            </a:r>
            <a:r>
              <a:rPr dirty="0" sz="1000" spc="9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Instead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guessing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internal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wire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values,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restrict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every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decision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strictly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 </a:t>
            </a:r>
            <a:r>
              <a:rPr dirty="0" sz="1000" spc="-20" i="1">
                <a:solidFill>
                  <a:srgbClr val="22373A"/>
                </a:solidFill>
                <a:latin typeface="Trebuchet MS"/>
                <a:cs typeface="Trebuchet MS"/>
              </a:rPr>
              <a:t>Primary</a:t>
            </a:r>
            <a:r>
              <a:rPr dirty="0" sz="1000" spc="5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Inputs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.</a:t>
            </a:r>
            <a:r>
              <a:rPr dirty="0" sz="1000" spc="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Let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deterministic </a:t>
            </a:r>
            <a:r>
              <a:rPr dirty="0" sz="1000" spc="-30" i="1">
                <a:solidFill>
                  <a:srgbClr val="22373A"/>
                </a:solidFill>
                <a:latin typeface="Trebuchet MS"/>
                <a:cs typeface="Trebuchet MS"/>
              </a:rPr>
              <a:t>forward</a:t>
            </a:r>
            <a:r>
              <a:rPr dirty="0" sz="1000" spc="5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 spc="-10" i="1">
                <a:solidFill>
                  <a:srgbClr val="22373A"/>
                </a:solidFill>
                <a:latin typeface="Trebuchet MS"/>
                <a:cs typeface="Trebuchet MS"/>
              </a:rPr>
              <a:t>simulation</a:t>
            </a:r>
            <a:r>
              <a:rPr dirty="0" sz="1000" spc="5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handle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rest.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1894" y="884790"/>
            <a:ext cx="2551430" cy="1923414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75"/>
              </a:spcBef>
            </a:pP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Why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this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changes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everything</a:t>
            </a:r>
            <a:endParaRPr sz="1000">
              <a:latin typeface="Lucida Sans Unicode"/>
              <a:cs typeface="Lucida Sans Unicode"/>
            </a:endParaRPr>
          </a:p>
          <a:p>
            <a:pPr marL="189865" marR="159385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89865" algn="l"/>
              </a:tabLst>
            </a:pP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search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space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collapses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from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2</a:t>
            </a:r>
            <a:r>
              <a:rPr dirty="0" baseline="27777" sz="1050" i="1">
                <a:solidFill>
                  <a:srgbClr val="22373A"/>
                </a:solidFill>
                <a:latin typeface="Trebuchet MS"/>
                <a:cs typeface="Trebuchet MS"/>
              </a:rPr>
              <a:t>k</a:t>
            </a:r>
            <a:r>
              <a:rPr dirty="0" baseline="27777" sz="1050" spc="217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(all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internal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gates)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down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2</a:t>
            </a:r>
            <a:r>
              <a:rPr dirty="0" baseline="27777" sz="1050" i="1">
                <a:solidFill>
                  <a:srgbClr val="22373A"/>
                </a:solidFill>
                <a:latin typeface="Trebuchet MS"/>
                <a:cs typeface="Trebuchet MS"/>
              </a:rPr>
              <a:t>n</a:t>
            </a:r>
            <a:r>
              <a:rPr dirty="0" baseline="27777" sz="1050" spc="202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(primary inputs).</a:t>
            </a:r>
            <a:endParaRPr sz="1000">
              <a:latin typeface="Tahoma"/>
              <a:cs typeface="Tahoma"/>
            </a:endParaRPr>
          </a:p>
          <a:p>
            <a:pPr marL="189865" marR="80645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898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Since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n</a:t>
            </a:r>
            <a:r>
              <a:rPr dirty="0" sz="1000" spc="5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 spc="-130">
                <a:solidFill>
                  <a:srgbClr val="22373A"/>
                </a:solidFill>
                <a:latin typeface="Lucida Sans Unicode"/>
                <a:cs typeface="Lucida Sans Unicode"/>
              </a:rPr>
              <a:t>≪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5" i="1">
                <a:solidFill>
                  <a:srgbClr val="22373A"/>
                </a:solidFill>
                <a:latin typeface="Trebuchet MS"/>
                <a:cs typeface="Trebuchet MS"/>
              </a:rPr>
              <a:t>k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,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this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physically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prevents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the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exponential</a:t>
            </a:r>
            <a:r>
              <a:rPr dirty="0" sz="1000" spc="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explosions</a:t>
            </a:r>
            <a:r>
              <a:rPr dirty="0" sz="1000" spc="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seen</a:t>
            </a:r>
            <a:r>
              <a:rPr dirty="0" sz="1000" spc="5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</a:t>
            </a:r>
            <a:r>
              <a:rPr dirty="0" sz="1000" spc="5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endParaRPr sz="1000">
              <a:latin typeface="Tahoma"/>
              <a:cs typeface="Tahoma"/>
            </a:endParaRPr>
          </a:p>
          <a:p>
            <a:pPr marL="189865">
              <a:lnSpc>
                <a:spcPct val="100000"/>
              </a:lnSpc>
              <a:spcBef>
                <a:spcPts val="175"/>
              </a:spcBef>
            </a:pP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D-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Algorithm.</a:t>
            </a:r>
            <a:endParaRPr sz="1000">
              <a:latin typeface="Tahoma"/>
              <a:cs typeface="Tahoma"/>
            </a:endParaRPr>
          </a:p>
          <a:p>
            <a:pPr marL="189865" marR="3048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89865" algn="l"/>
              </a:tabLst>
            </a:pP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Forward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simulation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only:</a:t>
            </a:r>
            <a:r>
              <a:rPr dirty="0" sz="1000" spc="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No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more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guessing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internal wire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values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that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lead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to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logical</a:t>
            </a:r>
            <a:r>
              <a:rPr dirty="0" sz="1000" spc="8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conflicts.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68866" y="884790"/>
            <a:ext cx="2294255" cy="136207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85">
                <a:solidFill>
                  <a:srgbClr val="22373A"/>
                </a:solidFill>
                <a:latin typeface="Lucida Sans Unicode"/>
                <a:cs typeface="Lucida Sans Unicode"/>
              </a:rPr>
              <a:t>Two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60">
                <a:solidFill>
                  <a:srgbClr val="22373A"/>
                </a:solidFill>
                <a:latin typeface="Lucida Sans Unicode"/>
                <a:cs typeface="Lucida Sans Unicode"/>
              </a:rPr>
              <a:t>key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heuristics</a:t>
            </a:r>
            <a:endParaRPr sz="1000">
              <a:latin typeface="Lucida Sans Unicode"/>
              <a:cs typeface="Lucida Sans Unicode"/>
            </a:endParaRPr>
          </a:p>
          <a:p>
            <a:pPr algn="just" marL="164465" marR="32639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Font typeface="Tahoma"/>
              <a:buChar char="•"/>
              <a:tabLst>
                <a:tab pos="164465" algn="l"/>
              </a:tabLst>
            </a:pP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Objective:</a:t>
            </a:r>
            <a:r>
              <a:rPr dirty="0" sz="1000" spc="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Identify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target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70">
                <a:solidFill>
                  <a:srgbClr val="22373A"/>
                </a:solidFill>
                <a:latin typeface="Tahoma"/>
                <a:cs typeface="Tahoma"/>
              </a:rPr>
              <a:t>(e.g.,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”activate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fault”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or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”push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the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D-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Frontier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forward”).</a:t>
            </a:r>
            <a:endParaRPr sz="1000">
              <a:latin typeface="Tahoma"/>
              <a:cs typeface="Tahoma"/>
            </a:endParaRPr>
          </a:p>
          <a:p>
            <a:pPr marL="164465" marR="508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Font typeface="Tahoma"/>
              <a:buChar char="•"/>
              <a:tabLst>
                <a:tab pos="164465" algn="l"/>
              </a:tabLst>
            </a:pP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Backtrace:</a:t>
            </a: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Walk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backward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from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that target,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through the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logic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gates,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until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a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free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Primary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Input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found.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63700"/>
            <a:ext cx="267208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5"/>
              <a:t>Working</a:t>
            </a:r>
            <a:r>
              <a:rPr dirty="0" spc="-50"/>
              <a:t> </a:t>
            </a:r>
            <a:r>
              <a:rPr dirty="0" spc="-45"/>
              <a:t>of</a:t>
            </a:r>
            <a:r>
              <a:rPr dirty="0" spc="-50"/>
              <a:t> </a:t>
            </a:r>
            <a:r>
              <a:rPr dirty="0" spc="-70"/>
              <a:t>PODEM</a:t>
            </a:r>
            <a:r>
              <a:rPr dirty="0" spc="-50"/>
              <a:t> </a:t>
            </a:r>
            <a:r>
              <a:rPr dirty="0" spc="-265"/>
              <a:t>—</a:t>
            </a:r>
            <a:r>
              <a:rPr dirty="0" spc="-50"/>
              <a:t> </a:t>
            </a:r>
            <a:r>
              <a:rPr dirty="0" spc="-80"/>
              <a:t>The</a:t>
            </a:r>
            <a:r>
              <a:rPr dirty="0" spc="-50"/>
              <a:t> </a:t>
            </a:r>
            <a:r>
              <a:rPr dirty="0" spc="-130"/>
              <a:t>X-</a:t>
            </a:r>
            <a:r>
              <a:rPr dirty="0" spc="-65"/>
              <a:t>Path</a:t>
            </a:r>
            <a:r>
              <a:rPr dirty="0" spc="-45"/>
              <a:t> </a:t>
            </a:r>
            <a:r>
              <a:rPr dirty="0" spc="-50"/>
              <a:t>Check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45"/>
              </a:spcBef>
            </a:pPr>
            <a:r>
              <a:rPr dirty="0" spc="-25"/>
              <a:t>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4131" y="700563"/>
            <a:ext cx="2521585" cy="1824989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75"/>
              </a:spcBef>
            </a:pPr>
            <a:r>
              <a:rPr dirty="0" sz="1000" spc="-75">
                <a:solidFill>
                  <a:srgbClr val="22373A"/>
                </a:solidFill>
                <a:latin typeface="Lucida Sans Unicode"/>
                <a:cs typeface="Lucida Sans Unicode"/>
              </a:rPr>
              <a:t>The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Search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Loop</a:t>
            </a:r>
            <a:endParaRPr sz="1000">
              <a:latin typeface="Lucida Sans Unicode"/>
              <a:cs typeface="Lucida Sans Unicode"/>
            </a:endParaRPr>
          </a:p>
          <a:p>
            <a:pPr marL="166370" indent="-140970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166370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Identify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target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objective.</a:t>
            </a:r>
            <a:endParaRPr sz="1000">
              <a:latin typeface="Tahoma"/>
              <a:cs typeface="Tahoma"/>
            </a:endParaRPr>
          </a:p>
          <a:p>
            <a:pPr marL="166370" marR="80010" indent="-149225">
              <a:lnSpc>
                <a:spcPct val="114599"/>
              </a:lnSpc>
              <a:spcBef>
                <a:spcPts val="300"/>
              </a:spcBef>
              <a:buAutoNum type="arabicPeriod"/>
              <a:tabLst>
                <a:tab pos="167640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Backtrace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find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unassigned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Primary 	Input.</a:t>
            </a:r>
            <a:endParaRPr sz="1000">
              <a:latin typeface="Tahoma"/>
              <a:cs typeface="Tahoma"/>
            </a:endParaRPr>
          </a:p>
          <a:p>
            <a:pPr marL="167640" marR="545465" indent="-151130">
              <a:lnSpc>
                <a:spcPct val="114599"/>
              </a:lnSpc>
              <a:spcBef>
                <a:spcPts val="300"/>
              </a:spcBef>
              <a:buAutoNum type="arabicPeriod"/>
              <a:tabLst>
                <a:tab pos="167640" algn="l"/>
              </a:tabLst>
            </a:pP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Assign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0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or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50">
                <a:solidFill>
                  <a:srgbClr val="22373A"/>
                </a:solidFill>
                <a:latin typeface="Tahoma"/>
                <a:cs typeface="Tahoma"/>
              </a:rPr>
              <a:t>1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that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input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and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forward-simulate</a:t>
            </a:r>
            <a:r>
              <a:rPr dirty="0" sz="1000" spc="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circuit.</a:t>
            </a:r>
            <a:endParaRPr sz="1000">
              <a:latin typeface="Tahoma"/>
              <a:cs typeface="Tahoma"/>
            </a:endParaRPr>
          </a:p>
          <a:p>
            <a:pPr marL="166370" marR="5080" indent="-154305">
              <a:lnSpc>
                <a:spcPct val="114599"/>
              </a:lnSpc>
              <a:spcBef>
                <a:spcPts val="295"/>
              </a:spcBef>
              <a:buAutoNum type="arabicPeriod"/>
              <a:tabLst>
                <a:tab pos="167640" algn="l"/>
              </a:tabLst>
            </a:pP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Check:</a:t>
            </a:r>
            <a:r>
              <a:rPr dirty="0" sz="1000" spc="8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Did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signal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move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closer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to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	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output?</a:t>
            </a:r>
            <a:endParaRPr sz="1000">
              <a:latin typeface="Tahoma"/>
              <a:cs typeface="Tahoma"/>
            </a:endParaRPr>
          </a:p>
          <a:p>
            <a:pPr marL="167005" indent="-150495">
              <a:lnSpc>
                <a:spcPct val="100000"/>
              </a:lnSpc>
              <a:spcBef>
                <a:spcPts val="475"/>
              </a:spcBef>
              <a:buAutoNum type="arabicPeriod"/>
              <a:tabLst>
                <a:tab pos="167005" algn="l"/>
              </a:tabLst>
            </a:pP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If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not,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backtrack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and flip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input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value.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68866" y="712844"/>
            <a:ext cx="2332355" cy="1748789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75">
                <a:solidFill>
                  <a:srgbClr val="22373A"/>
                </a:solidFill>
                <a:latin typeface="Lucida Sans Unicode"/>
                <a:cs typeface="Lucida Sans Unicode"/>
              </a:rPr>
              <a:t>The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5">
                <a:solidFill>
                  <a:srgbClr val="22373A"/>
                </a:solidFill>
                <a:latin typeface="Lucida Sans Unicode"/>
                <a:cs typeface="Lucida Sans Unicode"/>
              </a:rPr>
              <a:t>X-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Path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70">
                <a:solidFill>
                  <a:srgbClr val="22373A"/>
                </a:solidFill>
                <a:latin typeface="Lucida Sans Unicode"/>
                <a:cs typeface="Lucida Sans Unicode"/>
              </a:rPr>
              <a:t>Check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(The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Safety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Net)</a:t>
            </a:r>
            <a:endParaRPr sz="1000">
              <a:latin typeface="Lucida Sans Unicode"/>
              <a:cs typeface="Lucida Sans Unicode"/>
            </a:endParaRPr>
          </a:p>
          <a:p>
            <a:pPr marL="164465" marR="508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Before making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deep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decisions,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PODEM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runs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 quick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Breadth-First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Search</a:t>
            </a:r>
            <a:r>
              <a:rPr dirty="0" sz="1000" spc="5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(BFS)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forward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from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signal.</a:t>
            </a:r>
            <a:endParaRPr sz="1000">
              <a:latin typeface="Tahoma"/>
              <a:cs typeface="Tahoma"/>
            </a:endParaRPr>
          </a:p>
          <a:p>
            <a:pPr marL="164465" marR="36195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It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checks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if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physical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of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unassigned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gates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70">
                <a:solidFill>
                  <a:srgbClr val="22373A"/>
                </a:solidFill>
                <a:latin typeface="Tahoma"/>
                <a:cs typeface="Tahoma"/>
              </a:rPr>
              <a:t>(</a:t>
            </a:r>
            <a:r>
              <a:rPr dirty="0" sz="1000" spc="-70" i="1">
                <a:solidFill>
                  <a:srgbClr val="22373A"/>
                </a:solidFill>
                <a:latin typeface="Trebuchet MS"/>
                <a:cs typeface="Trebuchet MS"/>
              </a:rPr>
              <a:t>X</a:t>
            </a:r>
            <a:r>
              <a:rPr dirty="0" sz="1000" spc="-70">
                <a:solidFill>
                  <a:srgbClr val="22373A"/>
                </a:solidFill>
                <a:latin typeface="Tahoma"/>
                <a:cs typeface="Tahoma"/>
              </a:rPr>
              <a:t>)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still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exists to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the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output.</a:t>
            </a:r>
            <a:endParaRPr sz="1000">
              <a:latin typeface="Tahoma"/>
              <a:cs typeface="Tahoma"/>
            </a:endParaRPr>
          </a:p>
          <a:p>
            <a:pPr marL="164465" marR="165735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If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the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signal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trapped,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it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stops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and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backtracks</a:t>
            </a:r>
            <a:r>
              <a:rPr dirty="0" sz="1000" spc="-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immediately.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5"/>
              <a:t>Worked </a:t>
            </a:r>
            <a:r>
              <a:rPr dirty="0" spc="-70"/>
              <a:t>PODEM</a:t>
            </a:r>
            <a:r>
              <a:rPr dirty="0" spc="-50"/>
              <a:t> </a:t>
            </a:r>
            <a:r>
              <a:rPr dirty="0" spc="-60"/>
              <a:t>Example</a:t>
            </a:r>
            <a:r>
              <a:rPr dirty="0" spc="-50"/>
              <a:t> </a:t>
            </a:r>
            <a:r>
              <a:rPr dirty="0" spc="-265"/>
              <a:t>—</a:t>
            </a:r>
            <a:r>
              <a:rPr dirty="0" spc="-50"/>
              <a:t> </a:t>
            </a:r>
            <a:r>
              <a:rPr dirty="0" spc="-130"/>
              <a:t>4-</a:t>
            </a:r>
            <a:r>
              <a:rPr dirty="0" spc="-80"/>
              <a:t>Gate</a:t>
            </a:r>
            <a:r>
              <a:rPr dirty="0" spc="-50"/>
              <a:t> </a:t>
            </a:r>
            <a:r>
              <a:rPr dirty="0" spc="-35"/>
              <a:t>Circuit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45"/>
              </a:spcBef>
            </a:pPr>
            <a:r>
              <a:rPr dirty="0" spc="-25"/>
              <a:t>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96043"/>
            <a:ext cx="2931795" cy="37465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Circuit</a:t>
            </a:r>
            <a:r>
              <a:rPr dirty="0" sz="1000" spc="-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Logic:</a:t>
            </a:r>
            <a:r>
              <a:rPr dirty="0" sz="1000" spc="1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y</a:t>
            </a:r>
            <a:r>
              <a:rPr dirty="0" sz="1000" spc="30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=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Georgia"/>
                <a:cs typeface="Georgia"/>
              </a:rPr>
              <a:t>NOT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(</a:t>
            </a:r>
            <a:r>
              <a:rPr dirty="0" sz="1000">
                <a:solidFill>
                  <a:srgbClr val="22373A"/>
                </a:solidFill>
                <a:latin typeface="Georgia"/>
                <a:cs typeface="Georgia"/>
              </a:rPr>
              <a:t>AND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(</a:t>
            </a:r>
            <a:r>
              <a:rPr dirty="0" sz="1000">
                <a:solidFill>
                  <a:srgbClr val="22373A"/>
                </a:solidFill>
                <a:latin typeface="Georgia"/>
                <a:cs typeface="Georgia"/>
              </a:rPr>
              <a:t>AND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(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a</a:t>
            </a:r>
            <a:r>
              <a:rPr dirty="0" sz="1000" i="1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dirty="0" sz="1000" spc="-25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b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)</a:t>
            </a:r>
            <a:r>
              <a:rPr dirty="0" sz="1000" i="1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dirty="0" sz="1000" spc="170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Georgia"/>
                <a:cs typeface="Georgia"/>
              </a:rPr>
              <a:t>OR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(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c</a:t>
            </a:r>
            <a:r>
              <a:rPr dirty="0" sz="1000" i="1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dirty="0" sz="1000" spc="-30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0" i="1">
                <a:solidFill>
                  <a:srgbClr val="22373A"/>
                </a:solidFill>
                <a:latin typeface="Trebuchet MS"/>
                <a:cs typeface="Trebuchet MS"/>
              </a:rPr>
              <a:t>d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)))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000" spc="-70">
                <a:solidFill>
                  <a:srgbClr val="22373A"/>
                </a:solidFill>
                <a:latin typeface="Lucida Sans Unicode"/>
                <a:cs typeface="Lucida Sans Unicode"/>
              </a:rPr>
              <a:t>Target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Fault:</a:t>
            </a:r>
            <a:r>
              <a:rPr dirty="0" sz="1000" spc="6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Inner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AND-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gate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output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stuck-at-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0.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57288" y="944714"/>
          <a:ext cx="4531360" cy="1200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1470"/>
                <a:gridCol w="2091689"/>
                <a:gridCol w="2031365"/>
              </a:tblGrid>
              <a:tr h="2520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00" spc="-2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Step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43180">
                    <a:lnT w="1270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00" spc="-1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Objective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43180">
                    <a:lnT w="1270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31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0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PI</a:t>
                      </a:r>
                      <a:r>
                        <a:rPr dirty="0" sz="1000" spc="-2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65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Assignment</a:t>
                      </a:r>
                      <a:r>
                        <a:rPr dirty="0" sz="1000" spc="-15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&amp;</a:t>
                      </a:r>
                      <a:r>
                        <a:rPr dirty="0" sz="1000" spc="-15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2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State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43180">
                    <a:lnT w="1270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000" spc="-5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41275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Activate</a:t>
                      </a:r>
                      <a:r>
                        <a:rPr dirty="0" sz="1000" spc="-5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fault:</a:t>
                      </a:r>
                      <a:r>
                        <a:rPr dirty="0" sz="1000" spc="4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{</a:t>
                      </a:r>
                      <a:r>
                        <a:rPr dirty="0" sz="1000" spc="10" i="1">
                          <a:solidFill>
                            <a:srgbClr val="22373A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baseline="-11904" sz="1050" spc="1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1000" spc="10" i="1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000" spc="-60" i="1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1000" spc="-25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}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41275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 marR="31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000" spc="-2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[</a:t>
                      </a:r>
                      <a:r>
                        <a:rPr dirty="0" sz="1000" spc="-20" i="1">
                          <a:solidFill>
                            <a:srgbClr val="22373A"/>
                          </a:solidFill>
                          <a:latin typeface="Trebuchet MS"/>
                          <a:cs typeface="Trebuchet MS"/>
                        </a:rPr>
                        <a:t>a </a:t>
                      </a: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3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1]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41275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5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Continue activation:</a:t>
                      </a:r>
                      <a:r>
                        <a:rPr dirty="0" sz="1000" spc="10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{</a:t>
                      </a:r>
                      <a:r>
                        <a:rPr dirty="0" sz="1000" spc="10" i="1">
                          <a:solidFill>
                            <a:srgbClr val="22373A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baseline="-11904" sz="1050" spc="1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1000" spc="10" i="1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000" spc="-35" i="1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1000" spc="-25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}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marL="75565" marR="31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2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[</a:t>
                      </a:r>
                      <a:r>
                        <a:rPr dirty="0" sz="1000" spc="-20" i="1">
                          <a:solidFill>
                            <a:srgbClr val="22373A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000" spc="-15" i="1">
                          <a:solidFill>
                            <a:srgbClr val="22373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2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6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1000" spc="-65" i="1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000" spc="-55" i="1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solidFill>
                            <a:srgbClr val="22373A"/>
                          </a:solidFill>
                          <a:latin typeface="Trebuchet MS"/>
                          <a:cs typeface="Trebuchet MS"/>
                        </a:rPr>
                        <a:t>b</a:t>
                      </a:r>
                      <a:r>
                        <a:rPr dirty="0" sz="1000" spc="-15" i="1">
                          <a:solidFill>
                            <a:srgbClr val="22373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2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3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1]</a:t>
                      </a:r>
                      <a:r>
                        <a:rPr dirty="0" sz="1000" spc="-2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55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⇒</a:t>
                      </a:r>
                      <a:r>
                        <a:rPr dirty="0" sz="1000" spc="-3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Fault</a:t>
                      </a:r>
                      <a:r>
                        <a:rPr dirty="0" sz="1000" spc="-3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active</a:t>
                      </a:r>
                      <a:r>
                        <a:rPr dirty="0" sz="1000" spc="-3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000" spc="-25" i="1">
                          <a:solidFill>
                            <a:srgbClr val="22373A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dirty="0" sz="1000" spc="-2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2540"/>
                </a:tc>
              </a:tr>
              <a:tr h="171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5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Propagate</a:t>
                      </a:r>
                      <a:r>
                        <a:rPr dirty="0" sz="1000" spc="-5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via</a:t>
                      </a:r>
                      <a:r>
                        <a:rPr dirty="0" sz="1000" spc="-4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-5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(require</a:t>
                      </a:r>
                      <a:r>
                        <a:rPr dirty="0" sz="1000" spc="-5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OR=</a:t>
                      </a:r>
                      <a:r>
                        <a:rPr dirty="0" sz="1000" spc="-5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marL="75565" marR="31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2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[</a:t>
                      </a:r>
                      <a:r>
                        <a:rPr dirty="0" sz="1000" spc="-20" i="1">
                          <a:solidFill>
                            <a:srgbClr val="22373A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000" spc="-10" i="1">
                          <a:solidFill>
                            <a:srgbClr val="22373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1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6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1000" spc="-65" i="1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000" spc="-50" i="1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solidFill>
                            <a:srgbClr val="22373A"/>
                          </a:solidFill>
                          <a:latin typeface="Trebuchet MS"/>
                          <a:cs typeface="Trebuchet MS"/>
                        </a:rPr>
                        <a:t>b</a:t>
                      </a:r>
                      <a:r>
                        <a:rPr dirty="0" sz="1000" spc="-5" i="1">
                          <a:solidFill>
                            <a:srgbClr val="22373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1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7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1000" spc="-70" i="1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000" spc="-50" i="1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solidFill>
                            <a:srgbClr val="22373A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dirty="0" sz="1000" spc="-5" i="1">
                          <a:solidFill>
                            <a:srgbClr val="22373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1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1]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2540"/>
                </a:tc>
              </a:tr>
              <a:tr h="173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 spc="-5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 spc="-4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X-</a:t>
                      </a: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Path</a:t>
                      </a:r>
                      <a:r>
                        <a:rPr dirty="0" sz="1000" spc="-3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Check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Confirms</a:t>
                      </a:r>
                      <a:r>
                        <a:rPr dirty="0" sz="1000" spc="-3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PO</a:t>
                      </a:r>
                      <a:r>
                        <a:rPr dirty="0" sz="1000" spc="-2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6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000" spc="-60" i="1">
                          <a:solidFill>
                            <a:srgbClr val="22373A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dirty="0" sz="1000" spc="-6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)</a:t>
                      </a:r>
                      <a:r>
                        <a:rPr dirty="0" sz="1000" spc="-3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remains</a:t>
                      </a:r>
                      <a:r>
                        <a:rPr dirty="0" sz="1000" spc="-2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reachable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080"/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 spc="-5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Final</a:t>
                      </a:r>
                      <a:r>
                        <a:rPr dirty="0" sz="1000" spc="-15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Simulation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31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Output</a:t>
                      </a:r>
                      <a:r>
                        <a:rPr dirty="0" sz="1000" spc="-3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i="1">
                          <a:solidFill>
                            <a:srgbClr val="22373A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dirty="0" sz="1000" spc="-15" i="1">
                          <a:solidFill>
                            <a:srgbClr val="22373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3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90" i="1">
                          <a:solidFill>
                            <a:srgbClr val="22373A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dirty="0" baseline="13888" sz="1500" spc="-52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¯</a:t>
                      </a:r>
                      <a:r>
                        <a:rPr dirty="0" baseline="13888" sz="1500" spc="6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(Fault</a:t>
                      </a:r>
                      <a:r>
                        <a:rPr dirty="0" sz="1000" spc="-3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Detected)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9994" y="2296363"/>
          <a:ext cx="5116195" cy="580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4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Final </a:t>
                      </a:r>
                      <a:r>
                        <a:rPr dirty="0" sz="1000" spc="-7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Test</a:t>
                      </a:r>
                      <a:r>
                        <a:rPr dirty="0" sz="1000" spc="-3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Vector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41910" marR="493395">
                        <a:lnSpc>
                          <a:spcPts val="1370"/>
                        </a:lnSpc>
                        <a:spcBef>
                          <a:spcPts val="70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000" i="1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000" spc="-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70"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1000" spc="-70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000" spc="-4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dirty="0" sz="1000" spc="-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65"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1000" spc="-65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000" spc="-4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dirty="0" sz="1000" spc="-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70"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1000" spc="-70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000" spc="-4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i="1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dirty="0" sz="1000" spc="-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0" i="1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)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45">
                          <a:latin typeface="Tahoma"/>
                          <a:cs typeface="Tahoma"/>
                        </a:rPr>
                        <a:t>—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1-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bit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don’t-care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7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000" spc="-70" i="1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dirty="0" sz="1000" spc="-70">
                          <a:latin typeface="Tahoma"/>
                          <a:cs typeface="Tahoma"/>
                        </a:rPr>
                        <a:t>)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is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preserved,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demonstrating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algorithm</a:t>
                      </a:r>
                      <a:r>
                        <a:rPr dirty="0" sz="1000" spc="6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efficiency.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889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63700"/>
            <a:ext cx="150558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Limitations of</a:t>
            </a:r>
            <a:r>
              <a:rPr dirty="0" spc="-40"/>
              <a:t> </a:t>
            </a:r>
            <a:r>
              <a:rPr dirty="0" spc="-50"/>
              <a:t>PODEM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45"/>
              </a:spcBef>
            </a:pPr>
            <a:r>
              <a:rPr dirty="0" spc="-25"/>
              <a:t>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26993"/>
            <a:ext cx="4644390" cy="374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000" spc="-75">
                <a:solidFill>
                  <a:srgbClr val="22373A"/>
                </a:solidFill>
                <a:latin typeface="Lucida Sans Unicode"/>
                <a:cs typeface="Lucida Sans Unicode"/>
              </a:rPr>
              <a:t>The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Wall:</a:t>
            </a:r>
            <a:r>
              <a:rPr dirty="0" sz="1000" spc="10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While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PODEM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drastically reduces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search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space,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it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still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relies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blind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primary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input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assignments.</a:t>
            </a:r>
            <a:r>
              <a:rPr dirty="0" sz="1000" spc="9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This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creates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bottlenecks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modern,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complex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designs.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928725"/>
          <a:ext cx="5116195" cy="1032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4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Where </a:t>
                      </a:r>
                      <a:r>
                        <a:rPr dirty="0" sz="1000" spc="-6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PODEM</a:t>
                      </a:r>
                      <a:r>
                        <a:rPr dirty="0" sz="1000" spc="-4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struggles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842644">
                <a:tc>
                  <a:txBody>
                    <a:bodyPr/>
                    <a:lstStyle/>
                    <a:p>
                      <a:pPr marL="151765" marR="264160" indent="-99695">
                        <a:lnSpc>
                          <a:spcPct val="114599"/>
                        </a:lnSpc>
                        <a:spcBef>
                          <a:spcPts val="204"/>
                        </a:spcBef>
                        <a:buClr>
                          <a:srgbClr val="2C396B"/>
                        </a:buClr>
                        <a:buFont typeface="Tahoma"/>
                        <a:buChar char="•"/>
                        <a:tabLst>
                          <a:tab pos="151765" algn="l"/>
                        </a:tabLst>
                      </a:pPr>
                      <a:r>
                        <a:rPr dirty="0" sz="1000" spc="-50">
                          <a:latin typeface="Lucida Sans Unicode"/>
                          <a:cs typeface="Lucida Sans Unicode"/>
                        </a:rPr>
                        <a:t>Reconvergent</a:t>
                      </a:r>
                      <a:r>
                        <a:rPr dirty="0" sz="1000" spc="-3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40">
                          <a:latin typeface="Lucida Sans Unicode"/>
                          <a:cs typeface="Lucida Sans Unicode"/>
                        </a:rPr>
                        <a:t>Fanout:</a:t>
                      </a:r>
                      <a:r>
                        <a:rPr dirty="0" sz="1000" spc="9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When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 paths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split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rejoin,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assigning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an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input to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help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one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branch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often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inadvertently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sabotages the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other.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151765" indent="-99695">
                        <a:lnSpc>
                          <a:spcPct val="114599"/>
                        </a:lnSpc>
                        <a:spcBef>
                          <a:spcPts val="300"/>
                        </a:spcBef>
                        <a:buClr>
                          <a:srgbClr val="2C396B"/>
                        </a:buClr>
                        <a:buFont typeface="Tahoma"/>
                        <a:buChar char="•"/>
                        <a:tabLst>
                          <a:tab pos="151765" algn="l"/>
                        </a:tabLst>
                      </a:pPr>
                      <a:r>
                        <a:rPr dirty="0" sz="1000" spc="-40">
                          <a:latin typeface="Lucida Sans Unicode"/>
                          <a:cs typeface="Lucida Sans Unicode"/>
                        </a:rPr>
                        <a:t>Inefficient</a:t>
                      </a: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40">
                          <a:latin typeface="Lucida Sans Unicode"/>
                          <a:cs typeface="Lucida Sans Unicode"/>
                        </a:rPr>
                        <a:t>Backtracking:</a:t>
                      </a:r>
                      <a:r>
                        <a:rPr dirty="0" sz="1000" spc="9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PODEM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might discover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 conflict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deep inside the circuit,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but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it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is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forced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walk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all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way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back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primary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inputs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fix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it.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26034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9994" y="2114334"/>
          <a:ext cx="5116195" cy="731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7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The</a:t>
                      </a:r>
                      <a:r>
                        <a:rPr dirty="0" sz="1000" spc="-4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6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Next</a:t>
                      </a:r>
                      <a:r>
                        <a:rPr dirty="0" sz="1000" spc="-4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2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Step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541655">
                <a:tc>
                  <a:txBody>
                    <a:bodyPr/>
                    <a:lstStyle/>
                    <a:p>
                      <a:pPr algn="just" marL="41910" marR="241300">
                        <a:lnSpc>
                          <a:spcPts val="1370"/>
                        </a:lnSpc>
                        <a:spcBef>
                          <a:spcPts val="55"/>
                        </a:spcBef>
                      </a:pPr>
                      <a:r>
                        <a:rPr dirty="0" sz="1000" spc="-90"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 solve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these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inefficiencies,</a:t>
                      </a:r>
                      <a:r>
                        <a:rPr dirty="0" sz="1000" spc="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industry</a:t>
                      </a:r>
                      <a:r>
                        <a:rPr dirty="0" sz="1000" spc="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transitioned</a:t>
                      </a:r>
                      <a:r>
                        <a:rPr dirty="0" sz="10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35">
                          <a:latin typeface="Lucida Sans Unicode"/>
                          <a:cs typeface="Lucida Sans Unicode"/>
                        </a:rPr>
                        <a:t>FAN</a:t>
                      </a:r>
                      <a:r>
                        <a:rPr dirty="0" sz="1000" spc="5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65">
                          <a:latin typeface="Lucida Sans Unicode"/>
                          <a:cs typeface="Lucida Sans Unicode"/>
                        </a:rPr>
                        <a:t>(Fan-</a:t>
                      </a:r>
                      <a:r>
                        <a:rPr dirty="0" sz="1000" spc="-70">
                          <a:latin typeface="Lucida Sans Unicode"/>
                          <a:cs typeface="Lucida Sans Unicode"/>
                        </a:rPr>
                        <a:t>out</a:t>
                      </a:r>
                      <a:r>
                        <a:rPr dirty="0" sz="1000" spc="1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45">
                          <a:latin typeface="Lucida Sans Unicode"/>
                          <a:cs typeface="Lucida Sans Unicode"/>
                        </a:rPr>
                        <a:t>Oriented</a:t>
                      </a:r>
                      <a:r>
                        <a:rPr dirty="0" sz="1000" spc="1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20">
                          <a:latin typeface="Lucida Sans Unicode"/>
                          <a:cs typeface="Lucida Sans Unicode"/>
                        </a:rPr>
                        <a:t>Test </a:t>
                      </a:r>
                      <a:r>
                        <a:rPr dirty="0" sz="1000" spc="-45">
                          <a:latin typeface="Lucida Sans Unicode"/>
                          <a:cs typeface="Lucida Sans Unicode"/>
                        </a:rPr>
                        <a:t>Generation)</a:t>
                      </a:r>
                      <a:r>
                        <a:rPr dirty="0" sz="1000" spc="-45">
                          <a:latin typeface="Tahoma"/>
                          <a:cs typeface="Tahoma"/>
                        </a:rPr>
                        <a:t>,</a:t>
                      </a:r>
                      <a:r>
                        <a:rPr dirty="0" sz="1000" spc="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which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stops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backtracing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at</a:t>
                      </a:r>
                      <a:r>
                        <a:rPr dirty="0" sz="1000" spc="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internal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”headlines”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catch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conflicts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much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earlier.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6985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20"/>
              <a:t>FAN</a:t>
            </a:r>
            <a:r>
              <a:rPr dirty="0" spc="-30"/>
              <a:t> </a:t>
            </a:r>
            <a:r>
              <a:rPr dirty="0" spc="-265"/>
              <a:t>—</a:t>
            </a:r>
            <a:r>
              <a:rPr dirty="0" spc="-30"/>
              <a:t> </a:t>
            </a:r>
            <a:r>
              <a:rPr dirty="0" spc="-70"/>
              <a:t>Fanout-</a:t>
            </a:r>
            <a:r>
              <a:rPr dirty="0" spc="-65"/>
              <a:t>Oriented</a:t>
            </a:r>
            <a:r>
              <a:rPr dirty="0" spc="-30"/>
              <a:t> </a:t>
            </a:r>
            <a:r>
              <a:rPr dirty="0" spc="-55"/>
              <a:t>Algorithm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45"/>
              </a:spcBef>
            </a:pPr>
            <a:r>
              <a:rPr dirty="0" spc="-25"/>
              <a:t>12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78502"/>
            <a:ext cx="4729480" cy="21266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Building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on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60">
                <a:solidFill>
                  <a:srgbClr val="22373A"/>
                </a:solidFill>
                <a:latin typeface="Lucida Sans Unicode"/>
                <a:cs typeface="Lucida Sans Unicode"/>
              </a:rPr>
              <a:t>PODEM,</a:t>
            </a:r>
            <a:r>
              <a:rPr dirty="0" sz="1000" spc="-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FAN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further reduces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backtracking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by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exploiting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circuit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topology.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00">
              <a:latin typeface="Tahoma"/>
              <a:cs typeface="Tahoma"/>
            </a:endParaRPr>
          </a:p>
          <a:p>
            <a:pPr marL="163830" indent="-99060">
              <a:lnSpc>
                <a:spcPct val="100000"/>
              </a:lnSpc>
              <a:spcBef>
                <a:spcPts val="5"/>
              </a:spcBef>
              <a:buClr>
                <a:srgbClr val="2C396B"/>
              </a:buClr>
              <a:buFont typeface="Tahoma"/>
              <a:buChar char="•"/>
              <a:tabLst>
                <a:tab pos="163830" algn="l"/>
              </a:tabLst>
            </a:pPr>
            <a:r>
              <a:rPr dirty="0" sz="1000" spc="-95">
                <a:solidFill>
                  <a:srgbClr val="22373A"/>
                </a:solidFill>
                <a:latin typeface="Lucida Sans Unicode"/>
                <a:cs typeface="Lucida Sans Unicode"/>
              </a:rPr>
              <a:t>FAN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Algorithm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(Fujiwara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&amp;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Shimono,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1983)</a:t>
            </a:r>
            <a:endParaRPr sz="1000">
              <a:latin typeface="Tahoma"/>
              <a:cs typeface="Tahoma"/>
            </a:endParaRPr>
          </a:p>
          <a:p>
            <a:pPr marL="163830" indent="-99060">
              <a:lnSpc>
                <a:spcPct val="100000"/>
              </a:lnSpc>
              <a:spcBef>
                <a:spcPts val="470"/>
              </a:spcBef>
              <a:buClr>
                <a:srgbClr val="2C396B"/>
              </a:buClr>
              <a:buFont typeface="Tahoma"/>
              <a:buChar char="•"/>
              <a:tabLst>
                <a:tab pos="163830" algn="l"/>
              </a:tabLst>
            </a:pPr>
            <a:r>
              <a:rPr dirty="0" sz="1000" spc="-95">
                <a:solidFill>
                  <a:srgbClr val="22373A"/>
                </a:solidFill>
                <a:latin typeface="Lucida Sans Unicode"/>
                <a:cs typeface="Lucida Sans Unicode"/>
              </a:rPr>
              <a:t>FAN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05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60">
                <a:solidFill>
                  <a:srgbClr val="22373A"/>
                </a:solidFill>
                <a:latin typeface="Lucida Sans Unicode"/>
                <a:cs typeface="Lucida Sans Unicode"/>
              </a:rPr>
              <a:t>Fanout-</a:t>
            </a: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Oriented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Algorithm</a:t>
            </a:r>
            <a:endParaRPr sz="1000">
              <a:latin typeface="Lucida Sans Unicode"/>
              <a:cs typeface="Lucida Sans Unicode"/>
            </a:endParaRPr>
          </a:p>
          <a:p>
            <a:pPr marL="164465">
              <a:lnSpc>
                <a:spcPct val="100000"/>
              </a:lnSpc>
              <a:spcBef>
                <a:spcPts val="175"/>
              </a:spcBef>
            </a:pP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Designed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reduce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backtracking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ATPG</a:t>
            </a:r>
            <a:endParaRPr sz="1000">
              <a:latin typeface="Tahoma"/>
              <a:cs typeface="Tahoma"/>
            </a:endParaRPr>
          </a:p>
          <a:p>
            <a:pPr marL="163830" indent="-99060">
              <a:lnSpc>
                <a:spcPct val="100000"/>
              </a:lnSpc>
              <a:spcBef>
                <a:spcPts val="475"/>
              </a:spcBef>
              <a:buClr>
                <a:srgbClr val="2C396B"/>
              </a:buClr>
              <a:buFont typeface="Tahoma"/>
              <a:buChar char="•"/>
              <a:tabLst>
                <a:tab pos="163830" algn="l"/>
              </a:tabLst>
            </a:pP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Improves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over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60">
                <a:solidFill>
                  <a:srgbClr val="22373A"/>
                </a:solidFill>
                <a:latin typeface="Lucida Sans Unicode"/>
                <a:cs typeface="Lucida Sans Unicode"/>
              </a:rPr>
              <a:t>D-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Algorithm</a:t>
            </a:r>
            <a:endParaRPr sz="1000">
              <a:latin typeface="Lucida Sans Unicode"/>
              <a:cs typeface="Lucida Sans Unicode"/>
            </a:endParaRPr>
          </a:p>
          <a:p>
            <a:pPr marL="164465">
              <a:lnSpc>
                <a:spcPct val="100000"/>
              </a:lnSpc>
              <a:spcBef>
                <a:spcPts val="175"/>
              </a:spcBef>
            </a:pP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Uses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circuit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structure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guide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search</a:t>
            </a:r>
            <a:endParaRPr sz="1000">
              <a:latin typeface="Tahoma"/>
              <a:cs typeface="Tahoma"/>
            </a:endParaRPr>
          </a:p>
          <a:p>
            <a:pPr marL="163830" indent="-99060">
              <a:lnSpc>
                <a:spcPct val="100000"/>
              </a:lnSpc>
              <a:spcBef>
                <a:spcPts val="360"/>
              </a:spcBef>
              <a:buClr>
                <a:srgbClr val="2C396B"/>
              </a:buClr>
              <a:buFont typeface="Tahoma"/>
              <a:buChar char="•"/>
              <a:tabLst>
                <a:tab pos="163830" algn="l"/>
              </a:tabLst>
            </a:pP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Classifies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circuit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wires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into:</a:t>
            </a:r>
            <a:endParaRPr sz="1000">
              <a:latin typeface="Lucida Sans Unicode"/>
              <a:cs typeface="Lucida Sans Unicode"/>
            </a:endParaRPr>
          </a:p>
          <a:p>
            <a:pPr lvl="1" marL="418465" indent="-123825">
              <a:lnSpc>
                <a:spcPct val="100000"/>
              </a:lnSpc>
              <a:spcBef>
                <a:spcPts val="360"/>
              </a:spcBef>
              <a:buClr>
                <a:srgbClr val="6C7988"/>
              </a:buClr>
              <a:buChar char="–"/>
              <a:tabLst>
                <a:tab pos="418465" algn="l"/>
              </a:tabLst>
            </a:pP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Fanout</a:t>
            </a:r>
            <a:r>
              <a:rPr dirty="0" sz="900" spc="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points</a:t>
            </a:r>
            <a:r>
              <a:rPr dirty="0" sz="900" spc="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 spc="65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dirty="0" sz="900" spc="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signal</a:t>
            </a:r>
            <a:r>
              <a:rPr dirty="0" sz="900" spc="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splits</a:t>
            </a:r>
            <a:r>
              <a:rPr dirty="0" sz="900" spc="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into</a:t>
            </a:r>
            <a:r>
              <a:rPr dirty="0" sz="900" spc="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multiple</a:t>
            </a:r>
            <a:r>
              <a:rPr dirty="0" sz="900" spc="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Tahoma"/>
                <a:cs typeface="Tahoma"/>
              </a:rPr>
              <a:t>paths</a:t>
            </a:r>
            <a:endParaRPr sz="900">
              <a:latin typeface="Tahoma"/>
              <a:cs typeface="Tahoma"/>
            </a:endParaRPr>
          </a:p>
          <a:p>
            <a:pPr lvl="1" marL="418465" indent="-123825">
              <a:lnSpc>
                <a:spcPct val="100000"/>
              </a:lnSpc>
              <a:spcBef>
                <a:spcPts val="180"/>
              </a:spcBef>
              <a:buClr>
                <a:srgbClr val="6C7988"/>
              </a:buClr>
              <a:buChar char="–"/>
              <a:tabLst>
                <a:tab pos="418465" algn="l"/>
              </a:tabLst>
            </a:pP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Bound</a:t>
            </a:r>
            <a:r>
              <a:rPr dirty="0" sz="9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lines</a:t>
            </a:r>
            <a:r>
              <a:rPr dirty="0" sz="9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 spc="65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dirty="0" sz="900" spc="-1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affected</a:t>
            </a:r>
            <a:r>
              <a:rPr dirty="0" sz="9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by</a:t>
            </a:r>
            <a:r>
              <a:rPr dirty="0" sz="9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Tahoma"/>
                <a:cs typeface="Tahoma"/>
              </a:rPr>
              <a:t>reconvergence</a:t>
            </a:r>
            <a:endParaRPr sz="900">
              <a:latin typeface="Tahoma"/>
              <a:cs typeface="Tahoma"/>
            </a:endParaRPr>
          </a:p>
          <a:p>
            <a:pPr lvl="1" marL="418465" indent="-123825">
              <a:lnSpc>
                <a:spcPct val="100000"/>
              </a:lnSpc>
              <a:spcBef>
                <a:spcPts val="180"/>
              </a:spcBef>
              <a:buClr>
                <a:srgbClr val="6C7988"/>
              </a:buClr>
              <a:buChar char="–"/>
              <a:tabLst>
                <a:tab pos="418465" algn="l"/>
              </a:tabLst>
            </a:pPr>
            <a:r>
              <a:rPr dirty="0" sz="900" spc="-20">
                <a:solidFill>
                  <a:srgbClr val="22373A"/>
                </a:solidFill>
                <a:latin typeface="Tahoma"/>
                <a:cs typeface="Tahoma"/>
              </a:rPr>
              <a:t>Free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 lines </a:t>
            </a:r>
            <a:r>
              <a:rPr dirty="0" sz="900" spc="65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dirty="0" sz="90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no </a:t>
            </a:r>
            <a:r>
              <a:rPr dirty="0" sz="900" spc="-10">
                <a:solidFill>
                  <a:srgbClr val="22373A"/>
                </a:solidFill>
                <a:latin typeface="Tahoma"/>
                <a:cs typeface="Tahoma"/>
              </a:rPr>
              <a:t>reconvergence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Tahoma"/>
                <a:cs typeface="Tahoma"/>
              </a:rPr>
              <a:t>(easy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 to </a:t>
            </a:r>
            <a:r>
              <a:rPr dirty="0" sz="900" spc="-10">
                <a:solidFill>
                  <a:srgbClr val="22373A"/>
                </a:solidFill>
                <a:latin typeface="Tahoma"/>
                <a:cs typeface="Tahoma"/>
              </a:rPr>
              <a:t>handle)</a:t>
            </a:r>
            <a:endParaRPr sz="900">
              <a:latin typeface="Tahoma"/>
              <a:cs typeface="Tahoma"/>
            </a:endParaRPr>
          </a:p>
          <a:p>
            <a:pPr lvl="1" marL="418465" indent="-123825">
              <a:lnSpc>
                <a:spcPct val="100000"/>
              </a:lnSpc>
              <a:spcBef>
                <a:spcPts val="180"/>
              </a:spcBef>
              <a:buClr>
                <a:srgbClr val="6C7988"/>
              </a:buClr>
              <a:buChar char="–"/>
              <a:tabLst>
                <a:tab pos="418465" algn="l"/>
              </a:tabLst>
            </a:pP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Headlines</a:t>
            </a:r>
            <a:r>
              <a:rPr dirty="0" sz="9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 spc="65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dirty="0" sz="90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boundary</a:t>
            </a:r>
            <a:r>
              <a:rPr dirty="0" sz="9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where backtracking</a:t>
            </a:r>
            <a:r>
              <a:rPr dirty="0" sz="9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2373A"/>
                </a:solidFill>
                <a:latin typeface="Tahoma"/>
                <a:cs typeface="Tahoma"/>
              </a:rPr>
              <a:t>is </a:t>
            </a:r>
            <a:r>
              <a:rPr dirty="0" sz="900" spc="-10">
                <a:solidFill>
                  <a:srgbClr val="22373A"/>
                </a:solidFill>
                <a:latin typeface="Tahoma"/>
                <a:cs typeface="Tahoma"/>
              </a:rPr>
              <a:t>limited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63700"/>
            <a:ext cx="106045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5"/>
              <a:t>Working</a:t>
            </a:r>
            <a:r>
              <a:rPr dirty="0" spc="-55"/>
              <a:t> </a:t>
            </a:r>
            <a:r>
              <a:rPr dirty="0" spc="-45"/>
              <a:t>of</a:t>
            </a:r>
            <a:r>
              <a:rPr dirty="0" spc="-50"/>
              <a:t> </a:t>
            </a:r>
            <a:r>
              <a:rPr dirty="0" spc="-85"/>
              <a:t>FAN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45"/>
              </a:spcBef>
            </a:pPr>
            <a:r>
              <a:rPr dirty="0" spc="-25"/>
              <a:t>13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9554" y="408908"/>
            <a:ext cx="3710304" cy="1802764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11760" indent="-99060">
              <a:lnSpc>
                <a:spcPct val="100000"/>
              </a:lnSpc>
              <a:spcBef>
                <a:spcPts val="275"/>
              </a:spcBef>
              <a:buClr>
                <a:srgbClr val="2C396B"/>
              </a:buClr>
              <a:buFont typeface="Tahoma"/>
              <a:buChar char="•"/>
              <a:tabLst>
                <a:tab pos="111760" algn="l"/>
              </a:tabLst>
            </a:pP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Fault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65">
                <a:solidFill>
                  <a:srgbClr val="22373A"/>
                </a:solidFill>
                <a:latin typeface="Lucida Sans Unicode"/>
                <a:cs typeface="Lucida Sans Unicode"/>
              </a:rPr>
              <a:t>Assignment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Lucida Sans Unicode"/>
                <a:cs typeface="Lucida Sans Unicode"/>
              </a:rPr>
              <a:t>&amp;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Implication</a:t>
            </a:r>
            <a:endParaRPr sz="1000">
              <a:latin typeface="Lucida Sans Unicode"/>
              <a:cs typeface="Lucida Sans Unicode"/>
            </a:endParaRPr>
          </a:p>
          <a:p>
            <a:pPr marL="111760">
              <a:lnSpc>
                <a:spcPct val="100000"/>
              </a:lnSpc>
              <a:spcBef>
                <a:spcPts val="175"/>
              </a:spcBef>
            </a:pP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Assign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propagate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values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forward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125">
                <a:solidFill>
                  <a:srgbClr val="22373A"/>
                </a:solidFill>
                <a:latin typeface="Tahoma"/>
                <a:cs typeface="Tahoma"/>
              </a:rPr>
              <a:t>/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backward</a:t>
            </a:r>
            <a:endParaRPr sz="1000">
              <a:latin typeface="Tahoma"/>
              <a:cs typeface="Tahoma"/>
            </a:endParaRPr>
          </a:p>
          <a:p>
            <a:pPr marL="111760" indent="-99060">
              <a:lnSpc>
                <a:spcPct val="100000"/>
              </a:lnSpc>
              <a:spcBef>
                <a:spcPts val="235"/>
              </a:spcBef>
              <a:buClr>
                <a:srgbClr val="2C396B"/>
              </a:buClr>
              <a:buFont typeface="Tahoma"/>
              <a:buChar char="•"/>
              <a:tabLst>
                <a:tab pos="111760" algn="l"/>
              </a:tabLst>
            </a:pP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Unique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Sensitisation</a:t>
            </a:r>
            <a:endParaRPr sz="1000">
              <a:latin typeface="Lucida Sans Unicode"/>
              <a:cs typeface="Lucida Sans Unicode"/>
            </a:endParaRPr>
          </a:p>
          <a:p>
            <a:pPr marL="111760">
              <a:lnSpc>
                <a:spcPct val="100000"/>
              </a:lnSpc>
              <a:spcBef>
                <a:spcPts val="175"/>
              </a:spcBef>
            </a:pP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If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only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one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exists,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assign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non-controlling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values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directly</a:t>
            </a:r>
            <a:endParaRPr sz="1000">
              <a:latin typeface="Tahoma"/>
              <a:cs typeface="Tahoma"/>
            </a:endParaRPr>
          </a:p>
          <a:p>
            <a:pPr marL="111760" indent="-99060">
              <a:lnSpc>
                <a:spcPct val="100000"/>
              </a:lnSpc>
              <a:spcBef>
                <a:spcPts val="235"/>
              </a:spcBef>
              <a:buClr>
                <a:srgbClr val="2C396B"/>
              </a:buClr>
              <a:buFont typeface="Tahoma"/>
              <a:buChar char="•"/>
              <a:tabLst>
                <a:tab pos="111760" algn="l"/>
              </a:tabLst>
            </a:pP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Multiple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Backtrace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(Smart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Decision)</a:t>
            </a:r>
            <a:endParaRPr sz="1000">
              <a:latin typeface="Tahoma"/>
              <a:cs typeface="Tahoma"/>
            </a:endParaRPr>
          </a:p>
          <a:p>
            <a:pPr marL="111760">
              <a:lnSpc>
                <a:spcPct val="100000"/>
              </a:lnSpc>
              <a:spcBef>
                <a:spcPts val="175"/>
              </a:spcBef>
            </a:pP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Uses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voting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45">
                <a:solidFill>
                  <a:srgbClr val="22373A"/>
                </a:solidFill>
                <a:latin typeface="Tahoma"/>
                <a:cs typeface="Tahoma"/>
              </a:rPr>
              <a:t>+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SCOAP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choose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best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input</a:t>
            </a:r>
            <a:endParaRPr sz="1000">
              <a:latin typeface="Tahoma"/>
              <a:cs typeface="Tahoma"/>
            </a:endParaRPr>
          </a:p>
          <a:p>
            <a:pPr marL="111760" indent="-99060">
              <a:lnSpc>
                <a:spcPct val="100000"/>
              </a:lnSpc>
              <a:spcBef>
                <a:spcPts val="240"/>
              </a:spcBef>
              <a:buClr>
                <a:srgbClr val="2C396B"/>
              </a:buClr>
              <a:buFont typeface="Tahoma"/>
              <a:buChar char="•"/>
              <a:tabLst>
                <a:tab pos="111760" algn="l"/>
              </a:tabLst>
            </a:pPr>
            <a:r>
              <a:rPr dirty="0" sz="1000" spc="-105">
                <a:solidFill>
                  <a:srgbClr val="22373A"/>
                </a:solidFill>
                <a:latin typeface="Lucida Sans Unicode"/>
                <a:cs typeface="Lucida Sans Unicode"/>
              </a:rPr>
              <a:t>X-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Path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Check</a:t>
            </a:r>
            <a:endParaRPr sz="1000">
              <a:latin typeface="Lucida Sans Unicode"/>
              <a:cs typeface="Lucida Sans Unicode"/>
            </a:endParaRPr>
          </a:p>
          <a:p>
            <a:pPr marL="111760">
              <a:lnSpc>
                <a:spcPct val="100000"/>
              </a:lnSpc>
              <a:spcBef>
                <a:spcPts val="175"/>
              </a:spcBef>
            </a:pP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Avoids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that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cannot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reach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output</a:t>
            </a:r>
            <a:endParaRPr sz="1000">
              <a:latin typeface="Tahoma"/>
              <a:cs typeface="Tahoma"/>
            </a:endParaRPr>
          </a:p>
          <a:p>
            <a:pPr marL="111760" indent="-99060">
              <a:lnSpc>
                <a:spcPct val="100000"/>
              </a:lnSpc>
              <a:spcBef>
                <a:spcPts val="235"/>
              </a:spcBef>
              <a:buClr>
                <a:srgbClr val="2C396B"/>
              </a:buClr>
              <a:buFont typeface="Tahoma"/>
              <a:buChar char="•"/>
              <a:tabLst>
                <a:tab pos="111760" algn="l"/>
              </a:tabLst>
            </a:pP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Free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Line</a:t>
            </a:r>
            <a:r>
              <a:rPr dirty="0" sz="1000" spc="-1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Justification</a:t>
            </a:r>
            <a:endParaRPr sz="1000">
              <a:latin typeface="Lucida Sans Unicode"/>
              <a:cs typeface="Lucida Sans Unicode"/>
            </a:endParaRPr>
          </a:p>
          <a:p>
            <a:pPr marL="111760">
              <a:lnSpc>
                <a:spcPct val="100000"/>
              </a:lnSpc>
              <a:spcBef>
                <a:spcPts val="175"/>
              </a:spcBef>
            </a:pP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1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Solve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simple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regions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without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backtracking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2331529"/>
          <a:ext cx="5116195" cy="544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75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The</a:t>
                      </a:r>
                      <a:r>
                        <a:rPr dirty="0" sz="1000" spc="-15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5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classical-</a:t>
                      </a:r>
                      <a:r>
                        <a:rPr dirty="0" sz="1000" spc="-9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ATPG</a:t>
                      </a:r>
                      <a:r>
                        <a:rPr dirty="0" sz="1000" spc="-1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 ceiling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3549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Even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with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FAN’s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heuristics,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runtime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grows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super-linearly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with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circuit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size.</a:t>
                      </a:r>
                      <a:r>
                        <a:rPr dirty="0" sz="1000" spc="1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Industrial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tools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are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FAN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descendants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remain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bottleneck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modern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test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flows.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16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63700"/>
            <a:ext cx="218821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Motivation:</a:t>
            </a:r>
            <a:r>
              <a:rPr dirty="0" spc="45"/>
              <a:t> </a:t>
            </a:r>
            <a:r>
              <a:rPr dirty="0" spc="-60"/>
              <a:t>Why </a:t>
            </a:r>
            <a:r>
              <a:rPr dirty="0" spc="-55"/>
              <a:t>we</a:t>
            </a:r>
            <a:r>
              <a:rPr dirty="0" spc="-60"/>
              <a:t> </a:t>
            </a:r>
            <a:r>
              <a:rPr dirty="0" spc="-45"/>
              <a:t>need</a:t>
            </a:r>
            <a:r>
              <a:rPr dirty="0" spc="-65"/>
              <a:t> </a:t>
            </a:r>
            <a:r>
              <a:rPr dirty="0" spc="-35"/>
              <a:t>ATPP?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795" y="2978501"/>
            <a:ext cx="3498850" cy="20447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u="sng" sz="10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Click</a:t>
            </a:r>
            <a:r>
              <a:rPr dirty="0" u="sng" sz="1000" spc="-5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dirty="0" u="sng" sz="10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here</a:t>
            </a:r>
            <a:r>
              <a:rPr dirty="0" u="sng" sz="1000" spc="-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dirty="0" u="sng" sz="10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to</a:t>
            </a:r>
            <a:r>
              <a:rPr dirty="0" u="sng" sz="1000" spc="-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dirty="0" u="sng" sz="10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view</a:t>
            </a:r>
            <a:r>
              <a:rPr dirty="0" u="sng" sz="1000" spc="-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dirty="0" u="sng" sz="1000" spc="-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ATPG</a:t>
            </a:r>
            <a:r>
              <a:rPr dirty="0" u="sng" sz="1000" spc="-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dirty="0" u="sng" sz="1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vs.</a:t>
            </a:r>
            <a:r>
              <a:rPr dirty="0" u="sng" sz="1000" spc="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dirty="0" u="sng" sz="1000" spc="-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ATPP</a:t>
            </a:r>
            <a:r>
              <a:rPr dirty="0" u="sng" sz="1000" spc="-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dirty="0" u="sng" sz="10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Search</a:t>
            </a:r>
            <a:r>
              <a:rPr dirty="0" u="sng" sz="1000" spc="-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dirty="0" u="sng" sz="10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Complexity</a:t>
            </a:r>
            <a:r>
              <a:rPr dirty="0" u="sng" sz="1000" spc="-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dirty="0" u="sng" sz="1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Animation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140"/>
              </a:spcBef>
            </a:pPr>
            <a:r>
              <a:rPr dirty="0" spc="-25"/>
              <a:t>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27348"/>
            <a:ext cx="2545715" cy="1748789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75">
                <a:solidFill>
                  <a:srgbClr val="22373A"/>
                </a:solidFill>
                <a:latin typeface="Lucida Sans Unicode"/>
                <a:cs typeface="Lucida Sans Unicode"/>
              </a:rPr>
              <a:t>The</a:t>
            </a: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Old 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Way:</a:t>
            </a:r>
            <a:r>
              <a:rPr dirty="0" sz="1000" spc="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Classical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Search</a:t>
            </a:r>
            <a:endParaRPr sz="1000">
              <a:latin typeface="Lucida Sans Unicode"/>
              <a:cs typeface="Lucida Sans Unicode"/>
            </a:endParaRPr>
          </a:p>
          <a:p>
            <a:pPr marL="164465" marR="508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Signals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split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rejoin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due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to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reconvergence.</a:t>
            </a:r>
            <a:r>
              <a:rPr dirty="0" sz="1000" spc="8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choice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made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at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one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gate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often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breaks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requirement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at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another.</a:t>
            </a:r>
            <a:endParaRPr sz="1000">
              <a:latin typeface="Tahoma"/>
              <a:cs typeface="Tahoma"/>
            </a:endParaRPr>
          </a:p>
          <a:p>
            <a:pPr algn="just" marL="164465" marR="319405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algorithm is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forced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backtrack,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undoing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its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work and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guessing again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thousands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times.</a:t>
            </a:r>
            <a:endParaRPr sz="1000">
              <a:latin typeface="Tahoma"/>
              <a:cs typeface="Tahoma"/>
            </a:endParaRPr>
          </a:p>
          <a:p>
            <a:pPr algn="just" marL="164465" marR="2286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Computation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time</a:t>
            </a:r>
            <a:r>
              <a:rPr dirty="0" sz="1000" spc="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explodes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exponentially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as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chips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get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more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complex.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8117" y="327348"/>
            <a:ext cx="2439670" cy="157416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75">
                <a:solidFill>
                  <a:srgbClr val="22373A"/>
                </a:solidFill>
                <a:latin typeface="Lucida Sans Unicode"/>
                <a:cs typeface="Lucida Sans Unicode"/>
              </a:rPr>
              <a:t>The</a:t>
            </a: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New</a:t>
            </a: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Way: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60">
                <a:solidFill>
                  <a:srgbClr val="22373A"/>
                </a:solidFill>
                <a:latin typeface="Lucida Sans Unicode"/>
                <a:cs typeface="Lucida Sans Unicode"/>
              </a:rPr>
              <a:t>ATPP</a:t>
            </a: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Prediction</a:t>
            </a:r>
            <a:endParaRPr sz="1000">
              <a:latin typeface="Lucida Sans Unicode"/>
              <a:cs typeface="Lucida Sans Unicode"/>
            </a:endParaRPr>
          </a:p>
          <a:p>
            <a:pPr marL="164465" marR="3683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Instead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guessing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checking,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we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analyze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circuit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structure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whole.</a:t>
            </a:r>
            <a:endParaRPr sz="1000">
              <a:latin typeface="Tahoma"/>
              <a:cs typeface="Tahoma"/>
            </a:endParaRPr>
          </a:p>
          <a:p>
            <a:pPr marL="164465" marR="508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neural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network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outputs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entire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test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pattern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 a single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forward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pass.</a:t>
            </a:r>
            <a:endParaRPr sz="1000">
              <a:latin typeface="Tahoma"/>
              <a:cs typeface="Tahoma"/>
            </a:endParaRPr>
          </a:p>
          <a:p>
            <a:pPr marL="164465" marR="155575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Eliminating backtracking keeps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the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runtime flat and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predictable,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even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for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deep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logic.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9994" y="2253741"/>
          <a:ext cx="5116195" cy="5695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7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From</a:t>
                      </a:r>
                      <a:r>
                        <a:rPr dirty="0" sz="1000" spc="-3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Search</a:t>
                      </a:r>
                      <a:r>
                        <a:rPr dirty="0" sz="1000" spc="-3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4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to</a:t>
                      </a:r>
                      <a:r>
                        <a:rPr dirty="0" sz="1000" spc="-3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Intelligence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Traditional </a:t>
                      </a:r>
                      <a:r>
                        <a:rPr dirty="0" sz="1000" spc="-55">
                          <a:latin typeface="Tahoma"/>
                          <a:cs typeface="Tahoma"/>
                        </a:rPr>
                        <a:t>ATPG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burns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time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blind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search.</a:t>
                      </a:r>
                      <a:r>
                        <a:rPr dirty="0" sz="1000" spc="1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DETECTive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uses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machine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learning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to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understand</a:t>
                      </a:r>
                      <a:r>
                        <a:rPr dirty="0" sz="1000" spc="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circuit</a:t>
                      </a:r>
                      <a:r>
                        <a:rPr dirty="0" sz="10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intent,</a:t>
                      </a:r>
                      <a:r>
                        <a:rPr dirty="0" sz="10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replacing</a:t>
                      </a:r>
                      <a:r>
                        <a:rPr dirty="0" sz="10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millions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guesses</a:t>
                      </a:r>
                      <a:r>
                        <a:rPr dirty="0" sz="1000" spc="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with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one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smart</a:t>
                      </a:r>
                      <a:r>
                        <a:rPr dirty="0" sz="10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prediction.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16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5524" y="1325940"/>
            <a:ext cx="230251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solidFill>
                  <a:srgbClr val="22373A"/>
                </a:solidFill>
                <a:latin typeface="Lucida Sans Unicode"/>
                <a:cs typeface="Lucida Sans Unicode"/>
                <a:hlinkClick r:id="rId2" action="ppaction://hlinksldjump"/>
              </a:rPr>
              <a:t>Block</a:t>
            </a:r>
            <a:r>
              <a:rPr dirty="0" sz="1400" spc="-60">
                <a:solidFill>
                  <a:srgbClr val="22373A"/>
                </a:solidFill>
                <a:latin typeface="Lucida Sans Unicode"/>
                <a:cs typeface="Lucida Sans Unicode"/>
                <a:hlinkClick r:id="rId2" action="ppaction://hlinksldjump"/>
              </a:rPr>
              <a:t> </a:t>
            </a:r>
            <a:r>
              <a:rPr dirty="0" sz="1400" spc="-185">
                <a:solidFill>
                  <a:srgbClr val="22373A"/>
                </a:solidFill>
                <a:latin typeface="Lucida Sans Unicode"/>
                <a:cs typeface="Lucida Sans Unicode"/>
                <a:hlinkClick r:id="rId2" action="ppaction://hlinksldjump"/>
              </a:rPr>
              <a:t>2</a:t>
            </a:r>
            <a:r>
              <a:rPr dirty="0" sz="1400" spc="-60">
                <a:solidFill>
                  <a:srgbClr val="22373A"/>
                </a:solidFill>
                <a:latin typeface="Lucida Sans Unicode"/>
                <a:cs typeface="Lucida Sans Unicode"/>
                <a:hlinkClick r:id="rId2" action="ppaction://hlinksldjump"/>
              </a:rPr>
              <a:t> </a:t>
            </a:r>
            <a:r>
              <a:rPr dirty="0" sz="1400" spc="-280">
                <a:solidFill>
                  <a:srgbClr val="22373A"/>
                </a:solidFill>
                <a:latin typeface="Lucida Sans Unicode"/>
                <a:cs typeface="Lucida Sans Unicode"/>
                <a:hlinkClick r:id="rId2" action="ppaction://hlinksldjump"/>
              </a:rPr>
              <a:t>—</a:t>
            </a:r>
            <a:r>
              <a:rPr dirty="0" sz="1400" spc="-60">
                <a:solidFill>
                  <a:srgbClr val="22373A"/>
                </a:solidFill>
                <a:latin typeface="Lucida Sans Unicode"/>
                <a:cs typeface="Lucida Sans Unicode"/>
                <a:hlinkClick r:id="rId2" action="ppaction://hlinksldjump"/>
              </a:rPr>
              <a:t> </a:t>
            </a:r>
            <a:r>
              <a:rPr dirty="0" sz="1400" spc="-75">
                <a:solidFill>
                  <a:srgbClr val="22373A"/>
                </a:solidFill>
                <a:latin typeface="Lucida Sans Unicode"/>
                <a:cs typeface="Lucida Sans Unicode"/>
                <a:hlinkClick r:id="rId2" action="ppaction://hlinksldjump"/>
              </a:rPr>
              <a:t>ATPP</a:t>
            </a:r>
            <a:r>
              <a:rPr dirty="0" sz="1400" spc="-60">
                <a:solidFill>
                  <a:srgbClr val="22373A"/>
                </a:solidFill>
                <a:latin typeface="Lucida Sans Unicode"/>
                <a:cs typeface="Lucida Sans Unicode"/>
                <a:hlinkClick r:id="rId2" action="ppaction://hlinksldjump"/>
              </a:rPr>
              <a:t> </a:t>
            </a:r>
            <a:r>
              <a:rPr dirty="0" sz="1400" spc="-30">
                <a:solidFill>
                  <a:srgbClr val="22373A"/>
                </a:solidFill>
                <a:latin typeface="Lucida Sans Unicode"/>
                <a:cs typeface="Lucida Sans Unicode"/>
                <a:hlinkClick r:id="rId2" action="ppaction://hlinksldjump"/>
              </a:rPr>
              <a:t>Architecture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88224" y="1681664"/>
            <a:ext cx="2783840" cy="5080"/>
            <a:chOff x="1488224" y="1681664"/>
            <a:chExt cx="2783840" cy="5080"/>
          </a:xfrm>
        </p:grpSpPr>
        <p:sp>
          <p:nvSpPr>
            <p:cNvPr id="5" name="object 5"/>
            <p:cNvSpPr/>
            <p:nvPr/>
          </p:nvSpPr>
          <p:spPr>
            <a:xfrm>
              <a:off x="1488224" y="1681664"/>
              <a:ext cx="2783840" cy="5080"/>
            </a:xfrm>
            <a:custGeom>
              <a:avLst/>
              <a:gdLst/>
              <a:ahLst/>
              <a:cxnLst/>
              <a:rect l="l" t="t" r="r" b="b"/>
              <a:pathLst>
                <a:path w="2783840" h="5080">
                  <a:moveTo>
                    <a:pt x="0" y="5060"/>
                  </a:moveTo>
                  <a:lnTo>
                    <a:pt x="0" y="0"/>
                  </a:lnTo>
                  <a:lnTo>
                    <a:pt x="2783597" y="0"/>
                  </a:lnTo>
                  <a:lnTo>
                    <a:pt x="278359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D7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88224" y="1681664"/>
              <a:ext cx="1217930" cy="5080"/>
            </a:xfrm>
            <a:custGeom>
              <a:avLst/>
              <a:gdLst/>
              <a:ahLst/>
              <a:cxnLst/>
              <a:rect l="l" t="t" r="r" b="b"/>
              <a:pathLst>
                <a:path w="1217930" h="5080">
                  <a:moveTo>
                    <a:pt x="0" y="5060"/>
                  </a:moveTo>
                  <a:lnTo>
                    <a:pt x="0" y="0"/>
                  </a:lnTo>
                  <a:lnTo>
                    <a:pt x="1217823" y="0"/>
                  </a:lnTo>
                  <a:lnTo>
                    <a:pt x="121782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C396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80"/>
              <a:t>ATPP</a:t>
            </a:r>
            <a:r>
              <a:rPr dirty="0" spc="-45"/>
              <a:t> </a:t>
            </a:r>
            <a:r>
              <a:rPr dirty="0" spc="-265"/>
              <a:t>—</a:t>
            </a:r>
            <a:r>
              <a:rPr dirty="0" spc="-45"/>
              <a:t> </a:t>
            </a:r>
            <a:r>
              <a:rPr dirty="0" spc="-50"/>
              <a:t>Replacing</a:t>
            </a:r>
            <a:r>
              <a:rPr dirty="0" spc="-40"/>
              <a:t> Search</a:t>
            </a:r>
            <a:r>
              <a:rPr dirty="0" spc="-45"/>
              <a:t> with</a:t>
            </a:r>
            <a:r>
              <a:rPr dirty="0" spc="-40"/>
              <a:t> </a:t>
            </a:r>
            <a:r>
              <a:rPr dirty="0" spc="-20"/>
              <a:t>Prediction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40"/>
              </a:spcBef>
            </a:pPr>
            <a:r>
              <a:rPr dirty="0" spc="-25"/>
              <a:t>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437661"/>
            <a:ext cx="5090795" cy="16630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17780">
              <a:lnSpc>
                <a:spcPct val="114599"/>
              </a:lnSpc>
              <a:spcBef>
                <a:spcPts val="100"/>
              </a:spcBef>
            </a:pP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Automatic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70">
                <a:solidFill>
                  <a:srgbClr val="22373A"/>
                </a:solidFill>
                <a:latin typeface="Lucida Sans Unicode"/>
                <a:cs typeface="Lucida Sans Unicode"/>
              </a:rPr>
              <a:t>Test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Pattern 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Prediction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(ATPP)</a:t>
            </a:r>
            <a:r>
              <a:rPr dirty="0" sz="1000" spc="-1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learned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mapping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that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takes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faulted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netlist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outputs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fault-exposing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input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pattern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one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pass.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00">
              <a:latin typeface="Tahoma"/>
              <a:cs typeface="Tahoma"/>
            </a:endParaRPr>
          </a:p>
          <a:p>
            <a:pPr marL="177165" marR="547370" indent="-99695">
              <a:lnSpc>
                <a:spcPct val="114599"/>
              </a:lnSpc>
              <a:buClr>
                <a:srgbClr val="2C396B"/>
              </a:buClr>
              <a:buChar char="•"/>
              <a:tabLst>
                <a:tab pos="177165" algn="l"/>
              </a:tabLst>
            </a:pP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There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no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backtracking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no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decision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tree.</a:t>
            </a:r>
            <a:r>
              <a:rPr dirty="0" sz="1000" spc="9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feed-forward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neural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network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produces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answer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directly.</a:t>
            </a:r>
            <a:endParaRPr sz="1000">
              <a:latin typeface="Tahoma"/>
              <a:cs typeface="Tahoma"/>
            </a:endParaRPr>
          </a:p>
          <a:p>
            <a:pPr marL="176530" indent="-99060">
              <a:lnSpc>
                <a:spcPct val="100000"/>
              </a:lnSpc>
              <a:spcBef>
                <a:spcPts val="475"/>
              </a:spcBef>
              <a:buClr>
                <a:srgbClr val="2C396B"/>
              </a:buClr>
              <a:buFont typeface="Tahoma"/>
              <a:buChar char="•"/>
              <a:tabLst>
                <a:tab pos="176530" algn="l"/>
              </a:tabLst>
            </a:pPr>
            <a:r>
              <a:rPr dirty="0" sz="1000" spc="-75">
                <a:solidFill>
                  <a:srgbClr val="22373A"/>
                </a:solidFill>
                <a:latin typeface="Lucida Sans Unicode"/>
                <a:cs typeface="Lucida Sans Unicode"/>
              </a:rPr>
              <a:t>The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Pipeline:</a:t>
            </a:r>
            <a:r>
              <a:rPr dirty="0" sz="1000" spc="7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GNN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encoder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(graph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node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embeddings)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+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Two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LSTMs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(variable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paths</a:t>
            </a:r>
            <a:endParaRPr sz="1000">
              <a:latin typeface="Tahoma"/>
              <a:cs typeface="Tahoma"/>
            </a:endParaRPr>
          </a:p>
          <a:p>
            <a:pPr marL="177165">
              <a:lnSpc>
                <a:spcPct val="100000"/>
              </a:lnSpc>
              <a:spcBef>
                <a:spcPts val="175"/>
              </a:spcBef>
            </a:pP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fixed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vectors)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+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MLP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(cone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PI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prediction).</a:t>
            </a:r>
            <a:endParaRPr sz="1000">
              <a:latin typeface="Tahoma"/>
              <a:cs typeface="Tahoma"/>
            </a:endParaRPr>
          </a:p>
          <a:p>
            <a:pPr marL="177165" marR="7620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77165" algn="l"/>
              </a:tabLst>
            </a:pP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model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trained on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synthetic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4-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PI circuits using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brute-force enumeration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(2</a:t>
            </a:r>
            <a:r>
              <a:rPr dirty="0" baseline="27777" sz="1050" spc="-37">
                <a:solidFill>
                  <a:srgbClr val="22373A"/>
                </a:solidFill>
                <a:latin typeface="Tahoma"/>
                <a:cs typeface="Tahoma"/>
              </a:rPr>
              <a:t>4</a:t>
            </a:r>
            <a:r>
              <a:rPr dirty="0" baseline="27777" sz="1050" spc="232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=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16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combinations) to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provide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exact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ground-truth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patterns.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2265375"/>
          <a:ext cx="5116195" cy="5695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75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The</a:t>
                      </a:r>
                      <a:r>
                        <a:rPr dirty="0" sz="1000" spc="-4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7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Core</a:t>
                      </a:r>
                      <a:r>
                        <a:rPr dirty="0" sz="1000" spc="-35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Shift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Classical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5">
                          <a:latin typeface="Tahoma"/>
                          <a:cs typeface="Tahoma"/>
                        </a:rPr>
                        <a:t>ATPG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searches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 decision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tree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backtracks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conflicts.</a:t>
                      </a:r>
                      <a:r>
                        <a:rPr dirty="0" sz="1000" spc="1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40">
                          <a:latin typeface="Tahoma"/>
                          <a:cs typeface="Tahoma"/>
                        </a:rPr>
                        <a:t>ATPP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predicts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the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pattern directly from the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physical structure of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circuit.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16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63700"/>
            <a:ext cx="122745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Circuit</a:t>
            </a:r>
            <a:r>
              <a:rPr dirty="0" spc="-65"/>
              <a:t> </a:t>
            </a:r>
            <a:r>
              <a:rPr dirty="0" spc="-40"/>
              <a:t>as</a:t>
            </a:r>
            <a:r>
              <a:rPr dirty="0" spc="-65"/>
              <a:t> </a:t>
            </a:r>
            <a:r>
              <a:rPr dirty="0"/>
              <a:t>a</a:t>
            </a:r>
            <a:r>
              <a:rPr dirty="0" spc="-70"/>
              <a:t> </a:t>
            </a:r>
            <a:r>
              <a:rPr dirty="0" spc="-45"/>
              <a:t>Graph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40"/>
              </a:spcBef>
            </a:pPr>
            <a:r>
              <a:rPr dirty="0" spc="-25"/>
              <a:t>16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09351"/>
            <a:ext cx="44488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Step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45">
                <a:solidFill>
                  <a:srgbClr val="22373A"/>
                </a:solidFill>
                <a:latin typeface="Lucida Sans Unicode"/>
                <a:cs typeface="Lucida Sans Unicode"/>
              </a:rPr>
              <a:t>1:</a:t>
            </a:r>
            <a:r>
              <a:rPr dirty="0" sz="1000" spc="10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Convert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the gate-level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netlist into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 format the neural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network can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see.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702557"/>
            <a:ext cx="2408555" cy="157416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Graph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70" i="1">
                <a:solidFill>
                  <a:srgbClr val="22373A"/>
                </a:solidFill>
                <a:latin typeface="Trebuchet MS"/>
                <a:cs typeface="Trebuchet MS"/>
              </a:rPr>
              <a:t>G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=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(</a:t>
            </a:r>
            <a:r>
              <a:rPr dirty="0" sz="1000" spc="-20" i="1">
                <a:solidFill>
                  <a:srgbClr val="22373A"/>
                </a:solidFill>
                <a:latin typeface="Trebuchet MS"/>
                <a:cs typeface="Trebuchet MS"/>
              </a:rPr>
              <a:t>V</a:t>
            </a:r>
            <a:r>
              <a:rPr dirty="0" sz="1000" spc="-20" i="1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dirty="0" sz="1000" spc="-45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35" i="1">
                <a:solidFill>
                  <a:srgbClr val="22373A"/>
                </a:solidFill>
                <a:latin typeface="Trebuchet MS"/>
                <a:cs typeface="Trebuchet MS"/>
              </a:rPr>
              <a:t>E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164465" marR="508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Each gate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and primary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input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becomes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a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node.</a:t>
            </a:r>
            <a:endParaRPr sz="1000">
              <a:latin typeface="Tahoma"/>
              <a:cs typeface="Tahoma"/>
            </a:endParaRPr>
          </a:p>
          <a:p>
            <a:pPr marL="164465" marR="125095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Each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wire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becomes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directed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edge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pointing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from the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driver to the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driven gate.</a:t>
            </a:r>
            <a:endParaRPr sz="1000">
              <a:latin typeface="Tahoma"/>
              <a:cs typeface="Tahoma"/>
            </a:endParaRPr>
          </a:p>
          <a:p>
            <a:pPr marL="164465" marR="48895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Edges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strictly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follow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combinational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signal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flow.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19310" y="706329"/>
            <a:ext cx="2194560" cy="136207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Why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build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Lucida Sans Unicode"/>
                <a:cs typeface="Lucida Sans Unicode"/>
              </a:rPr>
              <a:t>a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graph?</a:t>
            </a:r>
            <a:endParaRPr sz="1000">
              <a:latin typeface="Lucida Sans Unicode"/>
              <a:cs typeface="Lucida Sans Unicode"/>
            </a:endParaRPr>
          </a:p>
          <a:p>
            <a:pPr marL="164465" marR="2794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It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captures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 true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circuit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topology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without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flattening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it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into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rigid matrix.</a:t>
            </a:r>
            <a:endParaRPr sz="1000">
              <a:latin typeface="Tahoma"/>
              <a:cs typeface="Tahoma"/>
            </a:endParaRPr>
          </a:p>
          <a:p>
            <a:pPr marL="164465" marR="508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It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allows the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neural network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pass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information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along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exact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same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paths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electrical</a:t>
            </a:r>
            <a:r>
              <a:rPr dirty="0" sz="1000" spc="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signals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travel.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59994" y="2391067"/>
          <a:ext cx="5116195" cy="394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4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Data</a:t>
                      </a:r>
                      <a:r>
                        <a:rPr dirty="0" sz="1000" spc="-5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3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Shape</a:t>
                      </a:r>
                      <a:r>
                        <a:rPr dirty="0" sz="1000" spc="-4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Tracker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000" spc="-55">
                          <a:latin typeface="Tahoma"/>
                          <a:cs typeface="Tahoma"/>
                        </a:rPr>
                        <a:t>We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now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have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mathematical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graph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containing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000" spc="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nodes.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16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63700"/>
            <a:ext cx="339788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5"/>
              <a:t>Node</a:t>
            </a:r>
            <a:r>
              <a:rPr dirty="0" spc="-45"/>
              <a:t> Feature</a:t>
            </a:r>
            <a:r>
              <a:rPr dirty="0" spc="-40"/>
              <a:t> </a:t>
            </a:r>
            <a:r>
              <a:rPr dirty="0" spc="-70"/>
              <a:t>Tensor</a:t>
            </a:r>
            <a:r>
              <a:rPr dirty="0" spc="-45"/>
              <a:t> </a:t>
            </a:r>
            <a:r>
              <a:rPr dirty="0" spc="-265"/>
              <a:t>—</a:t>
            </a:r>
            <a:r>
              <a:rPr dirty="0" spc="-40"/>
              <a:t> </a:t>
            </a:r>
            <a:r>
              <a:rPr dirty="0" spc="-70"/>
              <a:t>Giving</a:t>
            </a:r>
            <a:r>
              <a:rPr dirty="0" spc="-45"/>
              <a:t> </a:t>
            </a:r>
            <a:r>
              <a:rPr dirty="0" spc="-40"/>
              <a:t>the </a:t>
            </a:r>
            <a:r>
              <a:rPr dirty="0" spc="-70"/>
              <a:t>Graph</a:t>
            </a:r>
            <a:r>
              <a:rPr dirty="0" spc="-45"/>
              <a:t> </a:t>
            </a:r>
            <a:r>
              <a:rPr dirty="0" spc="-35"/>
              <a:t>Meaning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40"/>
              </a:spcBef>
            </a:pPr>
            <a:r>
              <a:rPr dirty="0" spc="-25"/>
              <a:t>17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54474"/>
            <a:ext cx="5065395" cy="16783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Step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95">
                <a:solidFill>
                  <a:srgbClr val="22373A"/>
                </a:solidFill>
                <a:latin typeface="Lucida Sans Unicode"/>
                <a:cs typeface="Lucida Sans Unicode"/>
              </a:rPr>
              <a:t>2:</a:t>
            </a:r>
            <a:r>
              <a:rPr dirty="0" sz="1000" spc="7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Attach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mathematical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feature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vector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every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single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node.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000" spc="-75">
                <a:solidFill>
                  <a:srgbClr val="22373A"/>
                </a:solidFill>
                <a:latin typeface="Lucida Sans Unicode"/>
                <a:cs typeface="Lucida Sans Unicode"/>
              </a:rPr>
              <a:t>The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25">
                <a:solidFill>
                  <a:srgbClr val="22373A"/>
                </a:solidFill>
                <a:latin typeface="Lucida Sans Unicode"/>
                <a:cs typeface="Lucida Sans Unicode"/>
              </a:rPr>
              <a:t>11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dimensions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per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node:</a:t>
            </a:r>
            <a:endParaRPr sz="1000">
              <a:latin typeface="Lucida Sans Unicode"/>
              <a:cs typeface="Lucida Sans Unicode"/>
            </a:endParaRPr>
          </a:p>
          <a:p>
            <a:pPr marL="164465" marR="93980" indent="-99695">
              <a:lnSpc>
                <a:spcPct val="114599"/>
              </a:lnSpc>
              <a:spcBef>
                <a:spcPts val="800"/>
              </a:spcBef>
              <a:buClr>
                <a:srgbClr val="2C396B"/>
              </a:buClr>
              <a:buFont typeface="Tahoma"/>
              <a:buChar char="•"/>
              <a:tabLst>
                <a:tab pos="164465" algn="l"/>
              </a:tabLst>
            </a:pPr>
            <a:r>
              <a:rPr dirty="0" sz="1000" spc="-120">
                <a:solidFill>
                  <a:srgbClr val="22373A"/>
                </a:solidFill>
                <a:latin typeface="Lucida Sans Unicode"/>
                <a:cs typeface="Lucida Sans Unicode"/>
              </a:rPr>
              <a:t>9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dimensions:</a:t>
            </a:r>
            <a:r>
              <a:rPr dirty="0" sz="1000" spc="8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one-hot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encoding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gate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type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22373A"/>
                </a:solidFill>
                <a:latin typeface="Tahoma"/>
                <a:cs typeface="Tahoma"/>
              </a:rPr>
              <a:t>(INPUT,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AND,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NAND,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22373A"/>
                </a:solidFill>
                <a:latin typeface="Tahoma"/>
                <a:cs typeface="Tahoma"/>
              </a:rPr>
              <a:t>OR,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NOR,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XOR, 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XNOR,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80">
                <a:solidFill>
                  <a:srgbClr val="22373A"/>
                </a:solidFill>
                <a:latin typeface="Tahoma"/>
                <a:cs typeface="Tahoma"/>
              </a:rPr>
              <a:t>NOT,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BUF).</a:t>
            </a:r>
            <a:endParaRPr sz="1000">
              <a:latin typeface="Tahoma"/>
              <a:cs typeface="Tahoma"/>
            </a:endParaRPr>
          </a:p>
          <a:p>
            <a:pPr marL="164465" marR="508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Font typeface="Tahoma"/>
              <a:buChar char="•"/>
              <a:tabLst>
                <a:tab pos="164465" algn="l"/>
              </a:tabLst>
            </a:pPr>
            <a:r>
              <a:rPr dirty="0" sz="1000" spc="-220">
                <a:solidFill>
                  <a:srgbClr val="22373A"/>
                </a:solidFill>
                <a:latin typeface="Lucida Sans Unicode"/>
                <a:cs typeface="Lucida Sans Unicode"/>
              </a:rPr>
              <a:t>1</a:t>
            </a: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dimension:</a:t>
            </a:r>
            <a:r>
              <a:rPr dirty="0" sz="1000" spc="7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ln(1</a:t>
            </a:r>
            <a:r>
              <a:rPr dirty="0" sz="1000" spc="-1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+</a:t>
            </a:r>
            <a:r>
              <a:rPr dirty="0" sz="1000" spc="-10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Georgia"/>
                <a:cs typeface="Georgia"/>
              </a:rPr>
              <a:t>fanout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).</a:t>
            </a:r>
            <a:r>
              <a:rPr dirty="0" sz="1000" spc="7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Log-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scaling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prevents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high-fanout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nets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from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blowing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up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our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gradients during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training.</a:t>
            </a:r>
            <a:endParaRPr sz="1000">
              <a:latin typeface="Tahoma"/>
              <a:cs typeface="Tahoma"/>
            </a:endParaRPr>
          </a:p>
          <a:p>
            <a:pPr marL="164465" marR="20320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Font typeface="Tahoma"/>
              <a:buChar char="•"/>
              <a:tabLst>
                <a:tab pos="164465" algn="l"/>
              </a:tabLst>
            </a:pPr>
            <a:r>
              <a:rPr dirty="0" sz="1000" spc="-220">
                <a:solidFill>
                  <a:srgbClr val="22373A"/>
                </a:solidFill>
                <a:latin typeface="Lucida Sans Unicode"/>
                <a:cs typeface="Lucida Sans Unicode"/>
              </a:rPr>
              <a:t>1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dimension:</a:t>
            </a:r>
            <a:r>
              <a:rPr dirty="0" sz="1000" spc="9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 i="1">
                <a:solidFill>
                  <a:srgbClr val="22373A"/>
                </a:solidFill>
                <a:latin typeface="Courier New"/>
                <a:cs typeface="Courier New"/>
              </a:rPr>
              <a:t>is_faulty</a:t>
            </a:r>
            <a:r>
              <a:rPr dirty="0" sz="1000" spc="-270" i="1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flag.</a:t>
            </a:r>
            <a:r>
              <a:rPr dirty="0" sz="1000" spc="9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It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set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90">
                <a:solidFill>
                  <a:srgbClr val="22373A"/>
                </a:solidFill>
                <a:latin typeface="Tahoma"/>
                <a:cs typeface="Tahoma"/>
              </a:rPr>
              <a:t>1.0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specifically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site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0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everywhere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else.</a:t>
            </a:r>
            <a:r>
              <a:rPr dirty="0" sz="1000" spc="8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This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anchor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that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tells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network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exactly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where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focus.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2284577"/>
          <a:ext cx="5116195" cy="556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4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Data</a:t>
                      </a:r>
                      <a:r>
                        <a:rPr dirty="0" sz="1000" spc="-5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3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Shape</a:t>
                      </a:r>
                      <a:r>
                        <a:rPr dirty="0" sz="1000" spc="-4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Tracker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000" spc="-3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graph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is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now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represented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by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an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input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tensor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95">
                          <a:latin typeface="Lucida Sans Unicode"/>
                          <a:cs typeface="Lucida Sans Unicode"/>
                        </a:rPr>
                        <a:t>X</a:t>
                      </a:r>
                      <a:r>
                        <a:rPr dirty="0" sz="1000" spc="-2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50">
                          <a:latin typeface="Lucida Sans Unicode"/>
                          <a:cs typeface="Lucida Sans Unicode"/>
                        </a:rPr>
                        <a:t>∈</a:t>
                      </a:r>
                      <a:r>
                        <a:rPr dirty="0" sz="1000" spc="-2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baseline="27777" sz="10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baseline="27777" sz="1050">
                          <a:latin typeface="Cambria"/>
                          <a:cs typeface="Cambria"/>
                        </a:rPr>
                        <a:t>×</a:t>
                      </a:r>
                      <a:r>
                        <a:rPr dirty="0" baseline="27777" sz="1050">
                          <a:latin typeface="Tahoma"/>
                          <a:cs typeface="Tahoma"/>
                        </a:rPr>
                        <a:t>11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.</a:t>
                      </a:r>
                      <a:r>
                        <a:rPr dirty="0" sz="1000" spc="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Every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single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one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 i="1">
                          <a:latin typeface="Trebuchet MS"/>
                          <a:cs typeface="Trebuchet MS"/>
                        </a:rPr>
                        <a:t>N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nodes</a:t>
                      </a:r>
                      <a:r>
                        <a:rPr dirty="0" sz="1000" spc="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carries</a:t>
                      </a:r>
                      <a:r>
                        <a:rPr dirty="0" sz="1000" spc="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60">
                          <a:latin typeface="Tahoma"/>
                          <a:cs typeface="Tahoma"/>
                        </a:rPr>
                        <a:t>11</a:t>
                      </a:r>
                      <a:r>
                        <a:rPr dirty="0" sz="1000" spc="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distinct</a:t>
                      </a:r>
                      <a:r>
                        <a:rPr dirty="0" sz="1000" spc="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features.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2159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95"/>
              <a:t>GNN</a:t>
            </a:r>
            <a:r>
              <a:rPr dirty="0" spc="-45"/>
              <a:t> Encoder </a:t>
            </a:r>
            <a:r>
              <a:rPr dirty="0" spc="-265"/>
              <a:t>—</a:t>
            </a:r>
            <a:r>
              <a:rPr dirty="0" spc="-40"/>
              <a:t> </a:t>
            </a:r>
            <a:r>
              <a:rPr dirty="0" spc="-70"/>
              <a:t>Graph</a:t>
            </a:r>
            <a:r>
              <a:rPr dirty="0" spc="-45"/>
              <a:t> </a:t>
            </a:r>
            <a:r>
              <a:rPr dirty="0" spc="-50"/>
              <a:t>Attention</a:t>
            </a:r>
            <a:r>
              <a:rPr dirty="0" spc="-40"/>
              <a:t> </a:t>
            </a:r>
            <a:r>
              <a:rPr dirty="0" spc="-50"/>
              <a:t>and</a:t>
            </a:r>
            <a:r>
              <a:rPr dirty="0" spc="-45"/>
              <a:t> </a:t>
            </a:r>
            <a:r>
              <a:rPr dirty="0" spc="-40"/>
              <a:t>Convolution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40"/>
              </a:spcBef>
            </a:pPr>
            <a:r>
              <a:rPr dirty="0" spc="-25"/>
              <a:t>18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97641"/>
            <a:ext cx="43834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Step </a:t>
            </a:r>
            <a:r>
              <a:rPr dirty="0" sz="1000" spc="-95">
                <a:solidFill>
                  <a:srgbClr val="22373A"/>
                </a:solidFill>
                <a:latin typeface="Lucida Sans Unicode"/>
                <a:cs typeface="Lucida Sans Unicode"/>
              </a:rPr>
              <a:t>3:</a:t>
            </a:r>
            <a:r>
              <a:rPr dirty="0" sz="1000" spc="9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Process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graph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so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gates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understand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their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local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neighborhoods.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802862"/>
            <a:ext cx="2495550" cy="118745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130">
                <a:solidFill>
                  <a:srgbClr val="22373A"/>
                </a:solidFill>
                <a:latin typeface="Lucida Sans Unicode"/>
                <a:cs typeface="Lucida Sans Unicode"/>
              </a:rPr>
              <a:t>1×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35">
                <a:solidFill>
                  <a:srgbClr val="22373A"/>
                </a:solidFill>
                <a:latin typeface="Lucida Sans Unicode"/>
                <a:cs typeface="Lucida Sans Unicode"/>
              </a:rPr>
              <a:t>GAT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layer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(Graph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Attention)</a:t>
            </a:r>
            <a:endParaRPr sz="1000">
              <a:latin typeface="Lucida Sans Unicode"/>
              <a:cs typeface="Lucida Sans Unicode"/>
            </a:endParaRPr>
          </a:p>
          <a:p>
            <a:pPr marL="163830" indent="-99060">
              <a:lnSpc>
                <a:spcPct val="100000"/>
              </a:lnSpc>
              <a:spcBef>
                <a:spcPts val="470"/>
              </a:spcBef>
              <a:buClr>
                <a:srgbClr val="2C396B"/>
              </a:buClr>
              <a:buChar char="•"/>
              <a:tabLst>
                <a:tab pos="163830" algn="l"/>
              </a:tabLst>
            </a:pP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Learns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importance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weights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for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each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path.</a:t>
            </a:r>
            <a:endParaRPr sz="1000">
              <a:latin typeface="Tahoma"/>
              <a:cs typeface="Tahoma"/>
            </a:endParaRPr>
          </a:p>
          <a:p>
            <a:pPr marL="164465" marR="97155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Fan-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out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asymmetric;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not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all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branches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are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useful.</a:t>
            </a:r>
            <a:r>
              <a:rPr dirty="0" sz="1000" spc="7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85">
                <a:solidFill>
                  <a:srgbClr val="22373A"/>
                </a:solidFill>
                <a:latin typeface="Tahoma"/>
                <a:cs typeface="Tahoma"/>
              </a:rPr>
              <a:t>GAT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pays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selective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attention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that actually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propagate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the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fault.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7672" y="802862"/>
            <a:ext cx="2469515" cy="118745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95">
                <a:solidFill>
                  <a:srgbClr val="22373A"/>
                </a:solidFill>
                <a:latin typeface="Lucida Sans Unicode"/>
                <a:cs typeface="Lucida Sans Unicode"/>
              </a:rPr>
              <a:t>2×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10">
                <a:solidFill>
                  <a:srgbClr val="22373A"/>
                </a:solidFill>
                <a:latin typeface="Lucida Sans Unicode"/>
                <a:cs typeface="Lucida Sans Unicode"/>
              </a:rPr>
              <a:t>GCN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layers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(Graph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Convolution)</a:t>
            </a:r>
            <a:endParaRPr sz="1000">
              <a:latin typeface="Lucida Sans Unicode"/>
              <a:cs typeface="Lucida Sans Unicode"/>
            </a:endParaRPr>
          </a:p>
          <a:p>
            <a:pPr marL="164465" marR="13335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Smooths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and diffuses the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feature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data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across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graph.</a:t>
            </a:r>
            <a:endParaRPr sz="1000">
              <a:latin typeface="Tahoma"/>
              <a:cs typeface="Tahoma"/>
            </a:endParaRPr>
          </a:p>
          <a:p>
            <a:pPr marL="164465" marR="508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Two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layers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extend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receptive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field,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ensuring each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node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aware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its 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2-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hop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neighborhood.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59994" y="2116874"/>
          <a:ext cx="5116195" cy="581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4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Data</a:t>
                      </a:r>
                      <a:r>
                        <a:rPr dirty="0" sz="1000" spc="-5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3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Shape</a:t>
                      </a:r>
                      <a:r>
                        <a:rPr dirty="0" sz="1000" spc="-4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Tracker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41910" marR="55244">
                        <a:lnSpc>
                          <a:spcPts val="1370"/>
                        </a:lnSpc>
                        <a:spcBef>
                          <a:spcPts val="75"/>
                        </a:spcBef>
                      </a:pPr>
                      <a:r>
                        <a:rPr dirty="0" sz="1000" spc="-3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GNN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processes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raw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95">
                          <a:latin typeface="Lucida Sans Unicode"/>
                          <a:cs typeface="Lucida Sans Unicode"/>
                        </a:rPr>
                        <a:t>X</a:t>
                      </a:r>
                      <a:r>
                        <a:rPr dirty="0" sz="1000" spc="-1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50">
                          <a:latin typeface="Lucida Sans Unicode"/>
                          <a:cs typeface="Lucida Sans Unicode"/>
                        </a:rPr>
                        <a:t>∈</a:t>
                      </a:r>
                      <a:r>
                        <a:rPr dirty="0" sz="1000" spc="-1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baseline="27777" sz="10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baseline="27777" sz="1050">
                          <a:latin typeface="Cambria"/>
                          <a:cs typeface="Cambria"/>
                        </a:rPr>
                        <a:t>×</a:t>
                      </a:r>
                      <a:r>
                        <a:rPr dirty="0" baseline="27777" sz="1050">
                          <a:latin typeface="Tahoma"/>
                          <a:cs typeface="Tahoma"/>
                        </a:rPr>
                        <a:t>11</a:t>
                      </a:r>
                      <a:r>
                        <a:rPr dirty="0" baseline="27777" sz="1050" spc="209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input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generates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rich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spatial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embeddings.</a:t>
                      </a:r>
                      <a:r>
                        <a:rPr dirty="0" sz="1000" spc="9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The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new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tensor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shape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is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75">
                          <a:latin typeface="Lucida Sans Unicode"/>
                          <a:cs typeface="Lucida Sans Unicode"/>
                        </a:rPr>
                        <a:t>H</a:t>
                      </a:r>
                      <a:r>
                        <a:rPr dirty="0" sz="1000" spc="-1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50">
                          <a:latin typeface="Lucida Sans Unicode"/>
                          <a:cs typeface="Lucida Sans Unicode"/>
                        </a:rPr>
                        <a:t>∈</a:t>
                      </a:r>
                      <a:r>
                        <a:rPr dirty="0" sz="1000" spc="-2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baseline="27777" sz="1050" spc="-15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baseline="27777" sz="1050" spc="-15">
                          <a:latin typeface="Cambria"/>
                          <a:cs typeface="Cambria"/>
                        </a:rPr>
                        <a:t>×</a:t>
                      </a:r>
                      <a:r>
                        <a:rPr dirty="0" baseline="27777" sz="1050" spc="-15">
                          <a:latin typeface="Tahoma"/>
                          <a:cs typeface="Tahoma"/>
                        </a:rPr>
                        <a:t>32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9525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63700"/>
            <a:ext cx="317309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5"/>
              <a:t>Path</a:t>
            </a:r>
            <a:r>
              <a:rPr dirty="0" spc="-45"/>
              <a:t> </a:t>
            </a:r>
            <a:r>
              <a:rPr dirty="0" spc="-50"/>
              <a:t>Extraction</a:t>
            </a:r>
            <a:r>
              <a:rPr dirty="0" spc="-40"/>
              <a:t> </a:t>
            </a:r>
            <a:r>
              <a:rPr dirty="0" spc="-265"/>
              <a:t>—</a:t>
            </a:r>
            <a:r>
              <a:rPr dirty="0" spc="-40"/>
              <a:t> </a:t>
            </a:r>
            <a:r>
              <a:rPr dirty="0" spc="-55"/>
              <a:t>Bridging</a:t>
            </a:r>
            <a:r>
              <a:rPr dirty="0" spc="-40"/>
              <a:t> </a:t>
            </a:r>
            <a:r>
              <a:rPr dirty="0" spc="-70"/>
              <a:t>Graph</a:t>
            </a:r>
            <a:r>
              <a:rPr dirty="0" spc="-40"/>
              <a:t> </a:t>
            </a:r>
            <a:r>
              <a:rPr dirty="0" spc="-50"/>
              <a:t>to</a:t>
            </a:r>
            <a:r>
              <a:rPr dirty="0" spc="-40"/>
              <a:t> </a:t>
            </a:r>
            <a:r>
              <a:rPr dirty="0" spc="-10"/>
              <a:t>Sequence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40"/>
              </a:spcBef>
            </a:pPr>
            <a:r>
              <a:rPr dirty="0" spc="-25"/>
              <a:t>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18825"/>
            <a:ext cx="50653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Step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75">
                <a:solidFill>
                  <a:srgbClr val="22373A"/>
                </a:solidFill>
                <a:latin typeface="Lucida Sans Unicode"/>
                <a:cs typeface="Lucida Sans Unicode"/>
              </a:rPr>
              <a:t>4:</a:t>
            </a:r>
            <a:r>
              <a:rPr dirty="0" sz="1000" spc="9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Extract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physical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routes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from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spatial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graph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prepare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data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22373A"/>
                </a:solidFill>
                <a:latin typeface="Tahoma"/>
                <a:cs typeface="Tahoma"/>
              </a:rPr>
              <a:t>LSTM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processing.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624033"/>
            <a:ext cx="2482850" cy="1748789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70">
                <a:solidFill>
                  <a:srgbClr val="22373A"/>
                </a:solidFill>
                <a:latin typeface="Lucida Sans Unicode"/>
                <a:cs typeface="Lucida Sans Unicode"/>
              </a:rPr>
              <a:t>Tracing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the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Routes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(Hybrid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BFS+DFS)</a:t>
            </a:r>
            <a:endParaRPr sz="1000">
              <a:latin typeface="Lucida Sans Unicode"/>
              <a:cs typeface="Lucida Sans Unicode"/>
            </a:endParaRPr>
          </a:p>
          <a:p>
            <a:pPr marL="164465" marR="81915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Font typeface="Tahoma"/>
              <a:buChar char="•"/>
              <a:tabLst>
                <a:tab pos="164465" algn="l"/>
              </a:tabLst>
            </a:pP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Activation 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Paths:</a:t>
            </a:r>
            <a:r>
              <a:rPr dirty="0" sz="1000" spc="7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BFS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finds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shortest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PI-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to-fault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path;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capped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DFS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gathers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additional</a:t>
            </a:r>
            <a:r>
              <a:rPr dirty="0" sz="1000" spc="17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routes.</a:t>
            </a:r>
            <a:endParaRPr sz="1000">
              <a:latin typeface="Tahoma"/>
              <a:cs typeface="Tahoma"/>
            </a:endParaRPr>
          </a:p>
          <a:p>
            <a:pPr marL="164465" marR="22225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Font typeface="Tahoma"/>
              <a:buChar char="•"/>
              <a:tabLst>
                <a:tab pos="164465" algn="l"/>
              </a:tabLst>
            </a:pP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Propagation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Paths:</a:t>
            </a:r>
            <a:r>
              <a:rPr dirty="0" sz="1000" spc="9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BFS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identifies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the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fastest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any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22373A"/>
                </a:solidFill>
                <a:latin typeface="Tahoma"/>
                <a:cs typeface="Tahoma"/>
              </a:rPr>
              <a:t>PO;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DFS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”tops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up”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the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remaining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budget.</a:t>
            </a:r>
            <a:endParaRPr sz="1000">
              <a:latin typeface="Tahoma"/>
              <a:cs typeface="Tahoma"/>
            </a:endParaRPr>
          </a:p>
          <a:p>
            <a:pPr marL="164465" marR="508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Result: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sequence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Gate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IDs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representing</a:t>
            </a:r>
            <a:r>
              <a:rPr dirty="0" sz="1000" spc="7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continuous</a:t>
            </a:r>
            <a:r>
              <a:rPr dirty="0" sz="1000" spc="7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electrical</a:t>
            </a:r>
            <a:r>
              <a:rPr dirty="0" sz="1000" spc="7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paths.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68117" y="615829"/>
            <a:ext cx="2320925" cy="136207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Budgeting</a:t>
            </a:r>
            <a:r>
              <a:rPr dirty="0" sz="1000" spc="-1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and</a:t>
            </a:r>
            <a:r>
              <a:rPr dirty="0" sz="1000" spc="-1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Constraints</a:t>
            </a:r>
            <a:endParaRPr sz="1000">
              <a:latin typeface="Lucida Sans Unicode"/>
              <a:cs typeface="Lucida Sans Unicode"/>
            </a:endParaRPr>
          </a:p>
          <a:p>
            <a:pPr marL="164465" marR="508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Font typeface="Tahoma"/>
              <a:buChar char="•"/>
              <a:tabLst>
                <a:tab pos="164465" algn="l"/>
              </a:tabLst>
            </a:pP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Path</a:t>
            </a: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 Cap:</a:t>
            </a: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Restricted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55">
                <a:solidFill>
                  <a:srgbClr val="22373A"/>
                </a:solidFill>
                <a:latin typeface="Lucida Sans Unicode"/>
                <a:cs typeface="Lucida Sans Unicode"/>
              </a:rPr>
              <a:t>10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activation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55">
                <a:solidFill>
                  <a:srgbClr val="22373A"/>
                </a:solidFill>
                <a:latin typeface="Lucida Sans Unicode"/>
                <a:cs typeface="Lucida Sans Unicode"/>
              </a:rPr>
              <a:t>10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propagation</a:t>
            </a:r>
            <a:r>
              <a:rPr dirty="0" sz="1000" spc="1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paths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(First-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found wins).</a:t>
            </a:r>
            <a:endParaRPr sz="1000">
              <a:latin typeface="Tahoma"/>
              <a:cs typeface="Tahoma"/>
            </a:endParaRPr>
          </a:p>
          <a:p>
            <a:pPr marL="164465" marR="422275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Font typeface="Tahoma"/>
              <a:buChar char="•"/>
              <a:tabLst>
                <a:tab pos="164465" algn="l"/>
              </a:tabLst>
            </a:pP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Search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Guard:</a:t>
            </a:r>
            <a:r>
              <a:rPr dirty="0" sz="1000" spc="9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DFS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limited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a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500-node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horizon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prevent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exponential</a:t>
            </a:r>
            <a:r>
              <a:rPr dirty="0" sz="1000" spc="2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blow-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up.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59994" y="2525128"/>
          <a:ext cx="5116195" cy="40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4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Data</a:t>
                      </a:r>
                      <a:r>
                        <a:rPr dirty="0" sz="1000" spc="-5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3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Shape</a:t>
                      </a:r>
                      <a:r>
                        <a:rPr dirty="0" sz="1000" spc="-4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Tracker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21653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Static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Graph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75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000" spc="-75">
                          <a:latin typeface="Lucida Sans Unicode"/>
                          <a:cs typeface="Lucida Sans Unicode"/>
                        </a:rPr>
                        <a:t>H</a:t>
                      </a:r>
                      <a:r>
                        <a:rPr dirty="0" sz="1000" spc="-1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50">
                          <a:latin typeface="Lucida Sans Unicode"/>
                          <a:cs typeface="Lucida Sans Unicode"/>
                        </a:rPr>
                        <a:t>∈</a:t>
                      </a:r>
                      <a:r>
                        <a:rPr dirty="0" sz="1000" spc="-1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baseline="27777" sz="10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baseline="27777" sz="1050">
                          <a:latin typeface="Cambria"/>
                          <a:cs typeface="Cambria"/>
                        </a:rPr>
                        <a:t>×</a:t>
                      </a:r>
                      <a:r>
                        <a:rPr dirty="0" baseline="27777" sz="1050">
                          <a:latin typeface="Tahoma"/>
                          <a:cs typeface="Tahoma"/>
                        </a:rPr>
                        <a:t>32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)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80">
                          <a:latin typeface="Lucida Sans Unicode"/>
                          <a:cs typeface="Lucida Sans Unicode"/>
                        </a:rPr>
                        <a:t>−→</a:t>
                      </a:r>
                      <a:r>
                        <a:rPr dirty="0" sz="1000" spc="-1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Sequential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Paths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000" spc="-30">
                          <a:latin typeface="Lucida Sans Unicode"/>
                          <a:cs typeface="Lucida Sans Unicode"/>
                        </a:rPr>
                        <a:t>S</a:t>
                      </a:r>
                      <a:r>
                        <a:rPr dirty="0" sz="1000" spc="-1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50">
                          <a:latin typeface="Lucida Sans Unicode"/>
                          <a:cs typeface="Lucida Sans Unicode"/>
                        </a:rPr>
                        <a:t>∈</a:t>
                      </a:r>
                      <a:r>
                        <a:rPr dirty="0" sz="1000" spc="-1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baseline="27777" sz="1050" spc="-15">
                          <a:latin typeface="Tahoma"/>
                          <a:cs typeface="Tahoma"/>
                        </a:rPr>
                        <a:t>1</a:t>
                      </a:r>
                      <a:r>
                        <a:rPr dirty="0" baseline="27777" sz="1050" spc="-15">
                          <a:latin typeface="Cambria"/>
                          <a:cs typeface="Cambria"/>
                        </a:rPr>
                        <a:t>×</a:t>
                      </a:r>
                      <a:r>
                        <a:rPr dirty="0" baseline="27777" sz="1050" spc="-15" i="1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dirty="0" baseline="27777" sz="1050" spc="-15">
                          <a:latin typeface="Cambria"/>
                          <a:cs typeface="Cambria"/>
                        </a:rPr>
                        <a:t>×</a:t>
                      </a:r>
                      <a:r>
                        <a:rPr dirty="0" baseline="27777" sz="1050" spc="-15">
                          <a:latin typeface="Tahoma"/>
                          <a:cs typeface="Tahoma"/>
                        </a:rPr>
                        <a:t>32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).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2159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10"/>
              <a:t>Two</a:t>
            </a:r>
            <a:r>
              <a:rPr dirty="0" spc="-50"/>
              <a:t> </a:t>
            </a:r>
            <a:r>
              <a:rPr dirty="0" spc="-90"/>
              <a:t>LSTMs</a:t>
            </a:r>
            <a:r>
              <a:rPr dirty="0" spc="-50"/>
              <a:t> </a:t>
            </a:r>
            <a:r>
              <a:rPr dirty="0" spc="-265"/>
              <a:t>—</a:t>
            </a:r>
            <a:r>
              <a:rPr dirty="0" spc="-50"/>
              <a:t> </a:t>
            </a:r>
            <a:r>
              <a:rPr dirty="0" spc="-55"/>
              <a:t>Handling</a:t>
            </a:r>
            <a:r>
              <a:rPr dirty="0" spc="-50"/>
              <a:t> </a:t>
            </a:r>
            <a:r>
              <a:rPr dirty="0" spc="-45"/>
              <a:t>Variable</a:t>
            </a:r>
            <a:r>
              <a:rPr dirty="0" spc="-50"/>
              <a:t> </a:t>
            </a:r>
            <a:r>
              <a:rPr dirty="0" spc="-65"/>
              <a:t>Length</a:t>
            </a:r>
            <a:r>
              <a:rPr dirty="0" spc="-45"/>
              <a:t> </a:t>
            </a:r>
            <a:r>
              <a:rPr dirty="0" spc="-10"/>
              <a:t>Paths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40"/>
              </a:spcBef>
            </a:pPr>
            <a:r>
              <a:rPr dirty="0" spc="-25"/>
              <a:t>20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96043"/>
            <a:ext cx="5065395" cy="549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Step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95">
                <a:solidFill>
                  <a:srgbClr val="22373A"/>
                </a:solidFill>
                <a:latin typeface="Lucida Sans Unicode"/>
                <a:cs typeface="Lucida Sans Unicode"/>
              </a:rPr>
              <a:t>5:</a:t>
            </a: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Extract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paths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compress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them.</a:t>
            </a:r>
            <a:r>
              <a:rPr dirty="0" sz="1000" spc="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can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70">
                <a:solidFill>
                  <a:srgbClr val="22373A"/>
                </a:solidFill>
                <a:latin typeface="Tahoma"/>
                <a:cs typeface="Tahoma"/>
              </a:rPr>
              <a:t>3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gates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long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or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30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gates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long.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Neural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networks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require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fixed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sizes,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so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22373A"/>
                </a:solidFill>
                <a:latin typeface="Tahoma"/>
                <a:cs typeface="Tahoma"/>
              </a:rPr>
              <a:t>LSTM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compresses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this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variable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length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65">
                <a:solidFill>
                  <a:srgbClr val="22373A"/>
                </a:solidFill>
                <a:latin typeface="Tahoma"/>
                <a:cs typeface="Tahoma"/>
              </a:rPr>
              <a:t>(</a:t>
            </a:r>
            <a:r>
              <a:rPr dirty="0" sz="1000" spc="-65" i="1">
                <a:solidFill>
                  <a:srgbClr val="22373A"/>
                </a:solidFill>
                <a:latin typeface="Trebuchet MS"/>
                <a:cs typeface="Trebuchet MS"/>
              </a:rPr>
              <a:t>L</a:t>
            </a:r>
            <a:r>
              <a:rPr dirty="0" sz="1000" spc="-65">
                <a:solidFill>
                  <a:srgbClr val="22373A"/>
                </a:solidFill>
                <a:latin typeface="Tahoma"/>
                <a:cs typeface="Tahoma"/>
              </a:rPr>
              <a:t>)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into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a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static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vector.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952367"/>
            <a:ext cx="2385060" cy="136207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Activator</a:t>
            </a:r>
            <a:r>
              <a:rPr dirty="0" sz="1000" spc="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LSTM</a:t>
            </a:r>
            <a:endParaRPr sz="1000">
              <a:latin typeface="Lucida Sans Unicode"/>
              <a:cs typeface="Lucida Sans Unicode"/>
            </a:endParaRPr>
          </a:p>
          <a:p>
            <a:pPr marL="164465" marR="5715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Consumes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activation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(PI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-1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fault site).</a:t>
            </a:r>
            <a:endParaRPr sz="1000">
              <a:latin typeface="Tahoma"/>
              <a:cs typeface="Tahoma"/>
            </a:endParaRPr>
          </a:p>
          <a:p>
            <a:pPr marL="164465" marR="508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We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must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append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specific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fault-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type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bit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(SA0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125">
                <a:solidFill>
                  <a:srgbClr val="22373A"/>
                </a:solidFill>
                <a:latin typeface="Tahoma"/>
                <a:cs typeface="Tahoma"/>
              </a:rPr>
              <a:t>/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90">
                <a:solidFill>
                  <a:srgbClr val="22373A"/>
                </a:solidFill>
                <a:latin typeface="Tahoma"/>
                <a:cs typeface="Tahoma"/>
              </a:rPr>
              <a:t>SA1)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final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hidden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state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so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network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knows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what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value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to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force.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7672" y="942372"/>
            <a:ext cx="2395220" cy="118745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Propagator</a:t>
            </a:r>
            <a:r>
              <a:rPr dirty="0" sz="100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LSTM</a:t>
            </a:r>
            <a:endParaRPr sz="1000">
              <a:latin typeface="Lucida Sans Unicode"/>
              <a:cs typeface="Lucida Sans Unicode"/>
            </a:endParaRPr>
          </a:p>
          <a:p>
            <a:pPr marL="163830" indent="-99060">
              <a:lnSpc>
                <a:spcPct val="100000"/>
              </a:lnSpc>
              <a:spcBef>
                <a:spcPts val="470"/>
              </a:spcBef>
              <a:buClr>
                <a:srgbClr val="2C396B"/>
              </a:buClr>
              <a:buChar char="•"/>
              <a:tabLst>
                <a:tab pos="163830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Consumes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propagation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(fault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site</a:t>
            </a:r>
            <a:endParaRPr sz="1000">
              <a:latin typeface="Tahoma"/>
              <a:cs typeface="Tahoma"/>
            </a:endParaRPr>
          </a:p>
          <a:p>
            <a:pPr marL="164465">
              <a:lnSpc>
                <a:spcPct val="100000"/>
              </a:lnSpc>
              <a:spcBef>
                <a:spcPts val="175"/>
              </a:spcBef>
            </a:pP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PO).</a:t>
            </a:r>
            <a:endParaRPr sz="1000">
              <a:latin typeface="Tahoma"/>
              <a:cs typeface="Tahoma"/>
            </a:endParaRPr>
          </a:p>
          <a:p>
            <a:pPr algn="just" marL="164465" marR="8255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No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fault-type is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needed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here,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because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propagating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error is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fault-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agnostic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once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excited.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59994" y="2378493"/>
          <a:ext cx="5116195" cy="581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4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Data</a:t>
                      </a:r>
                      <a:r>
                        <a:rPr dirty="0" sz="1000" spc="-5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3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Shape</a:t>
                      </a:r>
                      <a:r>
                        <a:rPr dirty="0" sz="1000" spc="-4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Tracker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000" spc="-3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65">
                          <a:latin typeface="Tahoma"/>
                          <a:cs typeface="Tahoma"/>
                        </a:rPr>
                        <a:t>LSTM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takes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variable-length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sequences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baseline="27777" sz="1050">
                          <a:latin typeface="Tahoma"/>
                          <a:cs typeface="Tahoma"/>
                        </a:rPr>
                        <a:t>1</a:t>
                      </a:r>
                      <a:r>
                        <a:rPr dirty="0" baseline="27777" sz="1050">
                          <a:latin typeface="Cambria"/>
                          <a:cs typeface="Cambria"/>
                        </a:rPr>
                        <a:t>×</a:t>
                      </a:r>
                      <a:r>
                        <a:rPr dirty="0" baseline="27777" sz="1050" i="1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dirty="0" baseline="27777" sz="1050">
                          <a:latin typeface="Cambria"/>
                          <a:cs typeface="Cambria"/>
                        </a:rPr>
                        <a:t>×</a:t>
                      </a:r>
                      <a:r>
                        <a:rPr dirty="0" baseline="27777" sz="1050">
                          <a:latin typeface="Tahoma"/>
                          <a:cs typeface="Tahoma"/>
                        </a:rPr>
                        <a:t>32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).</a:t>
                      </a:r>
                      <a:r>
                        <a:rPr dirty="0" sz="1000" spc="1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Activator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outputs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 fixed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baseline="27777" sz="1050" spc="-37">
                          <a:latin typeface="Tahoma"/>
                          <a:cs typeface="Tahoma"/>
                        </a:rPr>
                        <a:t>33</a:t>
                      </a:r>
                      <a:endParaRPr baseline="27777" sz="1050">
                        <a:latin typeface="Tahoma"/>
                        <a:cs typeface="Tahoma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vector.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Propagator</a:t>
                      </a:r>
                      <a:r>
                        <a:rPr dirty="0" sz="1000" spc="-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outputs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fixed</a:t>
                      </a:r>
                      <a:r>
                        <a:rPr dirty="0" sz="1000" spc="-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baseline="27777" sz="1050" spc="-15">
                          <a:latin typeface="Tahoma"/>
                          <a:cs typeface="Tahoma"/>
                        </a:rPr>
                        <a:t>32</a:t>
                      </a:r>
                      <a:r>
                        <a:rPr dirty="0" baseline="27777" sz="1050" spc="1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vector.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2159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80"/>
              <a:t>Cone</a:t>
            </a:r>
            <a:r>
              <a:rPr dirty="0" spc="-45"/>
              <a:t> </a:t>
            </a:r>
            <a:r>
              <a:rPr dirty="0" spc="-60"/>
              <a:t>Embedding</a:t>
            </a:r>
            <a:r>
              <a:rPr dirty="0" spc="-40"/>
              <a:t> </a:t>
            </a:r>
            <a:r>
              <a:rPr dirty="0" spc="-265"/>
              <a:t>—</a:t>
            </a:r>
            <a:r>
              <a:rPr dirty="0" spc="-40"/>
              <a:t> </a:t>
            </a:r>
            <a:r>
              <a:rPr dirty="0" spc="-80"/>
              <a:t>Fusing</a:t>
            </a:r>
            <a:r>
              <a:rPr dirty="0" spc="-40"/>
              <a:t> the Physical </a:t>
            </a:r>
            <a:r>
              <a:rPr dirty="0" spc="-50"/>
              <a:t>Context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40"/>
              </a:spcBef>
            </a:pPr>
            <a:r>
              <a:rPr dirty="0" spc="-25"/>
              <a:t>21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96043"/>
            <a:ext cx="5026660" cy="1193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Step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6:</a:t>
            </a:r>
            <a:r>
              <a:rPr dirty="0" sz="1000" spc="7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might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have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hundreds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possible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paths.</a:t>
            </a:r>
            <a:r>
              <a:rPr dirty="0" sz="1000" spc="8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We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cap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extraction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at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80">
                <a:solidFill>
                  <a:srgbClr val="22373A"/>
                </a:solidFill>
                <a:latin typeface="Tahoma"/>
                <a:cs typeface="Tahoma"/>
              </a:rPr>
              <a:t>10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activation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80">
                <a:solidFill>
                  <a:srgbClr val="22373A"/>
                </a:solidFill>
                <a:latin typeface="Tahoma"/>
                <a:cs typeface="Tahoma"/>
              </a:rPr>
              <a:t>10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propagation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create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single,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unified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descriptor.</a:t>
            </a:r>
            <a:endParaRPr sz="1000">
              <a:latin typeface="Tahoma"/>
              <a:cs typeface="Tahoma"/>
            </a:endParaRPr>
          </a:p>
          <a:p>
            <a:pPr marL="163830" indent="-99060">
              <a:lnSpc>
                <a:spcPct val="100000"/>
              </a:lnSpc>
              <a:spcBef>
                <a:spcPts val="1120"/>
              </a:spcBef>
              <a:buClr>
                <a:srgbClr val="2C396B"/>
              </a:buClr>
              <a:buFont typeface="Tahoma"/>
              <a:buChar char="•"/>
              <a:tabLst>
                <a:tab pos="163830" algn="l"/>
              </a:tabLst>
            </a:pP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Activation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slot:</a:t>
            </a:r>
            <a:r>
              <a:rPr dirty="0" sz="1000" spc="9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80">
                <a:solidFill>
                  <a:srgbClr val="22373A"/>
                </a:solidFill>
                <a:latin typeface="Tahoma"/>
                <a:cs typeface="Tahoma"/>
              </a:rPr>
              <a:t>10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Lucida Sans Unicode"/>
                <a:cs typeface="Lucida Sans Unicode"/>
              </a:rPr>
              <a:t>×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70">
                <a:solidFill>
                  <a:srgbClr val="22373A"/>
                </a:solidFill>
                <a:latin typeface="Tahoma"/>
                <a:cs typeface="Tahoma"/>
              </a:rPr>
              <a:t>33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dimensions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=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330</a:t>
            </a:r>
            <a:endParaRPr sz="1000">
              <a:latin typeface="Tahoma"/>
              <a:cs typeface="Tahoma"/>
            </a:endParaRPr>
          </a:p>
          <a:p>
            <a:pPr marL="163830" indent="-99060">
              <a:lnSpc>
                <a:spcPct val="100000"/>
              </a:lnSpc>
              <a:spcBef>
                <a:spcPts val="175"/>
              </a:spcBef>
              <a:buClr>
                <a:srgbClr val="2C396B"/>
              </a:buClr>
              <a:buFont typeface="Tahoma"/>
              <a:buChar char="•"/>
              <a:tabLst>
                <a:tab pos="163830" algn="l"/>
              </a:tabLst>
            </a:pP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Propagation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slot:</a:t>
            </a:r>
            <a:r>
              <a:rPr dirty="0" sz="1000" spc="10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80">
                <a:solidFill>
                  <a:srgbClr val="22373A"/>
                </a:solidFill>
                <a:latin typeface="Tahoma"/>
                <a:cs typeface="Tahoma"/>
              </a:rPr>
              <a:t>10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Lucida Sans Unicode"/>
                <a:cs typeface="Lucida Sans Unicode"/>
              </a:rPr>
              <a:t>×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75">
                <a:solidFill>
                  <a:srgbClr val="22373A"/>
                </a:solidFill>
                <a:latin typeface="Tahoma"/>
                <a:cs typeface="Tahoma"/>
              </a:rPr>
              <a:t>33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dimensions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=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330</a:t>
            </a:r>
            <a:endParaRPr sz="1000">
              <a:latin typeface="Tahoma"/>
              <a:cs typeface="Tahoma"/>
            </a:endParaRPr>
          </a:p>
          <a:p>
            <a:pPr marL="164465" marR="74930" indent="-99695">
              <a:lnSpc>
                <a:spcPct val="114599"/>
              </a:lnSpc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If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has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fewer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than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80">
                <a:solidFill>
                  <a:srgbClr val="22373A"/>
                </a:solidFill>
                <a:latin typeface="Tahoma"/>
                <a:cs typeface="Tahoma"/>
              </a:rPr>
              <a:t>10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paths,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zero-pad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missing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slots.</a:t>
            </a:r>
            <a:r>
              <a:rPr dirty="0" sz="1000" spc="7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This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guarantees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our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network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always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receives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exact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same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input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size.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1646796"/>
          <a:ext cx="5116195" cy="3848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4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Data</a:t>
                      </a:r>
                      <a:r>
                        <a:rPr dirty="0" sz="1000" spc="-5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3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Shape</a:t>
                      </a:r>
                      <a:r>
                        <a:rPr dirty="0" sz="1000" spc="-4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Tracker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19494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000" spc="-55">
                          <a:latin typeface="Tahoma"/>
                          <a:cs typeface="Tahoma"/>
                        </a:rPr>
                        <a:t>We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concatenate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these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slots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form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Cone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Matrix:</a:t>
                      </a:r>
                      <a:r>
                        <a:rPr dirty="0" sz="1000" spc="7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40">
                          <a:latin typeface="Lucida Sans Unicode"/>
                          <a:cs typeface="Lucida Sans Unicode"/>
                        </a:rPr>
                        <a:t>C</a:t>
                      </a: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50">
                          <a:latin typeface="Lucida Sans Unicode"/>
                          <a:cs typeface="Lucida Sans Unicode"/>
                        </a:rPr>
                        <a:t>∈</a:t>
                      </a:r>
                      <a:r>
                        <a:rPr dirty="0" sz="1000" spc="-2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baseline="27777" sz="1050" spc="-15">
                          <a:latin typeface="Tahoma"/>
                          <a:cs typeface="Tahoma"/>
                        </a:rPr>
                        <a:t>660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20955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7294" y="2143714"/>
            <a:ext cx="13614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75">
                <a:solidFill>
                  <a:srgbClr val="22373A"/>
                </a:solidFill>
                <a:latin typeface="Lucida Sans Unicode"/>
                <a:cs typeface="Lucida Sans Unicode"/>
              </a:rPr>
              <a:t>The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Final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MLP 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Predictor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64892" y="2367295"/>
            <a:ext cx="1670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22373A"/>
                </a:solidFill>
                <a:latin typeface="Tahoma"/>
                <a:cs typeface="Tahoma"/>
              </a:rPr>
              <a:t>660</a:t>
            </a:r>
            <a:endParaRPr sz="7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22615" y="2381585"/>
            <a:ext cx="19894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72770" algn="l"/>
              </a:tabLst>
            </a:pPr>
            <a:r>
              <a:rPr dirty="0" sz="1000" spc="-140">
                <a:solidFill>
                  <a:srgbClr val="22373A"/>
                </a:solidFill>
                <a:latin typeface="Lucida Sans Unicode"/>
                <a:cs typeface="Lucida Sans Unicode"/>
              </a:rPr>
              <a:t>C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50">
                <a:solidFill>
                  <a:srgbClr val="22373A"/>
                </a:solidFill>
                <a:latin typeface="Lucida Sans Unicode"/>
                <a:cs typeface="Lucida Sans Unicode"/>
              </a:rPr>
              <a:t>∈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Arial MT"/>
                <a:cs typeface="Arial MT"/>
              </a:rPr>
              <a:t>R</a:t>
            </a:r>
            <a:r>
              <a:rPr dirty="0" sz="1000">
                <a:solidFill>
                  <a:srgbClr val="22373A"/>
                </a:solidFill>
                <a:latin typeface="Arial MT"/>
                <a:cs typeface="Arial MT"/>
              </a:rPr>
              <a:t>	</a:t>
            </a:r>
            <a:r>
              <a:rPr dirty="0" sz="1000">
                <a:solidFill>
                  <a:srgbClr val="22373A"/>
                </a:solidFill>
                <a:latin typeface="Lucida Sans Unicode"/>
                <a:cs typeface="Lucida Sans Unicode"/>
              </a:rPr>
              <a:t>−→</a:t>
            </a:r>
            <a:r>
              <a:rPr dirty="0" sz="1000" spc="1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Georgia"/>
                <a:cs typeface="Georgia"/>
              </a:rPr>
              <a:t>MLP</a:t>
            </a:r>
            <a:r>
              <a:rPr dirty="0" sz="1000" spc="260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22373A"/>
                </a:solidFill>
                <a:latin typeface="Lucida Sans Unicode"/>
                <a:cs typeface="Lucida Sans Unicode"/>
              </a:rPr>
              <a:t>−→</a:t>
            </a:r>
            <a:r>
              <a:rPr dirty="0" sz="1000" spc="18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60" i="1">
                <a:solidFill>
                  <a:srgbClr val="22373A"/>
                </a:solidFill>
                <a:latin typeface="Trebuchet MS"/>
                <a:cs typeface="Trebuchet MS"/>
              </a:rPr>
              <a:t>p</a:t>
            </a:r>
            <a:r>
              <a:rPr dirty="0" baseline="5555" sz="1500">
                <a:solidFill>
                  <a:srgbClr val="22373A"/>
                </a:solidFill>
                <a:latin typeface="Cambria"/>
                <a:cs typeface="Cambria"/>
              </a:rPr>
              <a:t>^</a:t>
            </a:r>
            <a:r>
              <a:rPr dirty="0" baseline="5555" sz="1500" spc="89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dirty="0" sz="1000" spc="-150">
                <a:solidFill>
                  <a:srgbClr val="22373A"/>
                </a:solidFill>
                <a:latin typeface="Lucida Sans Unicode"/>
                <a:cs typeface="Lucida Sans Unicode"/>
              </a:rPr>
              <a:t>∈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[0</a:t>
            </a:r>
            <a:r>
              <a:rPr dirty="0" sz="1000" spc="-35" i="1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dirty="0" sz="1000" spc="-60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1]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5539" y="2380122"/>
            <a:ext cx="1892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7936" sz="1050" spc="-37" i="1">
                <a:solidFill>
                  <a:srgbClr val="22373A"/>
                </a:solidFill>
                <a:latin typeface="Trebuchet MS"/>
                <a:cs typeface="Trebuchet MS"/>
              </a:rPr>
              <a:t>N</a:t>
            </a:r>
            <a:r>
              <a:rPr dirty="0" sz="500" spc="-25" i="1">
                <a:solidFill>
                  <a:srgbClr val="22373A"/>
                </a:solidFill>
                <a:latin typeface="Trebuchet MS"/>
                <a:cs typeface="Trebuchet MS"/>
              </a:rPr>
              <a:t>PI</a:t>
            </a:r>
            <a:endParaRPr sz="5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7294" y="2596686"/>
            <a:ext cx="4921885" cy="374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MLP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reduces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660-dimension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cone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into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our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final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prediction:</a:t>
            </a:r>
            <a:r>
              <a:rPr dirty="0" sz="1000" spc="1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probability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that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each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Primary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Input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should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50">
                <a:solidFill>
                  <a:srgbClr val="22373A"/>
                </a:solidFill>
                <a:latin typeface="Tahoma"/>
                <a:cs typeface="Tahoma"/>
              </a:rPr>
              <a:t>1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or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0.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80"/>
              <a:t>Multi-</a:t>
            </a:r>
            <a:r>
              <a:rPr dirty="0" spc="-50"/>
              <a:t>Oracle</a:t>
            </a:r>
            <a:r>
              <a:rPr dirty="0" spc="-35"/>
              <a:t> </a:t>
            </a:r>
            <a:r>
              <a:rPr dirty="0" spc="-60"/>
              <a:t>Challenge</a:t>
            </a:r>
            <a:r>
              <a:rPr dirty="0" spc="-30"/>
              <a:t> </a:t>
            </a:r>
            <a:r>
              <a:rPr dirty="0" spc="-265"/>
              <a:t>—</a:t>
            </a:r>
            <a:r>
              <a:rPr dirty="0" spc="-35"/>
              <a:t> </a:t>
            </a:r>
            <a:r>
              <a:rPr dirty="0" spc="-70"/>
              <a:t>Dynamic</a:t>
            </a:r>
            <a:r>
              <a:rPr dirty="0" spc="-30"/>
              <a:t> </a:t>
            </a:r>
            <a:r>
              <a:rPr dirty="0" spc="-80"/>
              <a:t>Target</a:t>
            </a:r>
            <a:r>
              <a:rPr dirty="0" spc="-30"/>
              <a:t> </a:t>
            </a:r>
            <a:r>
              <a:rPr dirty="0" spc="-10"/>
              <a:t>Selection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40"/>
              </a:spcBef>
            </a:pPr>
            <a:r>
              <a:rPr dirty="0" spc="-25"/>
              <a:t>22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396043"/>
            <a:ext cx="5111750" cy="1431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154305">
              <a:lnSpc>
                <a:spcPct val="114599"/>
              </a:lnSpc>
              <a:spcBef>
                <a:spcPts val="100"/>
              </a:spcBef>
            </a:pP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Problem:</a:t>
            </a:r>
            <a:r>
              <a:rPr dirty="0" sz="1000" spc="6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single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fault,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many</a:t>
            </a:r>
            <a:r>
              <a:rPr dirty="0" sz="1000" spc="-15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valid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test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patterns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exist.</a:t>
            </a:r>
            <a:r>
              <a:rPr dirty="0" sz="1000" spc="7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fixed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target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would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penalise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model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predicting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different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but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equally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valid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pattern.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070"/>
              </a:spcBef>
            </a:pP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Solution:</a:t>
            </a:r>
            <a:r>
              <a:rPr dirty="0" sz="1000" spc="4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60">
                <a:solidFill>
                  <a:srgbClr val="22373A"/>
                </a:solidFill>
                <a:latin typeface="Lucida Sans Unicode"/>
                <a:cs typeface="Lucida Sans Unicode"/>
              </a:rPr>
              <a:t>Dynamic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70">
                <a:solidFill>
                  <a:srgbClr val="22373A"/>
                </a:solidFill>
                <a:latin typeface="Lucida Sans Unicode"/>
                <a:cs typeface="Lucida Sans Unicode"/>
              </a:rPr>
              <a:t>Target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Selection</a:t>
            </a:r>
            <a:endParaRPr sz="1000">
              <a:latin typeface="Lucida Sans Unicode"/>
              <a:cs typeface="Lucida Sans Unicode"/>
            </a:endParaRPr>
          </a:p>
          <a:p>
            <a:pPr marL="189865" marR="215900" indent="-99695">
              <a:lnSpc>
                <a:spcPct val="114599"/>
              </a:lnSpc>
              <a:spcBef>
                <a:spcPts val="550"/>
              </a:spcBef>
              <a:buClr>
                <a:srgbClr val="2C396B"/>
              </a:buClr>
              <a:buChar char="•"/>
              <a:tabLst>
                <a:tab pos="1898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Maintain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pool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Lucida Sans Unicode"/>
                <a:cs typeface="Lucida Sans Unicode"/>
              </a:rPr>
              <a:t>T</a:t>
            </a:r>
            <a:r>
              <a:rPr dirty="0" sz="1000" spc="3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=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Lucida Sans Unicode"/>
                <a:cs typeface="Lucida Sans Unicode"/>
              </a:rPr>
              <a:t>{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t</a:t>
            </a:r>
            <a:r>
              <a:rPr dirty="0" baseline="27777" sz="1050">
                <a:solidFill>
                  <a:srgbClr val="22373A"/>
                </a:solidFill>
                <a:latin typeface="Calibri"/>
                <a:cs typeface="Calibri"/>
              </a:rPr>
              <a:t>(</a:t>
            </a:r>
            <a:r>
              <a:rPr dirty="0" baseline="27777" sz="1050">
                <a:solidFill>
                  <a:srgbClr val="22373A"/>
                </a:solidFill>
                <a:latin typeface="Tahoma"/>
                <a:cs typeface="Tahoma"/>
              </a:rPr>
              <a:t>1</a:t>
            </a:r>
            <a:r>
              <a:rPr dirty="0" baseline="27777" sz="1050">
                <a:solidFill>
                  <a:srgbClr val="22373A"/>
                </a:solidFill>
                <a:latin typeface="Calibri"/>
                <a:cs typeface="Calibri"/>
              </a:rPr>
              <a:t>)</a:t>
            </a:r>
            <a:r>
              <a:rPr dirty="0" sz="1000" i="1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dirty="0" sz="1000" spc="-20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t</a:t>
            </a:r>
            <a:r>
              <a:rPr dirty="0" baseline="27777" sz="1050">
                <a:solidFill>
                  <a:srgbClr val="22373A"/>
                </a:solidFill>
                <a:latin typeface="Calibri"/>
                <a:cs typeface="Calibri"/>
              </a:rPr>
              <a:t>(</a:t>
            </a:r>
            <a:r>
              <a:rPr dirty="0" baseline="27777" sz="1050">
                <a:solidFill>
                  <a:srgbClr val="22373A"/>
                </a:solidFill>
                <a:latin typeface="Tahoma"/>
                <a:cs typeface="Tahoma"/>
              </a:rPr>
              <a:t>2</a:t>
            </a:r>
            <a:r>
              <a:rPr dirty="0" baseline="27777" sz="1050">
                <a:solidFill>
                  <a:srgbClr val="22373A"/>
                </a:solidFill>
                <a:latin typeface="Calibri"/>
                <a:cs typeface="Calibri"/>
              </a:rPr>
              <a:t>)</a:t>
            </a:r>
            <a:r>
              <a:rPr dirty="0" sz="1000" i="1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dirty="0" sz="1000" spc="-30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dirty="0" sz="1000" spc="-25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dirty="0" sz="1000" spc="-25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dirty="0" sz="1000" spc="-25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70">
                <a:solidFill>
                  <a:srgbClr val="22373A"/>
                </a:solidFill>
                <a:latin typeface="Lucida Sans Unicode"/>
                <a:cs typeface="Lucida Sans Unicode"/>
              </a:rPr>
              <a:t>}</a:t>
            </a:r>
            <a:r>
              <a:rPr dirty="0" sz="1000" spc="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all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valid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patterns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per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(from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brute-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force enumeration)</a:t>
            </a:r>
            <a:endParaRPr sz="1000">
              <a:latin typeface="Tahoma"/>
              <a:cs typeface="Tahoma"/>
            </a:endParaRPr>
          </a:p>
          <a:p>
            <a:pPr marL="189865" marR="30480" indent="-99695">
              <a:lnSpc>
                <a:spcPct val="114599"/>
              </a:lnSpc>
              <a:buClr>
                <a:srgbClr val="2C396B"/>
              </a:buClr>
              <a:buChar char="•"/>
              <a:tabLst>
                <a:tab pos="1898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At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each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training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step,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select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target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with </a:t>
            </a:r>
            <a:r>
              <a:rPr dirty="0" sz="1000">
                <a:solidFill>
                  <a:srgbClr val="C0392B"/>
                </a:solidFill>
                <a:latin typeface="Tahoma"/>
                <a:cs typeface="Tahoma"/>
              </a:rPr>
              <a:t>minimum</a:t>
            </a:r>
            <a:r>
              <a:rPr dirty="0" sz="1000" spc="-10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C0392B"/>
                </a:solidFill>
                <a:latin typeface="Tahoma"/>
                <a:cs typeface="Tahoma"/>
              </a:rPr>
              <a:t>Hamming distance</a:t>
            </a:r>
            <a:r>
              <a:rPr dirty="0" sz="1000" spc="-5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current prediction: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3612" y="1810603"/>
            <a:ext cx="7747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22373A"/>
                </a:solidFill>
                <a:latin typeface="Cambria"/>
                <a:cs typeface="Cambria"/>
              </a:rPr>
              <a:t>⋆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76003" y="1944448"/>
            <a:ext cx="1809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i="1">
                <a:solidFill>
                  <a:srgbClr val="22373A"/>
                </a:solidFill>
                <a:latin typeface="Trebuchet MS"/>
                <a:cs typeface="Trebuchet MS"/>
              </a:rPr>
              <a:t>t</a:t>
            </a:r>
            <a:r>
              <a:rPr dirty="0" sz="700" spc="-25">
                <a:solidFill>
                  <a:srgbClr val="22373A"/>
                </a:solidFill>
                <a:latin typeface="Cambria"/>
                <a:cs typeface="Cambria"/>
              </a:rPr>
              <a:t>∈T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92868" y="1881825"/>
            <a:ext cx="7239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solidFill>
                  <a:srgbClr val="22373A"/>
                </a:solidFill>
                <a:latin typeface="Trebuchet MS"/>
                <a:cs typeface="Trebuchet MS"/>
              </a:rPr>
              <a:t>H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96234" y="1811799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2373A"/>
                </a:solidFill>
                <a:latin typeface="Cambria"/>
                <a:cs typeface="Cambria"/>
              </a:rPr>
              <a:t>^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40711" y="1824893"/>
            <a:ext cx="11728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3515" algn="l"/>
              </a:tabLst>
            </a:pPr>
            <a:r>
              <a:rPr dirty="0" sz="1000" spc="-50" i="1">
                <a:solidFill>
                  <a:srgbClr val="22373A"/>
                </a:solidFill>
                <a:latin typeface="Trebuchet MS"/>
                <a:cs typeface="Trebuchet MS"/>
              </a:rPr>
              <a:t>t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	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=</a:t>
            </a:r>
            <a:r>
              <a:rPr dirty="0" sz="1000" spc="2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22373A"/>
                </a:solidFill>
                <a:latin typeface="Tahoma"/>
                <a:cs typeface="Tahoma"/>
              </a:rPr>
              <a:t>arg</a:t>
            </a:r>
            <a:r>
              <a:rPr dirty="0" sz="1000" spc="-1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min</a:t>
            </a:r>
            <a:r>
              <a:rPr dirty="0" sz="1000" spc="1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d</a:t>
            </a:r>
            <a:r>
              <a:rPr dirty="0" sz="1000" spc="100" i="1">
                <a:solidFill>
                  <a:srgbClr val="22373A"/>
                </a:solidFill>
                <a:latin typeface="Trebuchet MS"/>
                <a:cs typeface="Trebuchet MS"/>
              </a:rPr>
              <a:t> 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p</a:t>
            </a:r>
            <a:r>
              <a:rPr dirty="0" sz="1000" i="1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dirty="0" sz="1000" spc="105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50" i="1">
                <a:solidFill>
                  <a:srgbClr val="22373A"/>
                </a:solidFill>
                <a:latin typeface="Trebuchet MS"/>
                <a:cs typeface="Trebuchet MS"/>
              </a:rPr>
              <a:t>t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37268" y="1722404"/>
            <a:ext cx="334010" cy="17780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262890" algn="l"/>
              </a:tabLst>
            </a:pPr>
            <a:r>
              <a:rPr dirty="0" sz="1000">
                <a:solidFill>
                  <a:srgbClr val="22373A"/>
                </a:solidFill>
                <a:latin typeface="Cambria"/>
                <a:cs typeface="Cambria"/>
              </a:rPr>
              <a:t>	 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4154" y="2071933"/>
            <a:ext cx="33807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7160" indent="-99060">
              <a:lnSpc>
                <a:spcPct val="100000"/>
              </a:lnSpc>
              <a:spcBef>
                <a:spcPts val="95"/>
              </a:spcBef>
              <a:buClr>
                <a:srgbClr val="2C396B"/>
              </a:buClr>
              <a:buChar char="•"/>
              <a:tabLst>
                <a:tab pos="137160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Compute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loss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against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t</a:t>
            </a:r>
            <a:r>
              <a:rPr dirty="0" baseline="27777" sz="1050">
                <a:solidFill>
                  <a:srgbClr val="22373A"/>
                </a:solidFill>
                <a:latin typeface="Cambria"/>
                <a:cs typeface="Cambria"/>
              </a:rPr>
              <a:t>⋆</a:t>
            </a:r>
            <a:r>
              <a:rPr dirty="0" baseline="27777" sz="1050" spc="27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rather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than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fixed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reference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59994" y="2306993"/>
          <a:ext cx="5116195" cy="5695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4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Effect</a:t>
                      </a:r>
                      <a:r>
                        <a:rPr dirty="0" sz="1000" spc="-4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5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on</a:t>
                      </a:r>
                      <a:r>
                        <a:rPr dirty="0" sz="1000" spc="-4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training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000" spc="-3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model</a:t>
                      </a:r>
                      <a:r>
                        <a:rPr dirty="0" sz="1000" spc="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is</a:t>
                      </a:r>
                      <a:r>
                        <a:rPr dirty="0" sz="1000" spc="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penalised</a:t>
                      </a:r>
                      <a:r>
                        <a:rPr dirty="0" sz="10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only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relative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closest</a:t>
                      </a:r>
                      <a:r>
                        <a:rPr dirty="0" sz="10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valid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solution.</a:t>
                      </a:r>
                      <a:r>
                        <a:rPr dirty="0" sz="1000" spc="1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Gradient</a:t>
                      </a:r>
                      <a:r>
                        <a:rPr dirty="0" sz="10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direction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stays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consistent across epochs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convergence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stabilises.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16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80"/>
              <a:t>The</a:t>
            </a:r>
            <a:r>
              <a:rPr dirty="0" spc="-45"/>
              <a:t> </a:t>
            </a:r>
            <a:r>
              <a:rPr dirty="0" spc="-60"/>
              <a:t>Loss</a:t>
            </a:r>
            <a:r>
              <a:rPr dirty="0" spc="-45"/>
              <a:t> </a:t>
            </a:r>
            <a:r>
              <a:rPr dirty="0" spc="-55"/>
              <a:t>Function</a:t>
            </a:r>
            <a:r>
              <a:rPr dirty="0" spc="-45"/>
              <a:t> </a:t>
            </a:r>
            <a:r>
              <a:rPr dirty="0" spc="-265"/>
              <a:t>—</a:t>
            </a:r>
            <a:r>
              <a:rPr dirty="0" spc="-45"/>
              <a:t> </a:t>
            </a:r>
            <a:r>
              <a:rPr dirty="0" spc="-25"/>
              <a:t>Binary</a:t>
            </a:r>
            <a:r>
              <a:rPr dirty="0" spc="-45"/>
              <a:t> </a:t>
            </a:r>
            <a:r>
              <a:rPr dirty="0" spc="-95"/>
              <a:t>Cross-</a:t>
            </a:r>
            <a:r>
              <a:rPr dirty="0" spc="-40"/>
              <a:t>Entropy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40"/>
              </a:spcBef>
            </a:pPr>
            <a:r>
              <a:rPr dirty="0" spc="-25"/>
              <a:t>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396043"/>
            <a:ext cx="5010785" cy="374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14599"/>
              </a:lnSpc>
              <a:spcBef>
                <a:spcPts val="100"/>
              </a:spcBef>
            </a:pP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Each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PI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bit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independent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Bernoulli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prediction;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Binary</a:t>
            </a:r>
            <a:r>
              <a:rPr dirty="0" sz="1000" spc="1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80">
                <a:solidFill>
                  <a:srgbClr val="22373A"/>
                </a:solidFill>
                <a:latin typeface="Lucida Sans Unicode"/>
                <a:cs typeface="Lucida Sans Unicode"/>
              </a:rPr>
              <a:t>Cross-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Entropy</a:t>
            </a:r>
            <a:r>
              <a:rPr dirty="0" sz="1000" spc="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applied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over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all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N</a:t>
            </a:r>
            <a:r>
              <a:rPr dirty="0" baseline="-11904" sz="1050" i="1">
                <a:solidFill>
                  <a:srgbClr val="22373A"/>
                </a:solidFill>
                <a:latin typeface="Trebuchet MS"/>
                <a:cs typeface="Trebuchet MS"/>
              </a:rPr>
              <a:t>PI</a:t>
            </a:r>
            <a:r>
              <a:rPr dirty="0" baseline="-11904" sz="1050" spc="300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bits.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865504"/>
          <a:ext cx="5116195" cy="1084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4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BCE</a:t>
                      </a:r>
                      <a:r>
                        <a:rPr dirty="0" sz="1000" spc="-3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2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loss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894715">
                <a:tc>
                  <a:txBody>
                    <a:bodyPr/>
                    <a:lstStyle/>
                    <a:p>
                      <a:pPr marL="1840230">
                        <a:lnSpc>
                          <a:spcPts val="1155"/>
                        </a:lnSpc>
                        <a:spcBef>
                          <a:spcPts val="160"/>
                        </a:spcBef>
                        <a:tabLst>
                          <a:tab pos="3769360" algn="l"/>
                        </a:tabLst>
                      </a:pPr>
                      <a:r>
                        <a:rPr dirty="0" baseline="11904" sz="10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baseline="5555" sz="750" i="1">
                          <a:latin typeface="Trebuchet MS"/>
                          <a:cs typeface="Trebuchet MS"/>
                        </a:rPr>
                        <a:t>PI</a:t>
                      </a:r>
                      <a:r>
                        <a:rPr dirty="0" baseline="5555" sz="750" spc="247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60">
                          <a:latin typeface="Cambria"/>
                          <a:cs typeface="Cambria"/>
                        </a:rPr>
                        <a:t>h</a:t>
                      </a:r>
                      <a:r>
                        <a:rPr dirty="0" sz="1000">
                          <a:latin typeface="Cambria"/>
                          <a:cs typeface="Cambria"/>
                        </a:rPr>
                        <a:t>	</a:t>
                      </a:r>
                      <a:r>
                        <a:rPr dirty="0" sz="1000" spc="140">
                          <a:latin typeface="Cambria"/>
                          <a:cs typeface="Cambria"/>
                        </a:rPr>
                        <a:t>i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marL="1210310">
                        <a:lnSpc>
                          <a:spcPts val="1155"/>
                        </a:lnSpc>
                      </a:pPr>
                      <a:r>
                        <a:rPr dirty="0" sz="100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dirty="0" baseline="-11904" sz="1050" i="1">
                          <a:latin typeface="Trebuchet MS"/>
                          <a:cs typeface="Trebuchet MS"/>
                        </a:rPr>
                        <a:t>BCE</a:t>
                      </a:r>
                      <a:r>
                        <a:rPr dirty="0" baseline="-11904" sz="1050" spc="63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26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4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14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baseline="52777" sz="1500" spc="1327">
                          <a:latin typeface="Cambria"/>
                          <a:cs typeface="Cambria"/>
                        </a:rPr>
                        <a:t>Σ</a:t>
                      </a:r>
                      <a:r>
                        <a:rPr dirty="0" baseline="52777" sz="1500" spc="68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i="1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dirty="0" baseline="-15873" sz="1050" i="1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baseline="-15873" sz="1050" spc="7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log(</a:t>
                      </a:r>
                      <a:r>
                        <a:rPr dirty="0" sz="1000" i="1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dirty="0" baseline="-15873" sz="1050" i="1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)</a:t>
                      </a:r>
                      <a:r>
                        <a:rPr dirty="0" sz="1000" spc="204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000" spc="2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80">
                          <a:latin typeface="Tahoma"/>
                          <a:cs typeface="Tahoma"/>
                        </a:rPr>
                        <a:t>(1</a:t>
                      </a:r>
                      <a:r>
                        <a:rPr dirty="0" sz="1000" spc="-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4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8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 i="1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dirty="0" baseline="-15873" sz="1050" spc="-15" i="1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)</a:t>
                      </a:r>
                      <a:r>
                        <a:rPr dirty="0" sz="1000" spc="-14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5">
                          <a:latin typeface="Tahoma"/>
                          <a:cs typeface="Tahoma"/>
                        </a:rPr>
                        <a:t>log(1</a:t>
                      </a:r>
                      <a:r>
                        <a:rPr dirty="0" sz="1000" spc="-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4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000" spc="-8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25" i="1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dirty="0" baseline="-15873" sz="1050" spc="-37" i="1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)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18332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00" spc="-25" i="1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sz="700" spc="-25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700" spc="-25">
                          <a:latin typeface="Tahoma"/>
                          <a:cs typeface="Tahoma"/>
                        </a:rPr>
                        <a:t>1</a:t>
                      </a:r>
                      <a:endParaRPr sz="700">
                        <a:latin typeface="Tahoma"/>
                        <a:cs typeface="Tahoma"/>
                      </a:endParaRPr>
                    </a:p>
                    <a:p>
                      <a:pPr marL="41910" marR="229870">
                        <a:lnSpc>
                          <a:spcPct val="114599"/>
                        </a:lnSpc>
                        <a:spcBef>
                          <a:spcPts val="315"/>
                        </a:spcBef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where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i="1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dirty="0" baseline="-15873" sz="1050" i="1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baseline="-15873" sz="1050" spc="202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50">
                          <a:latin typeface="Lucida Sans Unicode"/>
                          <a:cs typeface="Lucida Sans Unicode"/>
                        </a:rPr>
                        <a:t>∈</a:t>
                      </a:r>
                      <a:r>
                        <a:rPr dirty="0" sz="1000" spc="-3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60">
                          <a:latin typeface="Lucida Sans Unicode"/>
                          <a:cs typeface="Lucida Sans Unicode"/>
                        </a:rPr>
                        <a:t>{</a:t>
                      </a:r>
                      <a:r>
                        <a:rPr dirty="0" sz="1000" spc="60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1000" spc="60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000" spc="-5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1000">
                          <a:latin typeface="Lucida Sans Unicode"/>
                          <a:cs typeface="Lucida Sans Unicode"/>
                        </a:rPr>
                        <a:t>}</a:t>
                      </a:r>
                      <a:r>
                        <a:rPr dirty="0" sz="1000" spc="-2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is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(dynamically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selected)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target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bit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i="1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dirty="0" baseline="-15873" sz="1050" i="1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baseline="-15873" sz="1050" spc="19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50">
                          <a:latin typeface="Lucida Sans Unicode"/>
                          <a:cs typeface="Lucida Sans Unicode"/>
                        </a:rPr>
                        <a:t>∈</a:t>
                      </a:r>
                      <a:r>
                        <a:rPr dirty="0" sz="1000" spc="-2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(0</a:t>
                      </a:r>
                      <a:r>
                        <a:rPr dirty="0" sz="1000" i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000" spc="-5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80">
                          <a:latin typeface="Tahoma"/>
                          <a:cs typeface="Tahoma"/>
                        </a:rPr>
                        <a:t>1)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is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model’s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predicted</a:t>
                      </a:r>
                      <a:r>
                        <a:rPr dirty="0" sz="1000" spc="6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probability.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2032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7294" y="2062434"/>
            <a:ext cx="4765675" cy="945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Why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this 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loss</a:t>
            </a:r>
            <a:endParaRPr sz="1000">
              <a:latin typeface="Lucida Sans Unicode"/>
              <a:cs typeface="Lucida Sans Unicode"/>
            </a:endParaRPr>
          </a:p>
          <a:p>
            <a:pPr marL="163830" indent="-99060">
              <a:lnSpc>
                <a:spcPct val="100000"/>
              </a:lnSpc>
              <a:spcBef>
                <a:spcPts val="725"/>
              </a:spcBef>
              <a:buClr>
                <a:srgbClr val="2C396B"/>
              </a:buClr>
              <a:buChar char="•"/>
              <a:tabLst>
                <a:tab pos="163830" algn="l"/>
              </a:tabLst>
            </a:pP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Each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PI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binary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decision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⇒</a:t>
            </a:r>
            <a:r>
              <a:rPr dirty="0" sz="1000" spc="1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Bernoulli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output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⇒</a:t>
            </a:r>
            <a:r>
              <a:rPr dirty="0" sz="1000" spc="1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BCE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natural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choice</a:t>
            </a:r>
            <a:endParaRPr sz="1000">
              <a:latin typeface="Tahoma"/>
              <a:cs typeface="Tahoma"/>
            </a:endParaRPr>
          </a:p>
          <a:p>
            <a:pPr marL="163830" indent="-99060">
              <a:lnSpc>
                <a:spcPct val="100000"/>
              </a:lnSpc>
              <a:spcBef>
                <a:spcPts val="170"/>
              </a:spcBef>
              <a:buClr>
                <a:srgbClr val="2C396B"/>
              </a:buClr>
              <a:buChar char="•"/>
              <a:tabLst>
                <a:tab pos="163830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Penalises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confident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wrong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predictions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strongly;</a:t>
            </a:r>
            <a:r>
              <a:rPr dirty="0" sz="1000" spc="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light</a:t>
            </a:r>
            <a:r>
              <a:rPr dirty="0" sz="1000" spc="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penalty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confident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correct</a:t>
            </a:r>
            <a:endParaRPr sz="1000">
              <a:latin typeface="Tahoma"/>
              <a:cs typeface="Tahoma"/>
            </a:endParaRPr>
          </a:p>
          <a:p>
            <a:pPr marL="164465" marR="285750" indent="-99695">
              <a:lnSpc>
                <a:spcPct val="114599"/>
              </a:lnSpc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Provides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stable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gradients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across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epochs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45">
                <a:solidFill>
                  <a:srgbClr val="22373A"/>
                </a:solidFill>
                <a:latin typeface="Tahoma"/>
                <a:cs typeface="Tahoma"/>
              </a:rPr>
              <a:t>—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property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required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bit-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wise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classification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63700"/>
            <a:ext cx="346329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5"/>
              <a:t>Training</a:t>
            </a:r>
            <a:r>
              <a:rPr dirty="0" spc="-50"/>
              <a:t> </a:t>
            </a:r>
            <a:r>
              <a:rPr dirty="0" spc="-65"/>
              <a:t>Convergence</a:t>
            </a:r>
            <a:r>
              <a:rPr dirty="0" spc="-45"/>
              <a:t> </a:t>
            </a:r>
            <a:r>
              <a:rPr dirty="0" spc="-265"/>
              <a:t>—</a:t>
            </a:r>
            <a:r>
              <a:rPr dirty="0" spc="-45"/>
              <a:t> </a:t>
            </a:r>
            <a:r>
              <a:rPr dirty="0" spc="-60"/>
              <a:t>Why</a:t>
            </a:r>
            <a:r>
              <a:rPr dirty="0" spc="-45"/>
              <a:t> </a:t>
            </a:r>
            <a:r>
              <a:rPr dirty="0" spc="-160"/>
              <a:t>100</a:t>
            </a:r>
            <a:r>
              <a:rPr dirty="0" spc="-45"/>
              <a:t> </a:t>
            </a:r>
            <a:r>
              <a:rPr dirty="0" spc="-55"/>
              <a:t>Epochs,</a:t>
            </a:r>
            <a:r>
              <a:rPr dirty="0" spc="-45"/>
              <a:t> </a:t>
            </a:r>
            <a:r>
              <a:rPr dirty="0" spc="-55"/>
              <a:t>Not</a:t>
            </a:r>
            <a:r>
              <a:rPr dirty="0" spc="-45"/>
              <a:t> </a:t>
            </a:r>
            <a:r>
              <a:rPr dirty="0" spc="-80"/>
              <a:t>1000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40"/>
              </a:spcBef>
            </a:pPr>
            <a:r>
              <a:rPr dirty="0" spc="-25"/>
              <a:t>24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27348"/>
            <a:ext cx="2511425" cy="161226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Observed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dynamics</a:t>
            </a:r>
            <a:endParaRPr sz="1000">
              <a:latin typeface="Lucida Sans Unicode"/>
              <a:cs typeface="Lucida Sans Unicode"/>
            </a:endParaRPr>
          </a:p>
          <a:p>
            <a:pPr marL="164465" marR="145415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Best validation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85">
                <a:solidFill>
                  <a:srgbClr val="22373A"/>
                </a:solidFill>
                <a:latin typeface="Lucida Sans Unicode"/>
                <a:cs typeface="Lucida Sans Unicode"/>
              </a:rPr>
              <a:t>bit-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accuracy:</a:t>
            </a:r>
            <a:r>
              <a:rPr dirty="0" sz="1000" spc="9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65">
                <a:solidFill>
                  <a:srgbClr val="22373A"/>
                </a:solidFill>
                <a:latin typeface="Lucida Sans Unicode"/>
                <a:cs typeface="Lucida Sans Unicode"/>
              </a:rPr>
              <a:t>83.58%</a:t>
            </a:r>
            <a:r>
              <a:rPr dirty="0" sz="1000" spc="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at </a:t>
            </a:r>
            <a:r>
              <a:rPr dirty="0" sz="1000">
                <a:solidFill>
                  <a:srgbClr val="C0392B"/>
                </a:solidFill>
                <a:latin typeface="Tahoma"/>
                <a:cs typeface="Tahoma"/>
              </a:rPr>
              <a:t>epoch</a:t>
            </a:r>
            <a:r>
              <a:rPr dirty="0" sz="1000" spc="35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C0392B"/>
                </a:solidFill>
                <a:latin typeface="Tahoma"/>
                <a:cs typeface="Tahoma"/>
              </a:rPr>
              <a:t>40</a:t>
            </a:r>
            <a:endParaRPr sz="1000">
              <a:latin typeface="Tahoma"/>
              <a:cs typeface="Tahoma"/>
            </a:endParaRPr>
          </a:p>
          <a:p>
            <a:pPr marL="163830" indent="-99060">
              <a:lnSpc>
                <a:spcPct val="100000"/>
              </a:lnSpc>
              <a:spcBef>
                <a:spcPts val="475"/>
              </a:spcBef>
              <a:buClr>
                <a:srgbClr val="2C396B"/>
              </a:buClr>
              <a:buChar char="•"/>
              <a:tabLst>
                <a:tab pos="163830" algn="l"/>
              </a:tabLst>
            </a:pP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Train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accuracy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keeps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climbing:</a:t>
            </a:r>
            <a:endParaRPr sz="1000">
              <a:latin typeface="Tahoma"/>
              <a:cs typeface="Tahoma"/>
            </a:endParaRPr>
          </a:p>
          <a:p>
            <a:pPr marL="164465">
              <a:lnSpc>
                <a:spcPct val="100000"/>
              </a:lnSpc>
              <a:spcBef>
                <a:spcPts val="175"/>
              </a:spcBef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0</a:t>
            </a:r>
            <a:r>
              <a:rPr dirty="0" sz="1000" i="1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90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0</a:t>
            </a:r>
            <a:r>
              <a:rPr dirty="0" sz="1000" spc="-20" i="1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93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over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epochs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22373A"/>
                </a:solidFill>
                <a:latin typeface="Tahoma"/>
                <a:cs typeface="Tahoma"/>
              </a:rPr>
              <a:t>40–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100</a:t>
            </a:r>
            <a:endParaRPr sz="1000">
              <a:latin typeface="Tahoma"/>
              <a:cs typeface="Tahoma"/>
            </a:endParaRPr>
          </a:p>
          <a:p>
            <a:pPr marL="164465" marR="508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Val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pinned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at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Lucida Sans Unicode"/>
                <a:cs typeface="Lucida Sans Unicode"/>
              </a:rPr>
              <a:t>∼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0</a:t>
            </a:r>
            <a:r>
              <a:rPr dirty="0" sz="1000" spc="-10" i="1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83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remaining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60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epochs</a:t>
            </a:r>
            <a:endParaRPr sz="1000">
              <a:latin typeface="Tahoma"/>
              <a:cs typeface="Tahoma"/>
            </a:endParaRPr>
          </a:p>
          <a:p>
            <a:pPr marL="163830" indent="-99060">
              <a:lnSpc>
                <a:spcPct val="100000"/>
              </a:lnSpc>
              <a:spcBef>
                <a:spcPts val="470"/>
              </a:spcBef>
              <a:buClr>
                <a:srgbClr val="2C396B"/>
              </a:buClr>
              <a:buChar char="•"/>
              <a:tabLst>
                <a:tab pos="163830" algn="l"/>
              </a:tabLst>
            </a:pP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Train–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val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gap:</a:t>
            </a:r>
            <a:r>
              <a:rPr dirty="0" sz="1000" spc="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textbook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overfit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68866" y="327348"/>
            <a:ext cx="2336165" cy="1786889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Why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this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is</a:t>
            </a:r>
            <a:r>
              <a:rPr dirty="0" sz="1000" spc="-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Lucida Sans Unicode"/>
                <a:cs typeface="Lucida Sans Unicode"/>
              </a:rPr>
              <a:t>fine</a:t>
            </a:r>
            <a:endParaRPr sz="1000">
              <a:latin typeface="Lucida Sans Unicode"/>
              <a:cs typeface="Lucida Sans Unicode"/>
            </a:endParaRPr>
          </a:p>
          <a:p>
            <a:pPr marL="164465" marR="8382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paper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trains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1000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epochs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but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never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publishes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convergence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curve</a:t>
            </a:r>
            <a:endParaRPr sz="1000">
              <a:latin typeface="Tahoma"/>
              <a:cs typeface="Tahoma"/>
            </a:endParaRPr>
          </a:p>
          <a:p>
            <a:pPr marL="164465" marR="8001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model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reaches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its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natural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ceiling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at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epoch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40</a:t>
            </a:r>
            <a:endParaRPr sz="1000">
              <a:latin typeface="Tahoma"/>
              <a:cs typeface="Tahoma"/>
            </a:endParaRPr>
          </a:p>
          <a:p>
            <a:pPr marL="164465" marR="762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Continuing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past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ep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40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only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widens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the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train–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val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gap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45">
                <a:solidFill>
                  <a:srgbClr val="22373A"/>
                </a:solidFill>
                <a:latin typeface="Tahoma"/>
                <a:cs typeface="Tahoma"/>
              </a:rPr>
              <a:t>—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no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accuracy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gain</a:t>
            </a:r>
            <a:endParaRPr sz="1000">
              <a:latin typeface="Tahoma"/>
              <a:cs typeface="Tahoma"/>
            </a:endParaRPr>
          </a:p>
          <a:p>
            <a:pPr marL="164465" marR="508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Best-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epoch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checkpoint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</a:t>
            </a:r>
            <a:r>
              <a:rPr dirty="0" sz="1000" spc="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reported model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9994" y="2191232"/>
          <a:ext cx="5116195" cy="744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6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Per-</a:t>
                      </a:r>
                      <a:r>
                        <a:rPr dirty="0" sz="1000" spc="-35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cell</a:t>
                      </a:r>
                      <a:r>
                        <a:rPr dirty="0" sz="1000" spc="-4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55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vs.</a:t>
                      </a:r>
                      <a:r>
                        <a:rPr dirty="0" sz="1000" spc="-35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3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pool</a:t>
                      </a:r>
                      <a:r>
                        <a:rPr dirty="0" sz="1000" spc="-35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1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average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000" spc="-3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paper’s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14">
                          <a:latin typeface="Tahoma"/>
                          <a:cs typeface="Tahoma"/>
                        </a:rPr>
                        <a:t>“</a:t>
                      </a:r>
                      <a:r>
                        <a:rPr dirty="0" sz="1000" spc="114" i="1"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00" spc="65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60">
                          <a:latin typeface="Tahoma"/>
                          <a:cs typeface="Tahoma"/>
                        </a:rPr>
                        <a:t>90%”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is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5" i="1">
                          <a:latin typeface="Trebuchet MS"/>
                          <a:cs typeface="Trebuchet MS"/>
                        </a:rPr>
                        <a:t>per-</a:t>
                      </a:r>
                      <a:r>
                        <a:rPr dirty="0" sz="1000" spc="-25" i="1">
                          <a:latin typeface="Trebuchet MS"/>
                          <a:cs typeface="Trebuchet MS"/>
                        </a:rPr>
                        <a:t>cell</a:t>
                      </a:r>
                      <a:r>
                        <a:rPr dirty="0" sz="1000" spc="-1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i="1">
                          <a:latin typeface="Trebuchet MS"/>
                          <a:cs typeface="Trebuchet MS"/>
                        </a:rPr>
                        <a:t>mean</a:t>
                      </a:r>
                      <a:r>
                        <a:rPr dirty="0" sz="1000" spc="-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over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Fig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5a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buckets.</a:t>
                      </a:r>
                      <a:r>
                        <a:rPr dirty="0" sz="1000" spc="8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val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pool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mixes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all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41910" marR="140970">
                        <a:lnSpc>
                          <a:spcPct val="114599"/>
                        </a:lnSpc>
                      </a:pPr>
                      <a:r>
                        <a:rPr dirty="0" sz="1000">
                          <a:latin typeface="Tahoma"/>
                          <a:cs typeface="Tahoma"/>
                        </a:rPr>
                        <a:t>depths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5">
                          <a:latin typeface="Tahoma"/>
                          <a:cs typeface="Tahoma"/>
                        </a:rPr>
                        <a:t>4–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30.</a:t>
                      </a:r>
                      <a:r>
                        <a:rPr dirty="0" sz="1000" spc="1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On shallow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buckets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the model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already</a:t>
                      </a:r>
                      <a:r>
                        <a:rPr dirty="0" sz="1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hits </a:t>
                      </a:r>
                      <a:r>
                        <a:rPr dirty="0" sz="1000" spc="-55">
                          <a:latin typeface="Tahoma"/>
                          <a:cs typeface="Tahoma"/>
                        </a:rPr>
                        <a:t>93–</a:t>
                      </a:r>
                      <a:r>
                        <a:rPr dirty="0" sz="1000" spc="-80">
                          <a:latin typeface="Tahoma"/>
                          <a:cs typeface="Tahoma"/>
                        </a:rPr>
                        <a:t>100%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45">
                          <a:latin typeface="Tahoma"/>
                          <a:cs typeface="Tahoma"/>
                        </a:rPr>
                        <a:t>—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5">
                          <a:latin typeface="Tahoma"/>
                          <a:cs typeface="Tahoma"/>
                        </a:rPr>
                        <a:t>0.83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is the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overall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pool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average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dragged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down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by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deepest</a:t>
                      </a:r>
                      <a:r>
                        <a:rPr dirty="0" sz="1000" spc="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buckets.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16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75524" y="1148972"/>
            <a:ext cx="2272665" cy="54927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2800"/>
              </a:lnSpc>
              <a:spcBef>
                <a:spcPts val="90"/>
              </a:spcBef>
            </a:pPr>
            <a:r>
              <a:rPr dirty="0" sz="1400" spc="-10">
                <a:solidFill>
                  <a:srgbClr val="22373A"/>
                </a:solidFill>
                <a:hlinkClick r:id="rId2" action="ppaction://hlinksldjump"/>
              </a:rPr>
              <a:t>Block</a:t>
            </a:r>
            <a:r>
              <a:rPr dirty="0" sz="1400" spc="-65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dirty="0" sz="1400" spc="-185">
                <a:solidFill>
                  <a:srgbClr val="22373A"/>
                </a:solidFill>
                <a:hlinkClick r:id="rId2" action="ppaction://hlinksldjump"/>
              </a:rPr>
              <a:t>3</a:t>
            </a:r>
            <a:r>
              <a:rPr dirty="0" sz="1400" spc="-65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dirty="0" sz="1400" spc="-280">
                <a:solidFill>
                  <a:srgbClr val="22373A"/>
                </a:solidFill>
                <a:hlinkClick r:id="rId2" action="ppaction://hlinksldjump"/>
              </a:rPr>
              <a:t>—</a:t>
            </a:r>
            <a:r>
              <a:rPr dirty="0" sz="1400" spc="-6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dirty="0" sz="1400" spc="-25">
                <a:solidFill>
                  <a:srgbClr val="22373A"/>
                </a:solidFill>
                <a:hlinkClick r:id="rId2" action="ppaction://hlinksldjump"/>
              </a:rPr>
              <a:t>Results</a:t>
            </a:r>
            <a:r>
              <a:rPr dirty="0" sz="1400" spc="-65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dirty="0" sz="1400" spc="65">
                <a:solidFill>
                  <a:srgbClr val="22373A"/>
                </a:solidFill>
                <a:hlinkClick r:id="rId2" action="ppaction://hlinksldjump"/>
              </a:rPr>
              <a:t>&amp;</a:t>
            </a:r>
            <a:r>
              <a:rPr dirty="0" sz="1400" spc="-65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dirty="0" sz="1400" spc="-25">
                <a:solidFill>
                  <a:srgbClr val="22373A"/>
                </a:solidFill>
                <a:hlinkClick r:id="rId2" action="ppaction://hlinksldjump"/>
              </a:rPr>
              <a:t>Honest</a:t>
            </a:r>
            <a:r>
              <a:rPr dirty="0" sz="1400" spc="-25">
                <a:solidFill>
                  <a:srgbClr val="22373A"/>
                </a:solidFill>
              </a:rPr>
              <a:t> </a:t>
            </a:r>
            <a:r>
              <a:rPr dirty="0" sz="1400" spc="-10">
                <a:solidFill>
                  <a:srgbClr val="22373A"/>
                </a:solidFill>
                <a:hlinkClick r:id="rId2" action="ppaction://hlinksldjump"/>
              </a:rPr>
              <a:t>Limitations</a:t>
            </a:r>
            <a:endParaRPr sz="1400"/>
          </a:p>
        </p:txBody>
      </p:sp>
      <p:grpSp>
        <p:nvGrpSpPr>
          <p:cNvPr id="3" name="object 3"/>
          <p:cNvGrpSpPr/>
          <p:nvPr/>
        </p:nvGrpSpPr>
        <p:grpSpPr>
          <a:xfrm>
            <a:off x="1488224" y="1809883"/>
            <a:ext cx="2783840" cy="5080"/>
            <a:chOff x="1488224" y="1809883"/>
            <a:chExt cx="2783840" cy="5080"/>
          </a:xfrm>
        </p:grpSpPr>
        <p:sp>
          <p:nvSpPr>
            <p:cNvPr id="4" name="object 4"/>
            <p:cNvSpPr/>
            <p:nvPr/>
          </p:nvSpPr>
          <p:spPr>
            <a:xfrm>
              <a:off x="1488224" y="1809883"/>
              <a:ext cx="2783840" cy="5080"/>
            </a:xfrm>
            <a:custGeom>
              <a:avLst/>
              <a:gdLst/>
              <a:ahLst/>
              <a:cxnLst/>
              <a:rect l="l" t="t" r="r" b="b"/>
              <a:pathLst>
                <a:path w="2783840" h="5080">
                  <a:moveTo>
                    <a:pt x="0" y="5060"/>
                  </a:moveTo>
                  <a:lnTo>
                    <a:pt x="0" y="0"/>
                  </a:lnTo>
                  <a:lnTo>
                    <a:pt x="2783597" y="0"/>
                  </a:lnTo>
                  <a:lnTo>
                    <a:pt x="278359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D7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88224" y="1809883"/>
              <a:ext cx="2087880" cy="5080"/>
            </a:xfrm>
            <a:custGeom>
              <a:avLst/>
              <a:gdLst/>
              <a:ahLst/>
              <a:cxnLst/>
              <a:rect l="l" t="t" r="r" b="b"/>
              <a:pathLst>
                <a:path w="2087879" h="5080">
                  <a:moveTo>
                    <a:pt x="0" y="5060"/>
                  </a:moveTo>
                  <a:lnTo>
                    <a:pt x="0" y="0"/>
                  </a:lnTo>
                  <a:lnTo>
                    <a:pt x="2087698" y="0"/>
                  </a:lnTo>
                  <a:lnTo>
                    <a:pt x="208769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C396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5"/>
              <a:t>Synthetic</a:t>
            </a:r>
            <a:r>
              <a:rPr dirty="0" spc="-50"/>
              <a:t> </a:t>
            </a:r>
            <a:r>
              <a:rPr dirty="0" spc="-65"/>
              <a:t>Grid</a:t>
            </a:r>
            <a:r>
              <a:rPr dirty="0" spc="-50"/>
              <a:t> </a:t>
            </a:r>
            <a:r>
              <a:rPr dirty="0" spc="-265"/>
              <a:t>—</a:t>
            </a:r>
            <a:r>
              <a:rPr dirty="0" spc="-45"/>
              <a:t> </a:t>
            </a:r>
            <a:r>
              <a:rPr dirty="0" spc="-30"/>
              <a:t>Paper</a:t>
            </a:r>
            <a:r>
              <a:rPr dirty="0" spc="-50"/>
              <a:t> </a:t>
            </a:r>
            <a:r>
              <a:rPr dirty="0" spc="-90"/>
              <a:t>Fig</a:t>
            </a:r>
            <a:r>
              <a:rPr dirty="0" spc="-45"/>
              <a:t> </a:t>
            </a:r>
            <a:r>
              <a:rPr dirty="0" spc="-100"/>
              <a:t>5a</a:t>
            </a:r>
            <a:r>
              <a:rPr dirty="0" spc="-50"/>
              <a:t> </a:t>
            </a:r>
            <a:r>
              <a:rPr dirty="0" spc="-20"/>
              <a:t>Replication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2" y="413501"/>
            <a:ext cx="4116070" cy="1606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 spc="-10">
                <a:latin typeface="Lucida Sans Unicode"/>
                <a:cs typeface="Lucida Sans Unicode"/>
              </a:rPr>
              <a:t>Synthetic</a:t>
            </a:r>
            <a:r>
              <a:rPr dirty="0" sz="850" spc="70">
                <a:latin typeface="Lucida Sans Unicode"/>
                <a:cs typeface="Lucida Sans Unicode"/>
              </a:rPr>
              <a:t> </a:t>
            </a:r>
            <a:r>
              <a:rPr dirty="0" sz="850">
                <a:latin typeface="Lucida Sans Unicode"/>
                <a:cs typeface="Lucida Sans Unicode"/>
              </a:rPr>
              <a:t>test</a:t>
            </a:r>
            <a:r>
              <a:rPr dirty="0" sz="850" spc="70">
                <a:latin typeface="Lucida Sans Unicode"/>
                <a:cs typeface="Lucida Sans Unicode"/>
              </a:rPr>
              <a:t> </a:t>
            </a:r>
            <a:r>
              <a:rPr dirty="0" sz="850">
                <a:latin typeface="Lucida Sans Unicode"/>
                <a:cs typeface="Lucida Sans Unicode"/>
              </a:rPr>
              <a:t>set:</a:t>
            </a:r>
            <a:r>
              <a:rPr dirty="0" sz="850" spc="220">
                <a:latin typeface="Lucida Sans Unicode"/>
                <a:cs typeface="Lucida Sans Unicode"/>
              </a:rPr>
              <a:t> </a:t>
            </a:r>
            <a:r>
              <a:rPr dirty="0" sz="850">
                <a:latin typeface="Tahoma"/>
                <a:cs typeface="Tahoma"/>
              </a:rPr>
              <a:t>held-out</a:t>
            </a:r>
            <a:r>
              <a:rPr dirty="0" sz="850" spc="95">
                <a:latin typeface="Tahoma"/>
                <a:cs typeface="Tahoma"/>
              </a:rPr>
              <a:t> </a:t>
            </a:r>
            <a:r>
              <a:rPr dirty="0" sz="850">
                <a:latin typeface="Tahoma"/>
                <a:cs typeface="Tahoma"/>
              </a:rPr>
              <a:t>combinational</a:t>
            </a:r>
            <a:r>
              <a:rPr dirty="0" sz="850" spc="85">
                <a:latin typeface="Tahoma"/>
                <a:cs typeface="Tahoma"/>
              </a:rPr>
              <a:t> </a:t>
            </a:r>
            <a:r>
              <a:rPr dirty="0" sz="850">
                <a:latin typeface="Tahoma"/>
                <a:cs typeface="Tahoma"/>
              </a:rPr>
              <a:t>circuits</a:t>
            </a:r>
            <a:r>
              <a:rPr dirty="0" sz="850" spc="95">
                <a:latin typeface="Tahoma"/>
                <a:cs typeface="Tahoma"/>
              </a:rPr>
              <a:t> </a:t>
            </a:r>
            <a:r>
              <a:rPr dirty="0" sz="850">
                <a:latin typeface="Tahoma"/>
                <a:cs typeface="Tahoma"/>
              </a:rPr>
              <a:t>varying</a:t>
            </a:r>
            <a:r>
              <a:rPr dirty="0" sz="850" spc="95">
                <a:latin typeface="Tahoma"/>
                <a:cs typeface="Tahoma"/>
              </a:rPr>
              <a:t> </a:t>
            </a:r>
            <a:r>
              <a:rPr dirty="0" sz="850">
                <a:latin typeface="Tahoma"/>
                <a:cs typeface="Tahoma"/>
              </a:rPr>
              <a:t>input</a:t>
            </a:r>
            <a:r>
              <a:rPr dirty="0" sz="850" spc="95">
                <a:latin typeface="Tahoma"/>
                <a:cs typeface="Tahoma"/>
              </a:rPr>
              <a:t> </a:t>
            </a:r>
            <a:r>
              <a:rPr dirty="0" sz="850">
                <a:latin typeface="Tahoma"/>
                <a:cs typeface="Tahoma"/>
              </a:rPr>
              <a:t>width</a:t>
            </a:r>
            <a:r>
              <a:rPr dirty="0" sz="850" spc="95">
                <a:latin typeface="Tahoma"/>
                <a:cs typeface="Tahoma"/>
              </a:rPr>
              <a:t> </a:t>
            </a:r>
            <a:r>
              <a:rPr dirty="0" sz="850">
                <a:latin typeface="Tahoma"/>
                <a:cs typeface="Tahoma"/>
              </a:rPr>
              <a:t>and</a:t>
            </a:r>
            <a:r>
              <a:rPr dirty="0" sz="850" spc="95">
                <a:latin typeface="Tahoma"/>
                <a:cs typeface="Tahoma"/>
              </a:rPr>
              <a:t> </a:t>
            </a:r>
            <a:r>
              <a:rPr dirty="0" sz="850" spc="-10">
                <a:latin typeface="Tahoma"/>
                <a:cs typeface="Tahoma"/>
              </a:rPr>
              <a:t>depth.</a:t>
            </a:r>
            <a:endParaRPr sz="8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6811" y="742405"/>
            <a:ext cx="1432992" cy="111180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6402" y="1906703"/>
            <a:ext cx="34455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22373A"/>
                </a:solidFill>
                <a:latin typeface="Lucida Sans Unicode"/>
                <a:cs typeface="Lucida Sans Unicode"/>
              </a:rPr>
              <a:t>Figure</a:t>
            </a:r>
            <a:r>
              <a:rPr dirty="0" sz="8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14">
                <a:solidFill>
                  <a:srgbClr val="22373A"/>
                </a:solidFill>
                <a:latin typeface="Lucida Sans Unicode"/>
                <a:cs typeface="Lucida Sans Unicode"/>
              </a:rPr>
              <a:t>1:</a:t>
            </a:r>
            <a:r>
              <a:rPr dirty="0" sz="800" spc="5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Tahoma"/>
                <a:cs typeface="Tahoma"/>
              </a:rPr>
              <a:t>Per-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bucket</a:t>
            </a:r>
            <a:r>
              <a:rPr dirty="0" sz="8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bit-</a:t>
            </a:r>
            <a:r>
              <a:rPr dirty="0" sz="800" spc="-10">
                <a:solidFill>
                  <a:srgbClr val="22373A"/>
                </a:solidFill>
                <a:latin typeface="Tahoma"/>
                <a:cs typeface="Tahoma"/>
              </a:rPr>
              <a:t>accuracy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across</a:t>
            </a:r>
            <a:r>
              <a:rPr dirty="0" sz="800" spc="-10">
                <a:solidFill>
                  <a:srgbClr val="22373A"/>
                </a:solidFill>
                <a:latin typeface="Tahoma"/>
                <a:cs typeface="Tahoma"/>
              </a:rPr>
              <a:t> (circuit-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size</a:t>
            </a:r>
            <a:r>
              <a:rPr dirty="0" sz="8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Lucida Sans Unicode"/>
                <a:cs typeface="Lucida Sans Unicode"/>
              </a:rPr>
              <a:t>×</a:t>
            </a:r>
            <a:r>
              <a:rPr dirty="0" sz="800" spc="-1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depth)</a:t>
            </a:r>
            <a:r>
              <a:rPr dirty="0" sz="8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dirty="0" sz="8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8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22373A"/>
                </a:solidFill>
                <a:latin typeface="Tahoma"/>
                <a:cs typeface="Tahoma"/>
              </a:rPr>
              <a:t>val</a:t>
            </a:r>
            <a:r>
              <a:rPr dirty="0" sz="8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800" spc="-20">
                <a:solidFill>
                  <a:srgbClr val="22373A"/>
                </a:solidFill>
                <a:latin typeface="Tahoma"/>
                <a:cs typeface="Tahoma"/>
              </a:rPr>
              <a:t>set.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59992" y="2221994"/>
          <a:ext cx="4554220" cy="490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8020"/>
              </a:tblGrid>
              <a:tr h="168275"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850" spc="-1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Headline</a:t>
                      </a:r>
                      <a:r>
                        <a:rPr dirty="0" sz="850" spc="-15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850" spc="-1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numbers</a:t>
                      </a:r>
                      <a:endParaRPr sz="8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2065">
                    <a:solidFill>
                      <a:srgbClr val="E9EBF0"/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36830" marR="306705">
                        <a:lnSpc>
                          <a:spcPct val="116599"/>
                        </a:lnSpc>
                      </a:pPr>
                      <a:r>
                        <a:rPr dirty="0" sz="800" spc="-20">
                          <a:latin typeface="Lucida Sans Unicode"/>
                          <a:cs typeface="Lucida Sans Unicode"/>
                        </a:rPr>
                        <a:t>Pool</a:t>
                      </a:r>
                      <a:r>
                        <a:rPr dirty="0" sz="800" spc="-4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800" spc="-30">
                          <a:latin typeface="Lucida Sans Unicode"/>
                          <a:cs typeface="Lucida Sans Unicode"/>
                        </a:rPr>
                        <a:t>average:</a:t>
                      </a:r>
                      <a:r>
                        <a:rPr dirty="0" sz="800" spc="4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800" spc="-60">
                          <a:latin typeface="Tahoma"/>
                          <a:cs typeface="Tahoma"/>
                        </a:rPr>
                        <a:t>83.58%</a:t>
                      </a:r>
                      <a:r>
                        <a:rPr dirty="0" sz="8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5">
                          <a:latin typeface="Tahoma"/>
                          <a:cs typeface="Tahoma"/>
                        </a:rPr>
                        <a:t>(val, </a:t>
                      </a:r>
                      <a:r>
                        <a:rPr dirty="0" sz="800">
                          <a:latin typeface="Tahoma"/>
                          <a:cs typeface="Tahoma"/>
                        </a:rPr>
                        <a:t>n</a:t>
                      </a:r>
                      <a:r>
                        <a:rPr dirty="0" sz="8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4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8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30">
                          <a:latin typeface="Tahoma"/>
                          <a:cs typeface="Tahoma"/>
                        </a:rPr>
                        <a:t>3,000).</a:t>
                      </a:r>
                      <a:r>
                        <a:rPr dirty="0" sz="800" spc="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5">
                          <a:latin typeface="Lucida Sans Unicode"/>
                          <a:cs typeface="Lucida Sans Unicode"/>
                        </a:rPr>
                        <a:t>Shallow</a:t>
                      </a:r>
                      <a:r>
                        <a:rPr dirty="0" sz="800" spc="-3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800" spc="-40">
                          <a:latin typeface="Lucida Sans Unicode"/>
                          <a:cs typeface="Lucida Sans Unicode"/>
                        </a:rPr>
                        <a:t>buckets</a:t>
                      </a:r>
                      <a:r>
                        <a:rPr dirty="0" sz="800" spc="-3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800">
                          <a:latin typeface="Tahoma"/>
                          <a:cs typeface="Tahoma"/>
                        </a:rPr>
                        <a:t>(input_size</a:t>
                      </a:r>
                      <a:r>
                        <a:rPr dirty="0" sz="8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5">
                          <a:latin typeface="Tahoma"/>
                          <a:cs typeface="Tahoma"/>
                        </a:rPr>
                        <a:t>4,</a:t>
                      </a:r>
                      <a:r>
                        <a:rPr dirty="0" sz="8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latin typeface="Tahoma"/>
                          <a:cs typeface="Tahoma"/>
                        </a:rPr>
                        <a:t>depth</a:t>
                      </a:r>
                      <a:r>
                        <a:rPr dirty="0" sz="8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latin typeface="Lucida Sans Unicode"/>
                          <a:cs typeface="Lucida Sans Unicode"/>
                        </a:rPr>
                        <a:t>≤</a:t>
                      </a:r>
                      <a:r>
                        <a:rPr dirty="0" sz="800" spc="-2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800" spc="-45">
                          <a:latin typeface="Tahoma"/>
                          <a:cs typeface="Tahoma"/>
                        </a:rPr>
                        <a:t>8):</a:t>
                      </a:r>
                      <a:r>
                        <a:rPr dirty="0" sz="800" spc="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90">
                          <a:latin typeface="Lucida Sans Unicode"/>
                          <a:cs typeface="Lucida Sans Unicode"/>
                        </a:rPr>
                        <a:t>93–</a:t>
                      </a:r>
                      <a:r>
                        <a:rPr dirty="0" sz="800" spc="-50">
                          <a:latin typeface="Lucida Sans Unicode"/>
                          <a:cs typeface="Lucida Sans Unicode"/>
                        </a:rPr>
                        <a:t>100%</a:t>
                      </a:r>
                      <a:r>
                        <a:rPr dirty="0" sz="800" spc="-3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800" spc="-50">
                          <a:latin typeface="Tahoma"/>
                          <a:cs typeface="Tahoma"/>
                        </a:rPr>
                        <a:t>—</a:t>
                      </a:r>
                      <a:r>
                        <a:rPr dirty="0" sz="800">
                          <a:latin typeface="Tahoma"/>
                          <a:cs typeface="Tahoma"/>
                        </a:rPr>
                        <a:t> matches</a:t>
                      </a:r>
                      <a:r>
                        <a:rPr dirty="0" sz="8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latin typeface="Tahoma"/>
                          <a:cs typeface="Tahoma"/>
                        </a:rPr>
                        <a:t>paper-</a:t>
                      </a:r>
                      <a:r>
                        <a:rPr dirty="0" sz="800">
                          <a:latin typeface="Tahoma"/>
                          <a:cs typeface="Tahoma"/>
                        </a:rPr>
                        <a:t>grade </a:t>
                      </a:r>
                      <a:r>
                        <a:rPr dirty="0" sz="800" spc="-30">
                          <a:latin typeface="Tahoma"/>
                          <a:cs typeface="Tahoma"/>
                        </a:rPr>
                        <a:t>Fig</a:t>
                      </a:r>
                      <a:r>
                        <a:rPr dirty="0" sz="8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>
                          <a:latin typeface="Tahoma"/>
                          <a:cs typeface="Tahoma"/>
                        </a:rPr>
                        <a:t>5a</a:t>
                      </a:r>
                      <a:r>
                        <a:rPr dirty="0" sz="800">
                          <a:latin typeface="Tahoma"/>
                          <a:cs typeface="Tahoma"/>
                        </a:rPr>
                        <a:t> per-cell </a:t>
                      </a:r>
                      <a:r>
                        <a:rPr dirty="0" sz="800" spc="-10">
                          <a:latin typeface="Tahoma"/>
                          <a:cs typeface="Tahoma"/>
                        </a:rPr>
                        <a:t>numbers.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47292" y="2800095"/>
            <a:ext cx="3804920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>
                <a:latin typeface="Tahoma"/>
                <a:cs typeface="Tahoma"/>
              </a:rPr>
              <a:t>Performance</a:t>
            </a:r>
            <a:r>
              <a:rPr dirty="0" sz="600" spc="75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remains</a:t>
            </a:r>
            <a:r>
              <a:rPr dirty="0" sz="600" spc="80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strongest</a:t>
            </a:r>
            <a:r>
              <a:rPr dirty="0" sz="600" spc="80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in</a:t>
            </a:r>
            <a:r>
              <a:rPr dirty="0" sz="600" spc="90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low-depth</a:t>
            </a:r>
            <a:r>
              <a:rPr dirty="0" sz="600" spc="80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regimes,</a:t>
            </a:r>
            <a:r>
              <a:rPr dirty="0" sz="600" spc="80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with</a:t>
            </a:r>
            <a:r>
              <a:rPr dirty="0" sz="600" spc="85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mild</a:t>
            </a:r>
            <a:r>
              <a:rPr dirty="0" sz="600" spc="80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degradation</a:t>
            </a:r>
            <a:r>
              <a:rPr dirty="0" sz="600" spc="80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as</a:t>
            </a:r>
            <a:r>
              <a:rPr dirty="0" sz="600" spc="90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circuit</a:t>
            </a:r>
            <a:r>
              <a:rPr dirty="0" sz="600" spc="75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complexity</a:t>
            </a:r>
            <a:r>
              <a:rPr dirty="0" sz="600" spc="80">
                <a:latin typeface="Tahoma"/>
                <a:cs typeface="Tahoma"/>
              </a:rPr>
              <a:t> </a:t>
            </a:r>
            <a:r>
              <a:rPr dirty="0" sz="600" spc="-10">
                <a:latin typeface="Tahoma"/>
                <a:cs typeface="Tahoma"/>
              </a:rPr>
              <a:t>increases.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0"/>
              <a:t>Runtime</a:t>
            </a:r>
            <a:r>
              <a:rPr dirty="0" spc="-65"/>
              <a:t> </a:t>
            </a:r>
            <a:r>
              <a:rPr dirty="0" spc="-265"/>
              <a:t>—</a:t>
            </a:r>
            <a:r>
              <a:rPr dirty="0" spc="-65"/>
              <a:t> </a:t>
            </a:r>
            <a:r>
              <a:rPr dirty="0" spc="-80"/>
              <a:t>The</a:t>
            </a:r>
            <a:r>
              <a:rPr dirty="0" spc="-65"/>
              <a:t> </a:t>
            </a:r>
            <a:r>
              <a:rPr dirty="0" spc="-25" i="1">
                <a:latin typeface="Trebuchet MS"/>
                <a:cs typeface="Trebuchet MS"/>
              </a:rPr>
              <a:t>O</a:t>
            </a:r>
            <a:r>
              <a:rPr dirty="0" spc="-25">
                <a:latin typeface="Cambria"/>
                <a:cs typeface="Cambria"/>
              </a:rPr>
              <a:t>(</a:t>
            </a:r>
            <a:r>
              <a:rPr dirty="0" spc="-25">
                <a:latin typeface="Tahoma"/>
                <a:cs typeface="Tahoma"/>
              </a:rPr>
              <a:t>1</a:t>
            </a:r>
            <a:r>
              <a:rPr dirty="0" spc="-25">
                <a:latin typeface="Cambria"/>
                <a:cs typeface="Cambria"/>
              </a:rPr>
              <a:t>)</a:t>
            </a:r>
            <a:r>
              <a:rPr dirty="0" spc="30">
                <a:latin typeface="Cambria"/>
                <a:cs typeface="Cambria"/>
              </a:rPr>
              <a:t> </a:t>
            </a:r>
            <a:r>
              <a:rPr dirty="0" spc="-55"/>
              <a:t>Forward</a:t>
            </a:r>
            <a:r>
              <a:rPr dirty="0" spc="-65"/>
              <a:t> </a:t>
            </a:r>
            <a:r>
              <a:rPr dirty="0" spc="-20"/>
              <a:t>Pass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3" y="388498"/>
            <a:ext cx="3538854" cy="576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700" spc="-35">
                <a:latin typeface="Lucida Sans Unicode"/>
                <a:cs typeface="Lucida Sans Unicode"/>
              </a:rPr>
              <a:t>Classical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65">
                <a:latin typeface="Lucida Sans Unicode"/>
                <a:cs typeface="Lucida Sans Unicode"/>
              </a:rPr>
              <a:t>ATPG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Tahoma"/>
                <a:cs typeface="Tahoma"/>
              </a:rPr>
              <a:t>(PODEM,</a:t>
            </a:r>
            <a:r>
              <a:rPr dirty="0" sz="700" spc="15">
                <a:latin typeface="Tahoma"/>
                <a:cs typeface="Tahoma"/>
              </a:rPr>
              <a:t> </a:t>
            </a:r>
            <a:r>
              <a:rPr dirty="0" sz="700" spc="-10">
                <a:latin typeface="Tahoma"/>
                <a:cs typeface="Tahoma"/>
              </a:rPr>
              <a:t>D-Algorithm,</a:t>
            </a:r>
            <a:r>
              <a:rPr dirty="0" sz="700" spc="15">
                <a:latin typeface="Tahoma"/>
                <a:cs typeface="Tahoma"/>
              </a:rPr>
              <a:t> </a:t>
            </a:r>
            <a:r>
              <a:rPr dirty="0" sz="700" spc="-50">
                <a:latin typeface="Tahoma"/>
                <a:cs typeface="Tahoma"/>
              </a:rPr>
              <a:t>FAN):</a:t>
            </a:r>
            <a:r>
              <a:rPr dirty="0" sz="700" spc="15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runtime</a:t>
            </a:r>
            <a:r>
              <a:rPr dirty="0" sz="700" spc="15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per</a:t>
            </a:r>
            <a:r>
              <a:rPr dirty="0" sz="700" spc="10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fault</a:t>
            </a:r>
            <a:r>
              <a:rPr dirty="0" sz="700" spc="15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scales</a:t>
            </a:r>
            <a:r>
              <a:rPr dirty="0" sz="700" spc="15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with</a:t>
            </a:r>
            <a:r>
              <a:rPr dirty="0" sz="700" spc="15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circuit</a:t>
            </a:r>
            <a:r>
              <a:rPr dirty="0" sz="700" spc="15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depth</a:t>
            </a:r>
            <a:r>
              <a:rPr dirty="0" sz="700" spc="15">
                <a:latin typeface="Tahoma"/>
                <a:cs typeface="Tahoma"/>
              </a:rPr>
              <a:t> </a:t>
            </a:r>
            <a:r>
              <a:rPr dirty="0" sz="700" spc="-25">
                <a:latin typeface="Tahoma"/>
                <a:cs typeface="Tahoma"/>
              </a:rPr>
              <a:t>and</a:t>
            </a:r>
            <a:r>
              <a:rPr dirty="0" sz="700">
                <a:latin typeface="Tahoma"/>
                <a:cs typeface="Tahoma"/>
              </a:rPr>
              <a:t> reconvergent</a:t>
            </a:r>
            <a:r>
              <a:rPr dirty="0" sz="700" spc="-25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fanout,</a:t>
            </a:r>
            <a:r>
              <a:rPr dirty="0" sz="700" spc="-20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dominated</a:t>
            </a:r>
            <a:r>
              <a:rPr dirty="0" sz="700" spc="-20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by</a:t>
            </a:r>
            <a:r>
              <a:rPr dirty="0" sz="700" spc="-20">
                <a:latin typeface="Tahoma"/>
                <a:cs typeface="Tahoma"/>
              </a:rPr>
              <a:t> </a:t>
            </a:r>
            <a:r>
              <a:rPr dirty="0" sz="700" spc="-10">
                <a:latin typeface="Tahoma"/>
                <a:cs typeface="Tahoma"/>
              </a:rPr>
              <a:t>backtracking.</a:t>
            </a:r>
            <a:endParaRPr sz="700">
              <a:latin typeface="Tahoma"/>
              <a:cs typeface="Tahoma"/>
            </a:endParaRPr>
          </a:p>
          <a:p>
            <a:pPr marL="12700" marR="81280">
              <a:lnSpc>
                <a:spcPct val="114599"/>
              </a:lnSpc>
              <a:spcBef>
                <a:spcPts val="484"/>
              </a:spcBef>
            </a:pPr>
            <a:r>
              <a:rPr dirty="0" sz="700" spc="-50">
                <a:latin typeface="Lucida Sans Unicode"/>
                <a:cs typeface="Lucida Sans Unicode"/>
              </a:rPr>
              <a:t>ATPP: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Tahoma"/>
                <a:cs typeface="Tahoma"/>
              </a:rPr>
              <a:t>once</a:t>
            </a:r>
            <a:r>
              <a:rPr dirty="0" sz="700" spc="10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trained,</a:t>
            </a:r>
            <a:r>
              <a:rPr dirty="0" sz="700" spc="10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prediction</a:t>
            </a:r>
            <a:r>
              <a:rPr dirty="0" sz="700" spc="10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is</a:t>
            </a:r>
            <a:r>
              <a:rPr dirty="0" sz="700" spc="10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a</a:t>
            </a:r>
            <a:r>
              <a:rPr dirty="0" sz="700" spc="10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single</a:t>
            </a:r>
            <a:r>
              <a:rPr dirty="0" sz="700" spc="10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forward</a:t>
            </a:r>
            <a:r>
              <a:rPr dirty="0" sz="700" spc="10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pass</a:t>
            </a:r>
            <a:r>
              <a:rPr dirty="0" sz="700" spc="10">
                <a:latin typeface="Tahoma"/>
                <a:cs typeface="Tahoma"/>
              </a:rPr>
              <a:t> </a:t>
            </a:r>
            <a:r>
              <a:rPr dirty="0" sz="700" spc="-105">
                <a:latin typeface="Tahoma"/>
                <a:cs typeface="Tahoma"/>
              </a:rPr>
              <a:t>—</a:t>
            </a:r>
            <a:r>
              <a:rPr dirty="0" sz="700" spc="10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a</a:t>
            </a:r>
            <a:r>
              <a:rPr dirty="0" sz="700" spc="10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constant-time</a:t>
            </a:r>
            <a:r>
              <a:rPr dirty="0" sz="700" spc="10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operation</a:t>
            </a:r>
            <a:r>
              <a:rPr dirty="0" sz="700" spc="10">
                <a:latin typeface="Tahoma"/>
                <a:cs typeface="Tahoma"/>
              </a:rPr>
              <a:t> </a:t>
            </a:r>
            <a:r>
              <a:rPr dirty="0" sz="700" spc="-25">
                <a:latin typeface="Tahoma"/>
                <a:cs typeface="Tahoma"/>
              </a:rPr>
              <a:t>per</a:t>
            </a:r>
            <a:r>
              <a:rPr dirty="0" sz="700">
                <a:latin typeface="Tahoma"/>
                <a:cs typeface="Tahoma"/>
              </a:rPr>
              <a:t> fault,</a:t>
            </a:r>
            <a:r>
              <a:rPr dirty="0" sz="700" spc="25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independent</a:t>
            </a:r>
            <a:r>
              <a:rPr dirty="0" sz="700" spc="25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of</a:t>
            </a:r>
            <a:r>
              <a:rPr dirty="0" sz="700" spc="25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circuit-specific</a:t>
            </a:r>
            <a:r>
              <a:rPr dirty="0" sz="700" spc="25">
                <a:latin typeface="Tahoma"/>
                <a:cs typeface="Tahoma"/>
              </a:rPr>
              <a:t> </a:t>
            </a:r>
            <a:r>
              <a:rPr dirty="0" sz="700">
                <a:latin typeface="Tahoma"/>
                <a:cs typeface="Tahoma"/>
              </a:rPr>
              <a:t>search</a:t>
            </a:r>
            <a:r>
              <a:rPr dirty="0" sz="700" spc="25">
                <a:latin typeface="Tahoma"/>
                <a:cs typeface="Tahoma"/>
              </a:rPr>
              <a:t> </a:t>
            </a:r>
            <a:r>
              <a:rPr dirty="0" sz="700" spc="-10">
                <a:latin typeface="Tahoma"/>
                <a:cs typeface="Tahoma"/>
              </a:rPr>
              <a:t>complexity.</a:t>
            </a:r>
            <a:endParaRPr sz="7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7350" y="1094334"/>
            <a:ext cx="1129182" cy="87608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95453" y="2009104"/>
            <a:ext cx="265811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-25">
                <a:solidFill>
                  <a:srgbClr val="22373A"/>
                </a:solidFill>
                <a:latin typeface="Lucida Sans Unicode"/>
                <a:cs typeface="Lucida Sans Unicode"/>
              </a:rPr>
              <a:t>Figure</a:t>
            </a:r>
            <a:r>
              <a:rPr dirty="0" sz="600" spc="5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600" spc="-30">
                <a:solidFill>
                  <a:srgbClr val="22373A"/>
                </a:solidFill>
                <a:latin typeface="Lucida Sans Unicode"/>
                <a:cs typeface="Lucida Sans Unicode"/>
              </a:rPr>
              <a:t>2:</a:t>
            </a:r>
            <a:r>
              <a:rPr dirty="0" sz="600" spc="13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600">
                <a:solidFill>
                  <a:srgbClr val="22373A"/>
                </a:solidFill>
                <a:latin typeface="Tahoma"/>
                <a:cs typeface="Tahoma"/>
              </a:rPr>
              <a:t>Per-fault</a:t>
            </a:r>
            <a:r>
              <a:rPr dirty="0" sz="600" spc="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22373A"/>
                </a:solidFill>
                <a:latin typeface="Tahoma"/>
                <a:cs typeface="Tahoma"/>
              </a:rPr>
              <a:t>runtime</a:t>
            </a:r>
            <a:r>
              <a:rPr dirty="0" sz="600" spc="7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22373A"/>
                </a:solidFill>
                <a:latin typeface="Tahoma"/>
                <a:cs typeface="Tahoma"/>
              </a:rPr>
              <a:t>(ms)</a:t>
            </a:r>
            <a:r>
              <a:rPr dirty="0" sz="600" spc="7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22373A"/>
                </a:solidFill>
                <a:latin typeface="Tahoma"/>
                <a:cs typeface="Tahoma"/>
              </a:rPr>
              <a:t>across</a:t>
            </a:r>
            <a:r>
              <a:rPr dirty="0" sz="600" spc="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600" spc="7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22373A"/>
                </a:solidFill>
                <a:latin typeface="Tahoma"/>
                <a:cs typeface="Tahoma"/>
              </a:rPr>
              <a:t>4-</a:t>
            </a:r>
            <a:r>
              <a:rPr dirty="0" sz="600">
                <a:solidFill>
                  <a:srgbClr val="22373A"/>
                </a:solidFill>
                <a:latin typeface="Tahoma"/>
                <a:cs typeface="Tahoma"/>
              </a:rPr>
              <a:t>way</a:t>
            </a:r>
            <a:r>
              <a:rPr dirty="0" sz="600" spc="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22373A"/>
                </a:solidFill>
                <a:latin typeface="Tahoma"/>
                <a:cs typeface="Tahoma"/>
              </a:rPr>
              <a:t>comparison</a:t>
            </a:r>
            <a:r>
              <a:rPr dirty="0" sz="600" spc="7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dirty="0" sz="600" spc="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600" spc="-20">
                <a:solidFill>
                  <a:srgbClr val="22373A"/>
                </a:solidFill>
                <a:latin typeface="Tahoma"/>
                <a:cs typeface="Tahoma"/>
              </a:rPr>
              <a:t>ISCAS-</a:t>
            </a:r>
            <a:r>
              <a:rPr dirty="0" sz="600" spc="-25">
                <a:solidFill>
                  <a:srgbClr val="22373A"/>
                </a:solidFill>
                <a:latin typeface="Tahoma"/>
                <a:cs typeface="Tahoma"/>
              </a:rPr>
              <a:t>85.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3" y="2260242"/>
            <a:ext cx="3528695" cy="133350"/>
          </a:xfrm>
          <a:prstGeom prst="rect">
            <a:avLst/>
          </a:prstGeom>
          <a:solidFill>
            <a:srgbClr val="E9EBF0"/>
          </a:solidFill>
        </p:spPr>
        <p:txBody>
          <a:bodyPr wrap="square" lIns="0" tIns="5715" rIns="0" bIns="0" rtlCol="0" vert="horz">
            <a:spAutoFit/>
          </a:bodyPr>
          <a:lstStyle/>
          <a:p>
            <a:pPr marL="29209">
              <a:lnSpc>
                <a:spcPct val="100000"/>
              </a:lnSpc>
              <a:spcBef>
                <a:spcPts val="45"/>
              </a:spcBef>
            </a:pPr>
            <a:r>
              <a:rPr dirty="0" sz="700" spc="-35">
                <a:solidFill>
                  <a:srgbClr val="2C396B"/>
                </a:solidFill>
                <a:latin typeface="Lucida Sans Unicode"/>
                <a:cs typeface="Lucida Sans Unicode"/>
              </a:rPr>
              <a:t>Measured</a:t>
            </a:r>
            <a:r>
              <a:rPr dirty="0" sz="700" spc="-10">
                <a:solidFill>
                  <a:srgbClr val="2C396B"/>
                </a:solidFill>
                <a:latin typeface="Lucida Sans Unicode"/>
                <a:cs typeface="Lucida Sans Unicode"/>
              </a:rPr>
              <a:t> speedup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9993" y="2393295"/>
            <a:ext cx="3528695" cy="363855"/>
          </a:xfrm>
          <a:custGeom>
            <a:avLst/>
            <a:gdLst/>
            <a:ahLst/>
            <a:cxnLst/>
            <a:rect l="l" t="t" r="r" b="b"/>
            <a:pathLst>
              <a:path w="3528695" h="363855">
                <a:moveTo>
                  <a:pt x="3528601" y="0"/>
                </a:moveTo>
                <a:lnTo>
                  <a:pt x="0" y="0"/>
                </a:lnTo>
                <a:lnTo>
                  <a:pt x="0" y="363796"/>
                </a:lnTo>
                <a:lnTo>
                  <a:pt x="3528601" y="363796"/>
                </a:lnTo>
                <a:lnTo>
                  <a:pt x="3528601" y="0"/>
                </a:lnTo>
                <a:close/>
              </a:path>
            </a:pathLst>
          </a:custGeom>
          <a:solidFill>
            <a:srgbClr val="F4F6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83031" y="2522560"/>
            <a:ext cx="1682750" cy="128270"/>
          </a:xfrm>
          <a:prstGeom prst="rect">
            <a:avLst/>
          </a:prstGeom>
          <a:solidFill>
            <a:srgbClr val="F4F6F9"/>
          </a:solidFill>
          <a:ln w="3543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600" spc="-70">
                <a:latin typeface="Tahoma"/>
                <a:cs typeface="Tahoma"/>
              </a:rPr>
              <a:t>17.6</a:t>
            </a:r>
            <a:r>
              <a:rPr dirty="0" sz="600" spc="5">
                <a:latin typeface="Tahoma"/>
                <a:cs typeface="Tahoma"/>
              </a:rPr>
              <a:t> </a:t>
            </a:r>
            <a:r>
              <a:rPr dirty="0" sz="600">
                <a:latin typeface="Lucida Sans Unicode"/>
                <a:cs typeface="Lucida Sans Unicode"/>
              </a:rPr>
              <a:t>×</a:t>
            </a:r>
            <a:r>
              <a:rPr dirty="0" sz="600" spc="229">
                <a:latin typeface="Lucida Sans Unicode"/>
                <a:cs typeface="Lucida Sans Unicode"/>
              </a:rPr>
              <a:t> </a:t>
            </a:r>
            <a:r>
              <a:rPr dirty="0" sz="600">
                <a:latin typeface="Tahoma"/>
                <a:cs typeface="Tahoma"/>
              </a:rPr>
              <a:t>faster</a:t>
            </a:r>
            <a:r>
              <a:rPr dirty="0" sz="600" spc="50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than</a:t>
            </a:r>
            <a:r>
              <a:rPr dirty="0" sz="600" spc="45">
                <a:latin typeface="Tahoma"/>
                <a:cs typeface="Tahoma"/>
              </a:rPr>
              <a:t> </a:t>
            </a:r>
            <a:r>
              <a:rPr dirty="0" sz="600" spc="-10">
                <a:latin typeface="Tahoma"/>
                <a:cs typeface="Tahoma"/>
              </a:rPr>
              <a:t>PODEM,</a:t>
            </a:r>
            <a:r>
              <a:rPr dirty="0" sz="600" spc="50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measured</a:t>
            </a:r>
            <a:r>
              <a:rPr dirty="0" sz="600" spc="45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on</a:t>
            </a:r>
            <a:r>
              <a:rPr dirty="0" sz="600" spc="50">
                <a:latin typeface="Tahoma"/>
                <a:cs typeface="Tahoma"/>
              </a:rPr>
              <a:t> </a:t>
            </a:r>
            <a:r>
              <a:rPr dirty="0" sz="600" spc="-20">
                <a:latin typeface="Tahoma"/>
                <a:cs typeface="Tahoma"/>
              </a:rPr>
              <a:t>c432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7293" y="2818910"/>
            <a:ext cx="2753995" cy="11303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450" spc="10">
                <a:latin typeface="Tahoma"/>
                <a:cs typeface="Tahoma"/>
              </a:rPr>
              <a:t>Constant-</a:t>
            </a:r>
            <a:r>
              <a:rPr dirty="0" sz="450" spc="20">
                <a:latin typeface="Tahoma"/>
                <a:cs typeface="Tahoma"/>
              </a:rPr>
              <a:t>time</a:t>
            </a:r>
            <a:r>
              <a:rPr dirty="0" sz="450" spc="30">
                <a:latin typeface="Tahoma"/>
                <a:cs typeface="Tahoma"/>
              </a:rPr>
              <a:t> </a:t>
            </a:r>
            <a:r>
              <a:rPr dirty="0" sz="450" spc="20">
                <a:latin typeface="Tahoma"/>
                <a:cs typeface="Tahoma"/>
              </a:rPr>
              <a:t>inference</a:t>
            </a:r>
            <a:r>
              <a:rPr dirty="0" sz="450" spc="35">
                <a:latin typeface="Tahoma"/>
                <a:cs typeface="Tahoma"/>
              </a:rPr>
              <a:t> </a:t>
            </a:r>
            <a:r>
              <a:rPr dirty="0" sz="450" spc="20">
                <a:latin typeface="Tahoma"/>
                <a:cs typeface="Tahoma"/>
              </a:rPr>
              <a:t>eliminates</a:t>
            </a:r>
            <a:r>
              <a:rPr dirty="0" sz="450" spc="35">
                <a:latin typeface="Tahoma"/>
                <a:cs typeface="Tahoma"/>
              </a:rPr>
              <a:t> </a:t>
            </a:r>
            <a:r>
              <a:rPr dirty="0" sz="450" spc="10">
                <a:latin typeface="Tahoma"/>
                <a:cs typeface="Tahoma"/>
              </a:rPr>
              <a:t>backtracking</a:t>
            </a:r>
            <a:r>
              <a:rPr dirty="0" sz="450" spc="35">
                <a:latin typeface="Tahoma"/>
                <a:cs typeface="Tahoma"/>
              </a:rPr>
              <a:t> </a:t>
            </a:r>
            <a:r>
              <a:rPr dirty="0" sz="450" spc="10">
                <a:latin typeface="Tahoma"/>
                <a:cs typeface="Tahoma"/>
              </a:rPr>
              <a:t>overhead,</a:t>
            </a:r>
            <a:r>
              <a:rPr dirty="0" sz="450" spc="30">
                <a:latin typeface="Tahoma"/>
                <a:cs typeface="Tahoma"/>
              </a:rPr>
              <a:t> </a:t>
            </a:r>
            <a:r>
              <a:rPr dirty="0" sz="450" spc="20">
                <a:latin typeface="Tahoma"/>
                <a:cs typeface="Tahoma"/>
              </a:rPr>
              <a:t>explaining</a:t>
            </a:r>
            <a:r>
              <a:rPr dirty="0" sz="450" spc="35">
                <a:latin typeface="Tahoma"/>
                <a:cs typeface="Tahoma"/>
              </a:rPr>
              <a:t> </a:t>
            </a:r>
            <a:r>
              <a:rPr dirty="0" sz="450" spc="20">
                <a:latin typeface="Tahoma"/>
                <a:cs typeface="Tahoma"/>
              </a:rPr>
              <a:t>the</a:t>
            </a:r>
            <a:r>
              <a:rPr dirty="0" sz="450" spc="35">
                <a:latin typeface="Tahoma"/>
                <a:cs typeface="Tahoma"/>
              </a:rPr>
              <a:t> </a:t>
            </a:r>
            <a:r>
              <a:rPr dirty="0" sz="450" spc="20">
                <a:latin typeface="Tahoma"/>
                <a:cs typeface="Tahoma"/>
              </a:rPr>
              <a:t>large</a:t>
            </a:r>
            <a:r>
              <a:rPr dirty="0" sz="450" spc="35">
                <a:latin typeface="Tahoma"/>
                <a:cs typeface="Tahoma"/>
              </a:rPr>
              <a:t> </a:t>
            </a:r>
            <a:r>
              <a:rPr dirty="0" sz="450" spc="20">
                <a:latin typeface="Tahoma"/>
                <a:cs typeface="Tahoma"/>
              </a:rPr>
              <a:t>empirical</a:t>
            </a:r>
            <a:r>
              <a:rPr dirty="0" sz="450" spc="35">
                <a:latin typeface="Tahoma"/>
                <a:cs typeface="Tahoma"/>
              </a:rPr>
              <a:t> </a:t>
            </a:r>
            <a:r>
              <a:rPr dirty="0" sz="450" spc="-10">
                <a:latin typeface="Tahoma"/>
                <a:cs typeface="Tahoma"/>
              </a:rPr>
              <a:t>speedup.</a:t>
            </a:r>
            <a:endParaRPr sz="45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29209">
              <a:lnSpc>
                <a:spcPct val="100000"/>
              </a:lnSpc>
              <a:spcBef>
                <a:spcPts val="140"/>
              </a:spcBef>
            </a:pP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Generalisation</a:t>
            </a:r>
            <a:r>
              <a:rPr dirty="0" spc="-35"/>
              <a:t> </a:t>
            </a:r>
            <a:r>
              <a:rPr dirty="0" spc="-50"/>
              <a:t>to</a:t>
            </a:r>
            <a:r>
              <a:rPr dirty="0" spc="-30"/>
              <a:t> </a:t>
            </a:r>
            <a:r>
              <a:rPr dirty="0" spc="-100"/>
              <a:t>ISCAS-</a:t>
            </a:r>
            <a:r>
              <a:rPr dirty="0" spc="-120"/>
              <a:t>85</a:t>
            </a:r>
            <a:r>
              <a:rPr dirty="0" spc="-30"/>
              <a:t> </a:t>
            </a:r>
            <a:r>
              <a:rPr dirty="0" spc="-265"/>
              <a:t>—</a:t>
            </a:r>
            <a:r>
              <a:rPr dirty="0" spc="-30"/>
              <a:t> </a:t>
            </a:r>
            <a:r>
              <a:rPr dirty="0" spc="-80"/>
              <a:t>Bit-</a:t>
            </a:r>
            <a:r>
              <a:rPr dirty="0" spc="-40"/>
              <a:t>Accuracy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7" y="390581"/>
            <a:ext cx="3972560" cy="29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95"/>
              </a:spcBef>
            </a:pPr>
            <a:r>
              <a:rPr dirty="0" sz="750" spc="-30">
                <a:latin typeface="Lucida Sans Unicode"/>
                <a:cs typeface="Lucida Sans Unicode"/>
              </a:rPr>
              <a:t>Transfer</a:t>
            </a:r>
            <a:r>
              <a:rPr dirty="0" sz="750" spc="30">
                <a:latin typeface="Lucida Sans Unicode"/>
                <a:cs typeface="Lucida Sans Unicode"/>
              </a:rPr>
              <a:t> </a:t>
            </a:r>
            <a:r>
              <a:rPr dirty="0" sz="750">
                <a:latin typeface="Lucida Sans Unicode"/>
                <a:cs typeface="Lucida Sans Unicode"/>
              </a:rPr>
              <a:t>test:</a:t>
            </a:r>
            <a:r>
              <a:rPr dirty="0" sz="750" spc="150">
                <a:latin typeface="Lucida Sans Unicode"/>
                <a:cs typeface="Lucida Sans Unicode"/>
              </a:rPr>
              <a:t> </a:t>
            </a:r>
            <a:r>
              <a:rPr dirty="0" sz="750">
                <a:latin typeface="Tahoma"/>
                <a:cs typeface="Tahoma"/>
              </a:rPr>
              <a:t>model</a:t>
            </a:r>
            <a:r>
              <a:rPr dirty="0" sz="750" spc="45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trained</a:t>
            </a:r>
            <a:r>
              <a:rPr dirty="0" sz="750" spc="45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on</a:t>
            </a:r>
            <a:r>
              <a:rPr dirty="0" sz="750" spc="55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synthetic</a:t>
            </a:r>
            <a:r>
              <a:rPr dirty="0" sz="750" spc="45">
                <a:latin typeface="Tahoma"/>
                <a:cs typeface="Tahoma"/>
              </a:rPr>
              <a:t> </a:t>
            </a:r>
            <a:r>
              <a:rPr dirty="0" sz="750" spc="-10">
                <a:latin typeface="Tahoma"/>
                <a:cs typeface="Tahoma"/>
              </a:rPr>
              <a:t>4-</a:t>
            </a:r>
            <a:r>
              <a:rPr dirty="0" sz="750">
                <a:latin typeface="Tahoma"/>
                <a:cs typeface="Tahoma"/>
              </a:rPr>
              <a:t>PI</a:t>
            </a:r>
            <a:r>
              <a:rPr dirty="0" sz="750" spc="50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circuits,</a:t>
            </a:r>
            <a:r>
              <a:rPr dirty="0" sz="750" spc="50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evaluated</a:t>
            </a:r>
            <a:r>
              <a:rPr dirty="0" sz="750" spc="45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on</a:t>
            </a:r>
            <a:r>
              <a:rPr dirty="0" sz="750" spc="50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real</a:t>
            </a:r>
            <a:r>
              <a:rPr dirty="0" sz="750" spc="45">
                <a:latin typeface="Tahoma"/>
                <a:cs typeface="Tahoma"/>
              </a:rPr>
              <a:t> </a:t>
            </a:r>
            <a:r>
              <a:rPr dirty="0" sz="750" spc="-10">
                <a:latin typeface="Tahoma"/>
                <a:cs typeface="Tahoma"/>
              </a:rPr>
              <a:t>ISCAS-</a:t>
            </a:r>
            <a:r>
              <a:rPr dirty="0" sz="750">
                <a:latin typeface="Tahoma"/>
                <a:cs typeface="Tahoma"/>
              </a:rPr>
              <a:t>85</a:t>
            </a:r>
            <a:r>
              <a:rPr dirty="0" sz="750" spc="45">
                <a:latin typeface="Tahoma"/>
                <a:cs typeface="Tahoma"/>
              </a:rPr>
              <a:t> </a:t>
            </a:r>
            <a:r>
              <a:rPr dirty="0" sz="750" spc="-10">
                <a:latin typeface="Tahoma"/>
                <a:cs typeface="Tahoma"/>
              </a:rPr>
              <a:t>designs </a:t>
            </a:r>
            <a:r>
              <a:rPr dirty="0" sz="750">
                <a:latin typeface="Tahoma"/>
                <a:cs typeface="Tahoma"/>
              </a:rPr>
              <a:t>scaling</a:t>
            </a:r>
            <a:r>
              <a:rPr dirty="0" sz="750" spc="45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up</a:t>
            </a:r>
            <a:r>
              <a:rPr dirty="0" sz="750" spc="45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to</a:t>
            </a:r>
            <a:r>
              <a:rPr dirty="0" sz="750" spc="50">
                <a:latin typeface="Tahoma"/>
                <a:cs typeface="Tahoma"/>
              </a:rPr>
              <a:t> </a:t>
            </a:r>
            <a:r>
              <a:rPr dirty="0" sz="750" i="1">
                <a:latin typeface="Courier New"/>
                <a:cs typeface="Courier New"/>
              </a:rPr>
              <a:t>c1908</a:t>
            </a:r>
            <a:r>
              <a:rPr dirty="0" sz="750" spc="-150" i="1">
                <a:latin typeface="Courier New"/>
                <a:cs typeface="Courier New"/>
              </a:rPr>
              <a:t> </a:t>
            </a:r>
            <a:r>
              <a:rPr dirty="0" sz="750" spc="-10">
                <a:latin typeface="Tahoma"/>
                <a:cs typeface="Tahoma"/>
              </a:rPr>
              <a:t>(</a:t>
            </a:r>
            <a:r>
              <a:rPr dirty="0" sz="750" spc="-10">
                <a:latin typeface="Lucida Sans Unicode"/>
                <a:cs typeface="Lucida Sans Unicode"/>
              </a:rPr>
              <a:t>∼</a:t>
            </a:r>
            <a:r>
              <a:rPr dirty="0" sz="750" spc="-10">
                <a:latin typeface="Tahoma"/>
                <a:cs typeface="Tahoma"/>
              </a:rPr>
              <a:t>360</a:t>
            </a:r>
            <a:r>
              <a:rPr dirty="0" sz="750" spc="45">
                <a:latin typeface="Tahoma"/>
                <a:cs typeface="Tahoma"/>
              </a:rPr>
              <a:t> </a:t>
            </a:r>
            <a:r>
              <a:rPr dirty="0" sz="750" spc="-10">
                <a:latin typeface="Tahoma"/>
                <a:cs typeface="Tahoma"/>
              </a:rPr>
              <a:t>gates).</a:t>
            </a:r>
            <a:endParaRPr sz="7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8133" y="835778"/>
            <a:ext cx="1263063" cy="9799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9473" y="1860514"/>
            <a:ext cx="206819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45">
                <a:solidFill>
                  <a:srgbClr val="22373A"/>
                </a:solidFill>
                <a:latin typeface="Lucida Sans Unicode"/>
                <a:cs typeface="Lucida Sans Unicode"/>
              </a:rPr>
              <a:t>Figure</a:t>
            </a:r>
            <a:r>
              <a:rPr dirty="0" sz="7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5">
                <a:solidFill>
                  <a:srgbClr val="22373A"/>
                </a:solidFill>
                <a:latin typeface="Lucida Sans Unicode"/>
                <a:cs typeface="Lucida Sans Unicode"/>
              </a:rPr>
              <a:t>3:</a:t>
            </a:r>
            <a:r>
              <a:rPr dirty="0" sz="700" spc="5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Bit-accuracy</a:t>
            </a:r>
            <a:r>
              <a:rPr dirty="0" sz="7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dirty="0" sz="7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90">
                <a:solidFill>
                  <a:srgbClr val="22373A"/>
                </a:solidFill>
                <a:latin typeface="Tahoma"/>
                <a:cs typeface="Tahoma"/>
              </a:rPr>
              <a:t>c17,</a:t>
            </a:r>
            <a:r>
              <a:rPr dirty="0" sz="7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50">
                <a:solidFill>
                  <a:srgbClr val="22373A"/>
                </a:solidFill>
                <a:latin typeface="Tahoma"/>
                <a:cs typeface="Tahoma"/>
              </a:rPr>
              <a:t>c432,</a:t>
            </a:r>
            <a:r>
              <a:rPr dirty="0" sz="7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50">
                <a:solidFill>
                  <a:srgbClr val="22373A"/>
                </a:solidFill>
                <a:latin typeface="Tahoma"/>
                <a:cs typeface="Tahoma"/>
              </a:rPr>
              <a:t>c499,</a:t>
            </a:r>
            <a:r>
              <a:rPr dirty="0" sz="7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25">
                <a:solidFill>
                  <a:srgbClr val="22373A"/>
                </a:solidFill>
                <a:latin typeface="Tahoma"/>
                <a:cs typeface="Tahoma"/>
              </a:rPr>
              <a:t>c880,</a:t>
            </a:r>
            <a:r>
              <a:rPr dirty="0" sz="7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20">
                <a:solidFill>
                  <a:srgbClr val="22373A"/>
                </a:solidFill>
                <a:latin typeface="Tahoma"/>
                <a:cs typeface="Tahoma"/>
              </a:rPr>
              <a:t>c1908.</a:t>
            </a:r>
            <a:endParaRPr sz="7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59997" y="2139923"/>
          <a:ext cx="4023360" cy="594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8410"/>
                <a:gridCol w="367029"/>
                <a:gridCol w="367030"/>
                <a:gridCol w="367030"/>
                <a:gridCol w="367030"/>
                <a:gridCol w="1228090"/>
              </a:tblGrid>
              <a:tr h="148590">
                <a:tc gridSpan="6"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750" spc="-3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ATPP</a:t>
                      </a:r>
                      <a:r>
                        <a:rPr dirty="0" sz="750" spc="-1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50" spc="-5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bit-</a:t>
                      </a:r>
                      <a:r>
                        <a:rPr dirty="0" sz="750" spc="-2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accuracy</a:t>
                      </a:r>
                      <a:r>
                        <a:rPr dirty="0" sz="750" spc="-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50" spc="-1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by</a:t>
                      </a:r>
                      <a:r>
                        <a:rPr dirty="0" sz="750" spc="-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50" spc="-1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circuit</a:t>
                      </a:r>
                      <a:endParaRPr sz="7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0160">
                    <a:solidFill>
                      <a:srgbClr val="E9EBF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2885">
                <a:tc>
                  <a:txBody>
                    <a:bodyPr/>
                    <a:lstStyle/>
                    <a:p>
                      <a:pPr algn="r" marR="6858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700" spc="-10">
                          <a:latin typeface="Tahoma"/>
                          <a:cs typeface="Tahoma"/>
                        </a:rPr>
                        <a:t>Circuit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730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700" spc="-25">
                          <a:latin typeface="Tahoma"/>
                          <a:cs typeface="Tahoma"/>
                        </a:rPr>
                        <a:t>c17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730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700" spc="-20">
                          <a:latin typeface="Tahoma"/>
                          <a:cs typeface="Tahoma"/>
                        </a:rPr>
                        <a:t>c432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730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700" spc="-20">
                          <a:latin typeface="Tahoma"/>
                          <a:cs typeface="Tahoma"/>
                        </a:rPr>
                        <a:t>c499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730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700" spc="-20">
                          <a:latin typeface="Tahoma"/>
                          <a:cs typeface="Tahoma"/>
                        </a:rPr>
                        <a:t>c880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730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700" spc="-10">
                          <a:latin typeface="Tahoma"/>
                          <a:cs typeface="Tahoma"/>
                        </a:rPr>
                        <a:t>c1908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73025">
                    <a:solidFill>
                      <a:srgbClr val="F4F6F9"/>
                    </a:solidFill>
                  </a:tcPr>
                </a:tc>
              </a:tr>
              <a:tr h="222885">
                <a:tc>
                  <a:txBody>
                    <a:bodyPr/>
                    <a:lstStyle/>
                    <a:p>
                      <a:pPr algn="r" marR="514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700">
                          <a:latin typeface="Tahoma"/>
                          <a:cs typeface="Tahoma"/>
                        </a:rPr>
                        <a:t>Bit-</a:t>
                      </a:r>
                      <a:r>
                        <a:rPr dirty="0" sz="700" spc="-25">
                          <a:latin typeface="Tahoma"/>
                          <a:cs typeface="Tahoma"/>
                        </a:rPr>
                        <a:t>acc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349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700" spc="-10">
                          <a:latin typeface="Tahoma"/>
                          <a:cs typeface="Tahoma"/>
                        </a:rPr>
                        <a:t>86.7%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349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700" spc="-10">
                          <a:latin typeface="Tahoma"/>
                          <a:cs typeface="Tahoma"/>
                        </a:rPr>
                        <a:t>85.5%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349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700" spc="-10">
                          <a:solidFill>
                            <a:srgbClr val="C0392B"/>
                          </a:solidFill>
                          <a:latin typeface="Tahoma"/>
                          <a:cs typeface="Tahoma"/>
                        </a:rPr>
                        <a:t>44.3%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349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700" spc="-10">
                          <a:latin typeface="Tahoma"/>
                          <a:cs typeface="Tahoma"/>
                        </a:rPr>
                        <a:t>92.6%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349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700" spc="-10">
                          <a:latin typeface="Tahoma"/>
                          <a:cs typeface="Tahoma"/>
                        </a:rPr>
                        <a:t>69.7%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34925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221130" y="2325709"/>
            <a:ext cx="2225040" cy="0"/>
          </a:xfrm>
          <a:custGeom>
            <a:avLst/>
            <a:gdLst/>
            <a:ahLst/>
            <a:cxnLst/>
            <a:rect l="l" t="t" r="r" b="b"/>
            <a:pathLst>
              <a:path w="2225040" h="0">
                <a:moveTo>
                  <a:pt x="0" y="0"/>
                </a:moveTo>
                <a:lnTo>
                  <a:pt x="2224715" y="0"/>
                </a:lnTo>
              </a:path>
            </a:pathLst>
          </a:custGeom>
          <a:ln w="792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21130" y="2511904"/>
            <a:ext cx="2225040" cy="0"/>
          </a:xfrm>
          <a:custGeom>
            <a:avLst/>
            <a:gdLst/>
            <a:ahLst/>
            <a:cxnLst/>
            <a:rect l="l" t="t" r="r" b="b"/>
            <a:pathLst>
              <a:path w="2225040" h="0">
                <a:moveTo>
                  <a:pt x="0" y="0"/>
                </a:moveTo>
                <a:lnTo>
                  <a:pt x="2224715" y="0"/>
                </a:lnTo>
              </a:path>
            </a:pathLst>
          </a:custGeom>
          <a:ln w="49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21130" y="2698098"/>
            <a:ext cx="2225040" cy="0"/>
          </a:xfrm>
          <a:custGeom>
            <a:avLst/>
            <a:gdLst/>
            <a:ahLst/>
            <a:cxnLst/>
            <a:rect l="l" t="t" r="r" b="b"/>
            <a:pathLst>
              <a:path w="2225040" h="0">
                <a:moveTo>
                  <a:pt x="0" y="0"/>
                </a:moveTo>
                <a:lnTo>
                  <a:pt x="2224715" y="0"/>
                </a:lnTo>
              </a:path>
            </a:pathLst>
          </a:custGeom>
          <a:ln w="792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47297" y="2805710"/>
            <a:ext cx="3926204" cy="1238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latin typeface="Tahoma"/>
                <a:cs typeface="Tahoma"/>
              </a:rPr>
              <a:t>Range</a:t>
            </a:r>
            <a:r>
              <a:rPr dirty="0" sz="550" spc="-5">
                <a:latin typeface="Tahoma"/>
                <a:cs typeface="Tahoma"/>
              </a:rPr>
              <a:t> </a:t>
            </a:r>
            <a:r>
              <a:rPr dirty="0" sz="550" spc="-30">
                <a:latin typeface="Tahoma"/>
                <a:cs typeface="Tahoma"/>
              </a:rPr>
              <a:t>44–</a:t>
            </a:r>
            <a:r>
              <a:rPr dirty="0" sz="550" spc="-65">
                <a:latin typeface="Tahoma"/>
                <a:cs typeface="Tahoma"/>
              </a:rPr>
              <a:t>93%</a:t>
            </a:r>
            <a:r>
              <a:rPr dirty="0" sz="550">
                <a:latin typeface="Tahoma"/>
                <a:cs typeface="Tahoma"/>
              </a:rPr>
              <a:t> </a:t>
            </a:r>
            <a:r>
              <a:rPr dirty="0" sz="550" spc="-75">
                <a:latin typeface="Tahoma"/>
                <a:cs typeface="Tahoma"/>
              </a:rPr>
              <a:t>—</a:t>
            </a:r>
            <a:r>
              <a:rPr dirty="0" sz="550">
                <a:latin typeface="Tahoma"/>
                <a:cs typeface="Tahoma"/>
              </a:rPr>
              <a:t> the </a:t>
            </a:r>
            <a:r>
              <a:rPr dirty="0" sz="550" spc="-25">
                <a:latin typeface="Tahoma"/>
                <a:cs typeface="Tahoma"/>
              </a:rPr>
              <a:t>c499</a:t>
            </a:r>
            <a:r>
              <a:rPr dirty="0" sz="550">
                <a:latin typeface="Tahoma"/>
                <a:cs typeface="Tahoma"/>
              </a:rPr>
              <a:t> and</a:t>
            </a:r>
            <a:r>
              <a:rPr dirty="0" sz="550" spc="-5">
                <a:latin typeface="Tahoma"/>
                <a:cs typeface="Tahoma"/>
              </a:rPr>
              <a:t> </a:t>
            </a:r>
            <a:r>
              <a:rPr dirty="0" sz="550" spc="-25">
                <a:latin typeface="Tahoma"/>
                <a:cs typeface="Tahoma"/>
              </a:rPr>
              <a:t>c1908</a:t>
            </a:r>
            <a:r>
              <a:rPr dirty="0" sz="550">
                <a:latin typeface="Tahoma"/>
                <a:cs typeface="Tahoma"/>
              </a:rPr>
              <a:t> dips reflect </a:t>
            </a:r>
            <a:r>
              <a:rPr dirty="0" sz="550" spc="-10">
                <a:latin typeface="Tahoma"/>
                <a:cs typeface="Tahoma"/>
              </a:rPr>
              <a:t>heavy</a:t>
            </a:r>
            <a:r>
              <a:rPr dirty="0" sz="550">
                <a:latin typeface="Tahoma"/>
                <a:cs typeface="Tahoma"/>
              </a:rPr>
              <a:t> </a:t>
            </a:r>
            <a:r>
              <a:rPr dirty="0" sz="550" spc="-30">
                <a:latin typeface="Tahoma"/>
                <a:cs typeface="Tahoma"/>
              </a:rPr>
              <a:t>XOR</a:t>
            </a:r>
            <a:r>
              <a:rPr dirty="0" sz="550" spc="-5">
                <a:latin typeface="Tahoma"/>
                <a:cs typeface="Tahoma"/>
              </a:rPr>
              <a:t> </a:t>
            </a:r>
            <a:r>
              <a:rPr dirty="0" sz="550" spc="-10">
                <a:latin typeface="Tahoma"/>
                <a:cs typeface="Tahoma"/>
              </a:rPr>
              <a:t>reconvergence</a:t>
            </a:r>
            <a:r>
              <a:rPr dirty="0" sz="550">
                <a:latin typeface="Tahoma"/>
                <a:cs typeface="Tahoma"/>
              </a:rPr>
              <a:t> and deep </a:t>
            </a:r>
            <a:r>
              <a:rPr dirty="0" sz="550" spc="-10">
                <a:latin typeface="Tahoma"/>
                <a:cs typeface="Tahoma"/>
              </a:rPr>
              <a:t>paths,</a:t>
            </a:r>
            <a:r>
              <a:rPr dirty="0" sz="550">
                <a:latin typeface="Tahoma"/>
                <a:cs typeface="Tahoma"/>
              </a:rPr>
              <a:t> consistent</a:t>
            </a:r>
            <a:r>
              <a:rPr dirty="0" sz="550" spc="-5">
                <a:latin typeface="Tahoma"/>
                <a:cs typeface="Tahoma"/>
              </a:rPr>
              <a:t> </a:t>
            </a:r>
            <a:r>
              <a:rPr dirty="0" sz="550">
                <a:latin typeface="Tahoma"/>
                <a:cs typeface="Tahoma"/>
              </a:rPr>
              <a:t>with the trend in </a:t>
            </a:r>
            <a:r>
              <a:rPr dirty="0" sz="550" spc="-25">
                <a:latin typeface="Tahoma"/>
                <a:cs typeface="Tahoma"/>
              </a:rPr>
              <a:t>Fig.</a:t>
            </a:r>
            <a:r>
              <a:rPr dirty="0" sz="550" spc="-5">
                <a:latin typeface="Tahoma"/>
                <a:cs typeface="Tahoma"/>
              </a:rPr>
              <a:t> </a:t>
            </a:r>
            <a:r>
              <a:rPr dirty="0" sz="550" spc="-25">
                <a:latin typeface="Tahoma"/>
                <a:cs typeface="Tahoma"/>
              </a:rPr>
              <a:t>7b.</a:t>
            </a:r>
            <a:endParaRPr sz="55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spc="-25"/>
              <a:t>27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80"/>
              <a:t>Bit-</a:t>
            </a:r>
            <a:r>
              <a:rPr dirty="0" spc="-90"/>
              <a:t>Acc</a:t>
            </a:r>
            <a:r>
              <a:rPr dirty="0" spc="-30"/>
              <a:t> </a:t>
            </a:r>
            <a:r>
              <a:rPr dirty="0" spc="-75"/>
              <a:t>vs.</a:t>
            </a:r>
            <a:r>
              <a:rPr dirty="0" spc="-30"/>
              <a:t> </a:t>
            </a:r>
            <a:r>
              <a:rPr dirty="0" spc="-100"/>
              <a:t>Fault-</a:t>
            </a:r>
            <a:r>
              <a:rPr dirty="0" spc="-50"/>
              <a:t>Sim</a:t>
            </a:r>
            <a:r>
              <a:rPr dirty="0" spc="-30"/>
              <a:t> </a:t>
            </a:r>
            <a:r>
              <a:rPr dirty="0" spc="-70"/>
              <a:t>Coverage</a:t>
            </a:r>
            <a:r>
              <a:rPr dirty="0" spc="-30"/>
              <a:t> </a:t>
            </a:r>
            <a:r>
              <a:rPr dirty="0" spc="-265"/>
              <a:t>—</a:t>
            </a:r>
            <a:r>
              <a:rPr dirty="0" spc="-30"/>
              <a:t> </a:t>
            </a:r>
            <a:r>
              <a:rPr dirty="0" spc="-80"/>
              <a:t>The</a:t>
            </a:r>
            <a:r>
              <a:rPr dirty="0" spc="-30"/>
              <a:t> </a:t>
            </a:r>
            <a:r>
              <a:rPr dirty="0" spc="-50"/>
              <a:t>Honesty</a:t>
            </a:r>
            <a:r>
              <a:rPr dirty="0" spc="-30"/>
              <a:t> </a:t>
            </a:r>
            <a:r>
              <a:rPr dirty="0" spc="-10"/>
              <a:t>Slide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96043"/>
            <a:ext cx="4741545" cy="549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000" spc="-85">
                <a:solidFill>
                  <a:srgbClr val="22373A"/>
                </a:solidFill>
                <a:latin typeface="Lucida Sans Unicode"/>
                <a:cs typeface="Lucida Sans Unicode"/>
              </a:rPr>
              <a:t>Two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metrics,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both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measured.</a:t>
            </a:r>
            <a:r>
              <a:rPr dirty="0" sz="1000" spc="9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Bit-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accuracy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 the paper-faithful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metric (Section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5).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Fault-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sim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coverage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stricter </a:t>
            </a:r>
            <a:r>
              <a:rPr dirty="0" sz="1000" spc="-145">
                <a:solidFill>
                  <a:srgbClr val="22373A"/>
                </a:solidFill>
                <a:latin typeface="Tahoma"/>
                <a:cs typeface="Tahoma"/>
              </a:rPr>
              <a:t>—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does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 predicted pattern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 i="1">
                <a:solidFill>
                  <a:srgbClr val="22373A"/>
                </a:solidFill>
                <a:latin typeface="Trebuchet MS"/>
                <a:cs typeface="Trebuchet MS"/>
              </a:rPr>
              <a:t>actually</a:t>
            </a:r>
            <a:r>
              <a:rPr dirty="0" sz="1000" spc="10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 i="1">
                <a:solidFill>
                  <a:srgbClr val="22373A"/>
                </a:solidFill>
                <a:latin typeface="Trebuchet MS"/>
                <a:cs typeface="Trebuchet MS"/>
              </a:rPr>
              <a:t>expose</a:t>
            </a:r>
            <a:r>
              <a:rPr dirty="0" sz="1000" spc="10" i="1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fault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under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simulation?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971918"/>
          <a:ext cx="5116195" cy="1487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5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Comparative</a:t>
                      </a:r>
                      <a:r>
                        <a:rPr dirty="0" sz="100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5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measurements</a:t>
                      </a:r>
                      <a:r>
                        <a:rPr dirty="0" sz="1000" spc="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5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on</a:t>
                      </a:r>
                      <a:r>
                        <a:rPr dirty="0" sz="1000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8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ISCAS-</a:t>
                      </a:r>
                      <a:r>
                        <a:rPr dirty="0" sz="1000" spc="-25">
                          <a:solidFill>
                            <a:srgbClr val="2C396B"/>
                          </a:solidFill>
                          <a:latin typeface="Lucida Sans Unicode"/>
                          <a:cs typeface="Lucida Sans Unicode"/>
                        </a:rPr>
                        <a:t>85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1297305">
                <a:tc>
                  <a:txBody>
                    <a:bodyPr/>
                    <a:lstStyle/>
                    <a:p>
                      <a:pPr marL="1080135" marR="1072515">
                        <a:lnSpc>
                          <a:spcPts val="1970"/>
                        </a:lnSpc>
                        <a:spcBef>
                          <a:spcPts val="135"/>
                        </a:spcBef>
                        <a:tabLst>
                          <a:tab pos="1588135" algn="l"/>
                          <a:tab pos="1928495" algn="l"/>
                          <a:tab pos="2658745" algn="l"/>
                          <a:tab pos="3189605" algn="l"/>
                        </a:tabLst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Circuit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Bit-</a:t>
                      </a:r>
                      <a:r>
                        <a:rPr dirty="0" sz="1000" spc="-10">
                          <a:latin typeface="Tahoma"/>
                          <a:cs typeface="Tahoma"/>
                        </a:rPr>
                        <a:t>Accuracy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(%)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Fault-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Sim 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Coverage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65">
                          <a:latin typeface="Tahoma"/>
                          <a:cs typeface="Tahoma"/>
                        </a:rPr>
                        <a:t>(%)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c17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	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86.7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	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83.3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1080135">
                        <a:lnSpc>
                          <a:spcPts val="1185"/>
                        </a:lnSpc>
                        <a:tabLst>
                          <a:tab pos="1928495" algn="l"/>
                          <a:tab pos="3189605" algn="l"/>
                        </a:tabLst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c432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85.5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41.9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1080135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1928495" algn="l"/>
                          <a:tab pos="3189605" algn="l"/>
                        </a:tabLst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c499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44.3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17.8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1080135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1928495" algn="l"/>
                          <a:tab pos="3189605" algn="l"/>
                        </a:tabLst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c880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92.6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15.5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marL="1080135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1928495" algn="l"/>
                          <a:tab pos="3189605" algn="l"/>
                        </a:tabLst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c1908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69.7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23.9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7145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364284" y="1209154"/>
            <a:ext cx="3031490" cy="0"/>
          </a:xfrm>
          <a:custGeom>
            <a:avLst/>
            <a:gdLst/>
            <a:ahLst/>
            <a:cxnLst/>
            <a:rect l="l" t="t" r="r" b="b"/>
            <a:pathLst>
              <a:path w="3031490" h="0">
                <a:moveTo>
                  <a:pt x="0" y="0"/>
                </a:moveTo>
                <a:lnTo>
                  <a:pt x="3031426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64284" y="1461465"/>
            <a:ext cx="3031490" cy="0"/>
          </a:xfrm>
          <a:custGeom>
            <a:avLst/>
            <a:gdLst/>
            <a:ahLst/>
            <a:cxnLst/>
            <a:rect l="l" t="t" r="r" b="b"/>
            <a:pathLst>
              <a:path w="3031490" h="0">
                <a:moveTo>
                  <a:pt x="0" y="0"/>
                </a:moveTo>
                <a:lnTo>
                  <a:pt x="3031426" y="0"/>
                </a:lnTo>
              </a:path>
            </a:pathLst>
          </a:custGeom>
          <a:ln w="6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64284" y="2412187"/>
            <a:ext cx="3031490" cy="0"/>
          </a:xfrm>
          <a:custGeom>
            <a:avLst/>
            <a:gdLst/>
            <a:ahLst/>
            <a:cxnLst/>
            <a:rect l="l" t="t" r="r" b="b"/>
            <a:pathLst>
              <a:path w="3031490" h="0">
                <a:moveTo>
                  <a:pt x="0" y="0"/>
                </a:moveTo>
                <a:lnTo>
                  <a:pt x="3031426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59994" y="2535872"/>
          <a:ext cx="5116195" cy="5695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/>
              </a:tblGrid>
              <a:tr h="18986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00" spc="-75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The</a:t>
                      </a:r>
                      <a:r>
                        <a:rPr dirty="0" sz="1000" spc="-2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35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paper</a:t>
                      </a:r>
                      <a:r>
                        <a:rPr dirty="0" sz="1000" spc="-2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25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itself</a:t>
                      </a:r>
                      <a:r>
                        <a:rPr dirty="0" sz="1000" spc="-15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5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acknowledges</a:t>
                      </a:r>
                      <a:r>
                        <a:rPr dirty="0" sz="1000" spc="-2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35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this</a:t>
                      </a:r>
                      <a:r>
                        <a:rPr dirty="0" sz="1000" spc="-2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000" spc="-60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trade-</a:t>
                      </a:r>
                      <a:r>
                        <a:rPr dirty="0" sz="1000" spc="-25">
                          <a:solidFill>
                            <a:srgbClr val="C0392B"/>
                          </a:solidFill>
                          <a:latin typeface="Lucida Sans Unicode"/>
                          <a:cs typeface="Lucida Sans Unicode"/>
                        </a:rPr>
                        <a:t>off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solidFill>
                      <a:srgbClr val="E9EBF0"/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000" spc="-60" i="1">
                          <a:latin typeface="Trebuchet MS"/>
                          <a:cs typeface="Trebuchet MS"/>
                        </a:rPr>
                        <a:t>“DETECTive</a:t>
                      </a:r>
                      <a:r>
                        <a:rPr dirty="0" sz="1000" spc="-2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i="1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1000" spc="-2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25" i="1">
                          <a:latin typeface="Trebuchet MS"/>
                          <a:cs typeface="Trebuchet MS"/>
                        </a:rPr>
                        <a:t>trained</a:t>
                      </a:r>
                      <a:r>
                        <a:rPr dirty="0" sz="1000" spc="-2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50" i="1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1000" spc="-1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20" i="1">
                          <a:latin typeface="Trebuchet MS"/>
                          <a:cs typeface="Trebuchet MS"/>
                        </a:rPr>
                        <a:t>generate </a:t>
                      </a:r>
                      <a:r>
                        <a:rPr dirty="0" sz="1000" i="1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000" spc="-2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i="1">
                          <a:latin typeface="Trebuchet MS"/>
                          <a:cs typeface="Trebuchet MS"/>
                        </a:rPr>
                        <a:t>single</a:t>
                      </a:r>
                      <a:r>
                        <a:rPr dirty="0" sz="1000" spc="-2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50" i="1">
                          <a:latin typeface="Trebuchet MS"/>
                          <a:cs typeface="Trebuchet MS"/>
                        </a:rPr>
                        <a:t>test</a:t>
                      </a:r>
                      <a:r>
                        <a:rPr dirty="0" sz="1000" spc="-1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30" i="1">
                          <a:latin typeface="Trebuchet MS"/>
                          <a:cs typeface="Trebuchet MS"/>
                        </a:rPr>
                        <a:t>pattern</a:t>
                      </a:r>
                      <a:r>
                        <a:rPr dirty="0" sz="1000" spc="-2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25" i="1">
                          <a:latin typeface="Trebuchet MS"/>
                          <a:cs typeface="Trebuchet MS"/>
                        </a:rPr>
                        <a:t>…prioritising</a:t>
                      </a:r>
                      <a:r>
                        <a:rPr dirty="0" sz="1000" spc="-2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75" i="1">
                          <a:latin typeface="Trebuchet MS"/>
                          <a:cs typeface="Trebuchet MS"/>
                        </a:rPr>
                        <a:t>it</a:t>
                      </a:r>
                      <a:r>
                        <a:rPr dirty="0" sz="1000" spc="-2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30" i="1">
                          <a:latin typeface="Trebuchet MS"/>
                          <a:cs typeface="Trebuchet MS"/>
                        </a:rPr>
                        <a:t>rather</a:t>
                      </a:r>
                      <a:r>
                        <a:rPr dirty="0" sz="1000" spc="-1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i="1">
                          <a:latin typeface="Trebuchet MS"/>
                          <a:cs typeface="Trebuchet MS"/>
                        </a:rPr>
                        <a:t>than</a:t>
                      </a:r>
                      <a:r>
                        <a:rPr dirty="0" sz="1000" spc="-2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 i="1">
                          <a:latin typeface="Trebuchet MS"/>
                          <a:cs typeface="Trebuchet MS"/>
                        </a:rPr>
                        <a:t>aiming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000" spc="-40" i="1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1000" spc="-2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 i="1">
                          <a:latin typeface="Trebuchet MS"/>
                          <a:cs typeface="Trebuchet MS"/>
                        </a:rPr>
                        <a:t>broader</a:t>
                      </a:r>
                      <a:r>
                        <a:rPr dirty="0" sz="1000" spc="-2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45" i="1">
                          <a:latin typeface="Trebuchet MS"/>
                          <a:cs typeface="Trebuchet MS"/>
                        </a:rPr>
                        <a:t>fault</a:t>
                      </a:r>
                      <a:r>
                        <a:rPr dirty="0" sz="1000" spc="-2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40" i="1">
                          <a:latin typeface="Trebuchet MS"/>
                          <a:cs typeface="Trebuchet MS"/>
                        </a:rPr>
                        <a:t>coverage.”</a:t>
                      </a:r>
                      <a:r>
                        <a:rPr dirty="0" sz="1000" spc="7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45">
                          <a:latin typeface="Tahoma"/>
                          <a:cs typeface="Tahoma"/>
                        </a:rPr>
                        <a:t>—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DETECTive</a:t>
                      </a:r>
                      <a:r>
                        <a:rPr dirty="0" sz="10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0">
                          <a:latin typeface="Tahoma"/>
                          <a:cs typeface="Tahoma"/>
                        </a:rPr>
                        <a:t>paper,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Section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 5.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16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140"/>
              </a:spcBef>
            </a:pPr>
            <a:r>
              <a:rPr dirty="0" spc="-2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Limitation</a:t>
            </a:r>
            <a:r>
              <a:rPr dirty="0" spc="-50"/>
              <a:t> </a:t>
            </a:r>
            <a:r>
              <a:rPr dirty="0" spc="-254"/>
              <a:t>1</a:t>
            </a:r>
            <a:r>
              <a:rPr dirty="0" spc="-50"/>
              <a:t> </a:t>
            </a:r>
            <a:r>
              <a:rPr dirty="0" spc="-265"/>
              <a:t>—</a:t>
            </a:r>
            <a:r>
              <a:rPr dirty="0" spc="-50"/>
              <a:t> </a:t>
            </a:r>
            <a:r>
              <a:rPr dirty="0" spc="-60"/>
              <a:t>Depth</a:t>
            </a:r>
            <a:r>
              <a:rPr dirty="0" spc="-50"/>
              <a:t> </a:t>
            </a:r>
            <a:r>
              <a:rPr dirty="0" spc="-40"/>
              <a:t>Degradation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89" y="392381"/>
            <a:ext cx="3957320" cy="323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15100"/>
              </a:lnSpc>
              <a:spcBef>
                <a:spcPts val="100"/>
              </a:spcBef>
            </a:pPr>
            <a:r>
              <a:rPr dirty="0" sz="850" spc="-70">
                <a:latin typeface="Lucida Sans Unicode"/>
                <a:cs typeface="Lucida Sans Unicode"/>
              </a:rPr>
              <a:t>LSTM</a:t>
            </a:r>
            <a:r>
              <a:rPr dirty="0" sz="850" spc="-30">
                <a:latin typeface="Lucida Sans Unicode"/>
                <a:cs typeface="Lucida Sans Unicode"/>
              </a:rPr>
              <a:t> depth </a:t>
            </a:r>
            <a:r>
              <a:rPr dirty="0" sz="850" spc="-35">
                <a:latin typeface="Lucida Sans Unicode"/>
                <a:cs typeface="Lucida Sans Unicode"/>
              </a:rPr>
              <a:t>degradation:</a:t>
            </a:r>
            <a:r>
              <a:rPr dirty="0" sz="850" spc="65">
                <a:latin typeface="Lucida Sans Unicode"/>
                <a:cs typeface="Lucida Sans Unicode"/>
              </a:rPr>
              <a:t> </a:t>
            </a:r>
            <a:r>
              <a:rPr dirty="0" sz="850">
                <a:latin typeface="Tahoma"/>
                <a:cs typeface="Tahoma"/>
              </a:rPr>
              <a:t>a</a:t>
            </a:r>
            <a:r>
              <a:rPr dirty="0" sz="850" spc="-15">
                <a:latin typeface="Tahoma"/>
                <a:cs typeface="Tahoma"/>
              </a:rPr>
              <a:t> </a:t>
            </a:r>
            <a:r>
              <a:rPr dirty="0" sz="850">
                <a:latin typeface="Tahoma"/>
                <a:cs typeface="Tahoma"/>
              </a:rPr>
              <a:t>path</a:t>
            </a:r>
            <a:r>
              <a:rPr dirty="0" sz="850" spc="-15">
                <a:latin typeface="Tahoma"/>
                <a:cs typeface="Tahoma"/>
              </a:rPr>
              <a:t> </a:t>
            </a:r>
            <a:r>
              <a:rPr dirty="0" sz="850">
                <a:latin typeface="Tahoma"/>
                <a:cs typeface="Tahoma"/>
              </a:rPr>
              <a:t>of</a:t>
            </a:r>
            <a:r>
              <a:rPr dirty="0" sz="850" spc="-15">
                <a:latin typeface="Tahoma"/>
                <a:cs typeface="Tahoma"/>
              </a:rPr>
              <a:t> </a:t>
            </a:r>
            <a:r>
              <a:rPr dirty="0" sz="850">
                <a:latin typeface="Tahoma"/>
                <a:cs typeface="Tahoma"/>
              </a:rPr>
              <a:t>length</a:t>
            </a:r>
            <a:r>
              <a:rPr dirty="0" sz="850" spc="-10">
                <a:latin typeface="Tahoma"/>
                <a:cs typeface="Tahoma"/>
              </a:rPr>
              <a:t> </a:t>
            </a:r>
            <a:r>
              <a:rPr dirty="0" sz="850" i="1">
                <a:latin typeface="Trebuchet MS"/>
                <a:cs typeface="Trebuchet MS"/>
              </a:rPr>
              <a:t>L</a:t>
            </a:r>
            <a:r>
              <a:rPr dirty="0" sz="850" spc="-5" i="1">
                <a:latin typeface="Trebuchet MS"/>
                <a:cs typeface="Trebuchet MS"/>
              </a:rPr>
              <a:t> </a:t>
            </a:r>
            <a:r>
              <a:rPr dirty="0" sz="850">
                <a:latin typeface="Tahoma"/>
                <a:cs typeface="Tahoma"/>
              </a:rPr>
              <a:t>is</a:t>
            </a:r>
            <a:r>
              <a:rPr dirty="0" sz="850" spc="-15">
                <a:latin typeface="Tahoma"/>
                <a:cs typeface="Tahoma"/>
              </a:rPr>
              <a:t> </a:t>
            </a:r>
            <a:r>
              <a:rPr dirty="0" sz="850">
                <a:latin typeface="Tahoma"/>
                <a:cs typeface="Tahoma"/>
              </a:rPr>
              <a:t>compressed</a:t>
            </a:r>
            <a:r>
              <a:rPr dirty="0" sz="850" spc="-15">
                <a:latin typeface="Tahoma"/>
                <a:cs typeface="Tahoma"/>
              </a:rPr>
              <a:t> </a:t>
            </a:r>
            <a:r>
              <a:rPr dirty="0" sz="850">
                <a:latin typeface="Tahoma"/>
                <a:cs typeface="Tahoma"/>
              </a:rPr>
              <a:t>to</a:t>
            </a:r>
            <a:r>
              <a:rPr dirty="0" sz="850" spc="-15">
                <a:latin typeface="Tahoma"/>
                <a:cs typeface="Tahoma"/>
              </a:rPr>
              <a:t> </a:t>
            </a:r>
            <a:r>
              <a:rPr dirty="0" sz="850" spc="-30">
                <a:latin typeface="Arial MT"/>
                <a:cs typeface="Arial MT"/>
              </a:rPr>
              <a:t>R</a:t>
            </a:r>
            <a:r>
              <a:rPr dirty="0" baseline="27777" sz="900" spc="-44">
                <a:latin typeface="Tahoma"/>
                <a:cs typeface="Tahoma"/>
              </a:rPr>
              <a:t>32</a:t>
            </a:r>
            <a:r>
              <a:rPr dirty="0" sz="850" spc="-30">
                <a:latin typeface="Tahoma"/>
                <a:cs typeface="Tahoma"/>
              </a:rPr>
              <a:t>,</a:t>
            </a:r>
            <a:r>
              <a:rPr dirty="0" sz="850" spc="-15">
                <a:latin typeface="Tahoma"/>
                <a:cs typeface="Tahoma"/>
              </a:rPr>
              <a:t> </a:t>
            </a:r>
            <a:r>
              <a:rPr dirty="0" sz="850">
                <a:latin typeface="Tahoma"/>
                <a:cs typeface="Tahoma"/>
              </a:rPr>
              <a:t>and</a:t>
            </a:r>
            <a:r>
              <a:rPr dirty="0" sz="850" spc="-15">
                <a:latin typeface="Tahoma"/>
                <a:cs typeface="Tahoma"/>
              </a:rPr>
              <a:t> </a:t>
            </a:r>
            <a:r>
              <a:rPr dirty="0" sz="850">
                <a:latin typeface="Tahoma"/>
                <a:cs typeface="Tahoma"/>
              </a:rPr>
              <a:t>early-</a:t>
            </a:r>
            <a:r>
              <a:rPr dirty="0" sz="850" spc="-20">
                <a:latin typeface="Tahoma"/>
                <a:cs typeface="Tahoma"/>
              </a:rPr>
              <a:t>step </a:t>
            </a:r>
            <a:r>
              <a:rPr dirty="0" sz="850">
                <a:latin typeface="Tahoma"/>
                <a:cs typeface="Tahoma"/>
              </a:rPr>
              <a:t>information fades</a:t>
            </a:r>
            <a:r>
              <a:rPr dirty="0" sz="850" spc="5">
                <a:latin typeface="Tahoma"/>
                <a:cs typeface="Tahoma"/>
              </a:rPr>
              <a:t> </a:t>
            </a:r>
            <a:r>
              <a:rPr dirty="0" sz="850">
                <a:latin typeface="Tahoma"/>
                <a:cs typeface="Tahoma"/>
              </a:rPr>
              <a:t>as</a:t>
            </a:r>
            <a:r>
              <a:rPr dirty="0" sz="850" spc="5">
                <a:latin typeface="Tahoma"/>
                <a:cs typeface="Tahoma"/>
              </a:rPr>
              <a:t> </a:t>
            </a:r>
            <a:r>
              <a:rPr dirty="0" sz="850" i="1">
                <a:latin typeface="Trebuchet MS"/>
                <a:cs typeface="Trebuchet MS"/>
              </a:rPr>
              <a:t>L</a:t>
            </a:r>
            <a:r>
              <a:rPr dirty="0" sz="850" spc="10" i="1">
                <a:latin typeface="Trebuchet MS"/>
                <a:cs typeface="Trebuchet MS"/>
              </a:rPr>
              <a:t> </a:t>
            </a:r>
            <a:r>
              <a:rPr dirty="0" sz="850" spc="-10">
                <a:latin typeface="Tahoma"/>
                <a:cs typeface="Tahoma"/>
              </a:rPr>
              <a:t>grows.</a:t>
            </a:r>
            <a:endParaRPr sz="8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8349" y="876728"/>
            <a:ext cx="1377398" cy="10686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95022" y="1995374"/>
            <a:ext cx="4282440" cy="7359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85775">
              <a:lnSpc>
                <a:spcPct val="100000"/>
              </a:lnSpc>
              <a:spcBef>
                <a:spcPts val="114"/>
              </a:spcBef>
            </a:pPr>
            <a:r>
              <a:rPr dirty="0" sz="750" spc="-35">
                <a:solidFill>
                  <a:srgbClr val="22373A"/>
                </a:solidFill>
                <a:latin typeface="Lucida Sans Unicode"/>
                <a:cs typeface="Lucida Sans Unicode"/>
              </a:rPr>
              <a:t>Figure</a:t>
            </a:r>
            <a:r>
              <a:rPr dirty="0" sz="750" spc="1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750" spc="-45">
                <a:solidFill>
                  <a:srgbClr val="22373A"/>
                </a:solidFill>
                <a:latin typeface="Lucida Sans Unicode"/>
                <a:cs typeface="Lucida Sans Unicode"/>
              </a:rPr>
              <a:t>4:</a:t>
            </a:r>
            <a:r>
              <a:rPr dirty="0" sz="750" spc="10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Bit-accuracy</a:t>
            </a:r>
            <a:r>
              <a:rPr dirty="0" sz="75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 spc="-25">
                <a:solidFill>
                  <a:srgbClr val="22373A"/>
                </a:solidFill>
                <a:latin typeface="Tahoma"/>
                <a:cs typeface="Tahoma"/>
              </a:rPr>
              <a:t>vs.</a:t>
            </a:r>
            <a:r>
              <a:rPr dirty="0" sz="75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activation-path</a:t>
            </a:r>
            <a:r>
              <a:rPr dirty="0" sz="75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length</a:t>
            </a:r>
            <a:r>
              <a:rPr dirty="0" sz="75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(fault</a:t>
            </a:r>
            <a:r>
              <a:rPr dirty="0" sz="75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depth)</a:t>
            </a:r>
            <a:r>
              <a:rPr dirty="0" sz="75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dirty="0" sz="75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75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val</a:t>
            </a:r>
            <a:r>
              <a:rPr dirty="0" sz="75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 spc="-20">
                <a:solidFill>
                  <a:srgbClr val="22373A"/>
                </a:solidFill>
                <a:latin typeface="Tahoma"/>
                <a:cs typeface="Tahoma"/>
              </a:rPr>
              <a:t>set.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750">
              <a:latin typeface="Tahoma"/>
              <a:cs typeface="Tahoma"/>
            </a:endParaRPr>
          </a:p>
          <a:p>
            <a:pPr marL="94615" indent="-81915">
              <a:lnSpc>
                <a:spcPct val="100000"/>
              </a:lnSpc>
              <a:buClr>
                <a:srgbClr val="2C396B"/>
              </a:buClr>
              <a:buChar char="•"/>
              <a:tabLst>
                <a:tab pos="94615" algn="l"/>
              </a:tabLst>
            </a:pP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Smooth</a:t>
            </a:r>
            <a:r>
              <a:rPr dirty="0" sz="75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degradation:</a:t>
            </a:r>
            <a:r>
              <a:rPr dirty="0" sz="750" spc="114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Lucida Sans Unicode"/>
                <a:cs typeface="Lucida Sans Unicode"/>
              </a:rPr>
              <a:t>≈</a:t>
            </a:r>
            <a:r>
              <a:rPr dirty="0" sz="750" spc="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0</a:t>
            </a:r>
            <a:r>
              <a:rPr dirty="0" sz="750" i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89</a:t>
            </a:r>
            <a:r>
              <a:rPr dirty="0" sz="75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at</a:t>
            </a:r>
            <a:r>
              <a:rPr dirty="0" sz="75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depth</a:t>
            </a:r>
            <a:r>
              <a:rPr dirty="0" sz="75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 spc="-105">
                <a:solidFill>
                  <a:srgbClr val="22373A"/>
                </a:solidFill>
                <a:latin typeface="Tahoma"/>
                <a:cs typeface="Tahoma"/>
              </a:rPr>
              <a:t>1</a:t>
            </a:r>
            <a:r>
              <a:rPr dirty="0" sz="75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Lucida Sans Unicode"/>
                <a:cs typeface="Lucida Sans Unicode"/>
              </a:rPr>
              <a:t>→≈</a:t>
            </a:r>
            <a:r>
              <a:rPr dirty="0" sz="750" spc="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750" spc="-20">
                <a:solidFill>
                  <a:srgbClr val="22373A"/>
                </a:solidFill>
                <a:latin typeface="Tahoma"/>
                <a:cs typeface="Tahoma"/>
              </a:rPr>
              <a:t>0</a:t>
            </a:r>
            <a:r>
              <a:rPr dirty="0" sz="750" spc="-20" i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dirty="0" sz="750" spc="-20">
                <a:solidFill>
                  <a:srgbClr val="22373A"/>
                </a:solidFill>
                <a:latin typeface="Tahoma"/>
                <a:cs typeface="Tahoma"/>
              </a:rPr>
              <a:t>78</a:t>
            </a:r>
            <a:r>
              <a:rPr dirty="0" sz="75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at</a:t>
            </a:r>
            <a:r>
              <a:rPr dirty="0" sz="75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depth</a:t>
            </a:r>
            <a:r>
              <a:rPr dirty="0" sz="75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 spc="-25">
                <a:solidFill>
                  <a:srgbClr val="22373A"/>
                </a:solidFill>
                <a:latin typeface="Tahoma"/>
                <a:cs typeface="Tahoma"/>
              </a:rPr>
              <a:t>25</a:t>
            </a:r>
            <a:endParaRPr sz="750">
              <a:latin typeface="Tahoma"/>
              <a:cs typeface="Tahoma"/>
            </a:endParaRPr>
          </a:p>
          <a:p>
            <a:pPr marL="94615" indent="-81915">
              <a:lnSpc>
                <a:spcPct val="100000"/>
              </a:lnSpc>
              <a:spcBef>
                <a:spcPts val="180"/>
              </a:spcBef>
              <a:buClr>
                <a:srgbClr val="2C396B"/>
              </a:buClr>
              <a:buChar char="•"/>
              <a:tabLst>
                <a:tab pos="94615" algn="l"/>
              </a:tabLst>
            </a:pPr>
            <a:r>
              <a:rPr dirty="0" sz="750" spc="-10">
                <a:solidFill>
                  <a:srgbClr val="22373A"/>
                </a:solidFill>
                <a:latin typeface="Tahoma"/>
                <a:cs typeface="Tahoma"/>
              </a:rPr>
              <a:t>Effective</a:t>
            </a:r>
            <a:r>
              <a:rPr dirty="0" sz="75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memory</a:t>
            </a:r>
            <a:r>
              <a:rPr dirty="0" sz="75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horizon</a:t>
            </a:r>
            <a:r>
              <a:rPr dirty="0" sz="75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decays</a:t>
            </a:r>
            <a:r>
              <a:rPr dirty="0" sz="75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as</a:t>
            </a:r>
            <a:r>
              <a:rPr dirty="0" sz="75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path</a:t>
            </a:r>
            <a:r>
              <a:rPr dirty="0" sz="75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length</a:t>
            </a:r>
            <a:r>
              <a:rPr dirty="0" sz="75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22373A"/>
                </a:solidFill>
                <a:latin typeface="Tahoma"/>
                <a:cs typeface="Tahoma"/>
              </a:rPr>
              <a:t>grows</a:t>
            </a:r>
            <a:r>
              <a:rPr dirty="0" sz="75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 spc="-95">
                <a:solidFill>
                  <a:srgbClr val="22373A"/>
                </a:solidFill>
                <a:latin typeface="Tahoma"/>
                <a:cs typeface="Tahoma"/>
              </a:rPr>
              <a:t>—</a:t>
            </a:r>
            <a:r>
              <a:rPr dirty="0" sz="75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75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known</a:t>
            </a:r>
            <a:r>
              <a:rPr dirty="0" sz="75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property</a:t>
            </a:r>
            <a:r>
              <a:rPr dirty="0" sz="75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dirty="0" sz="75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recurrent</a:t>
            </a:r>
            <a:r>
              <a:rPr dirty="0" sz="75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22373A"/>
                </a:solidFill>
                <a:latin typeface="Tahoma"/>
                <a:cs typeface="Tahoma"/>
              </a:rPr>
              <a:t>encoders</a:t>
            </a:r>
            <a:endParaRPr sz="750">
              <a:latin typeface="Tahoma"/>
              <a:cs typeface="Tahoma"/>
            </a:endParaRPr>
          </a:p>
          <a:p>
            <a:pPr marL="94615" indent="-81915">
              <a:lnSpc>
                <a:spcPct val="100000"/>
              </a:lnSpc>
              <a:spcBef>
                <a:spcPts val="175"/>
              </a:spcBef>
              <a:buClr>
                <a:srgbClr val="2C396B"/>
              </a:buClr>
              <a:buChar char="•"/>
              <a:tabLst>
                <a:tab pos="94615" algn="l"/>
              </a:tabLst>
            </a:pP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Suggests</a:t>
            </a:r>
            <a:r>
              <a:rPr dirty="0" sz="750" spc="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future</a:t>
            </a:r>
            <a:r>
              <a:rPr dirty="0" sz="750" spc="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use</a:t>
            </a:r>
            <a:r>
              <a:rPr dirty="0" sz="750" spc="7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dirty="0" sz="750" spc="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attention</a:t>
            </a:r>
            <a:r>
              <a:rPr dirty="0" sz="750" spc="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mechanisms</a:t>
            </a:r>
            <a:r>
              <a:rPr dirty="0" sz="750" spc="7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or</a:t>
            </a:r>
            <a:r>
              <a:rPr dirty="0" sz="750" spc="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hierarchical</a:t>
            </a:r>
            <a:r>
              <a:rPr dirty="0" sz="750" spc="7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pooling</a:t>
            </a:r>
            <a:r>
              <a:rPr dirty="0" sz="750" spc="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dirty="0" sz="750" spc="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>
                <a:solidFill>
                  <a:srgbClr val="22373A"/>
                </a:solidFill>
                <a:latin typeface="Tahoma"/>
                <a:cs typeface="Tahoma"/>
              </a:rPr>
              <a:t>deeper</a:t>
            </a:r>
            <a:r>
              <a:rPr dirty="0" sz="750" spc="7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50" spc="-10">
                <a:solidFill>
                  <a:srgbClr val="22373A"/>
                </a:solidFill>
                <a:latin typeface="Tahoma"/>
                <a:cs typeface="Tahoma"/>
              </a:rPr>
              <a:t>circuits</a:t>
            </a:r>
            <a:endParaRPr sz="7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289" y="2798397"/>
            <a:ext cx="3505835" cy="1327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>
                <a:latin typeface="Tahoma"/>
                <a:cs typeface="Tahoma"/>
              </a:rPr>
              <a:t>Information</a:t>
            </a:r>
            <a:r>
              <a:rPr dirty="0" sz="600" spc="5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from</a:t>
            </a:r>
            <a:r>
              <a:rPr dirty="0" sz="600" spc="10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early</a:t>
            </a:r>
            <a:r>
              <a:rPr dirty="0" sz="600" spc="5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timesteps</a:t>
            </a:r>
            <a:r>
              <a:rPr dirty="0" sz="600" spc="10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is</a:t>
            </a:r>
            <a:r>
              <a:rPr dirty="0" sz="600" spc="10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progressively</a:t>
            </a:r>
            <a:r>
              <a:rPr dirty="0" sz="600" spc="5">
                <a:latin typeface="Tahoma"/>
                <a:cs typeface="Tahoma"/>
              </a:rPr>
              <a:t> </a:t>
            </a:r>
            <a:r>
              <a:rPr dirty="0" sz="600" spc="-10">
                <a:latin typeface="Tahoma"/>
                <a:cs typeface="Tahoma"/>
              </a:rPr>
              <a:t>compressed,</a:t>
            </a:r>
            <a:r>
              <a:rPr dirty="0" sz="600" spc="10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limiting</a:t>
            </a:r>
            <a:r>
              <a:rPr dirty="0" sz="600" spc="10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long-</a:t>
            </a:r>
            <a:r>
              <a:rPr dirty="0" sz="600" spc="-10">
                <a:latin typeface="Tahoma"/>
                <a:cs typeface="Tahoma"/>
              </a:rPr>
              <a:t>range</a:t>
            </a:r>
            <a:r>
              <a:rPr dirty="0" sz="600" spc="5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dependency</a:t>
            </a:r>
            <a:r>
              <a:rPr dirty="0" sz="600" spc="10">
                <a:latin typeface="Tahoma"/>
                <a:cs typeface="Tahoma"/>
              </a:rPr>
              <a:t> </a:t>
            </a:r>
            <a:r>
              <a:rPr dirty="0" sz="600" spc="-10">
                <a:latin typeface="Tahoma"/>
                <a:cs typeface="Tahoma"/>
              </a:rPr>
              <a:t>capture.</a:t>
            </a:r>
            <a:endParaRPr sz="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60618" y="2992625"/>
            <a:ext cx="113030" cy="15049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00" spc="-25">
                <a:solidFill>
                  <a:srgbClr val="22373A"/>
                </a:solidFill>
                <a:latin typeface="Tahoma"/>
                <a:cs typeface="Tahoma"/>
              </a:rPr>
              <a:t>29</a:t>
            </a:r>
            <a:endParaRPr sz="7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63700"/>
            <a:ext cx="292798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Limitation</a:t>
            </a:r>
            <a:r>
              <a:rPr dirty="0" spc="-40"/>
              <a:t> </a:t>
            </a:r>
            <a:r>
              <a:rPr dirty="0" spc="-185"/>
              <a:t>2</a:t>
            </a:r>
            <a:r>
              <a:rPr dirty="0" spc="-40"/>
              <a:t> </a:t>
            </a:r>
            <a:r>
              <a:rPr dirty="0" spc="-265"/>
              <a:t>—</a:t>
            </a:r>
            <a:r>
              <a:rPr dirty="0" spc="-35"/>
              <a:t> </a:t>
            </a:r>
            <a:r>
              <a:rPr dirty="0" spc="-55"/>
              <a:t>Reconvergent</a:t>
            </a:r>
            <a:r>
              <a:rPr dirty="0" spc="-40"/>
              <a:t> </a:t>
            </a:r>
            <a:r>
              <a:rPr dirty="0" spc="-55"/>
              <a:t>Fanout</a:t>
            </a:r>
            <a:r>
              <a:rPr dirty="0" spc="-35"/>
              <a:t> </a:t>
            </a:r>
            <a:r>
              <a:rPr dirty="0" spc="-55"/>
              <a:t>(c499)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2" y="390420"/>
            <a:ext cx="3866515" cy="297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8700"/>
              </a:lnSpc>
              <a:spcBef>
                <a:spcPts val="95"/>
              </a:spcBef>
            </a:pPr>
            <a:r>
              <a:rPr dirty="0" sz="750" spc="-35">
                <a:latin typeface="Lucida Sans Unicode"/>
                <a:cs typeface="Lucida Sans Unicode"/>
              </a:rPr>
              <a:t>The</a:t>
            </a:r>
            <a:r>
              <a:rPr dirty="0" sz="750" spc="5">
                <a:latin typeface="Lucida Sans Unicode"/>
                <a:cs typeface="Lucida Sans Unicode"/>
              </a:rPr>
              <a:t> </a:t>
            </a:r>
            <a:r>
              <a:rPr dirty="0" sz="750" spc="-20">
                <a:latin typeface="Lucida Sans Unicode"/>
                <a:cs typeface="Lucida Sans Unicode"/>
              </a:rPr>
              <a:t>hardest</a:t>
            </a:r>
            <a:r>
              <a:rPr dirty="0" sz="750" spc="5">
                <a:latin typeface="Lucida Sans Unicode"/>
                <a:cs typeface="Lucida Sans Unicode"/>
              </a:rPr>
              <a:t> </a:t>
            </a:r>
            <a:r>
              <a:rPr dirty="0" sz="750" spc="-55">
                <a:latin typeface="Lucida Sans Unicode"/>
                <a:cs typeface="Lucida Sans Unicode"/>
              </a:rPr>
              <a:t>ISCAS-</a:t>
            </a:r>
            <a:r>
              <a:rPr dirty="0" sz="750" spc="-60">
                <a:latin typeface="Lucida Sans Unicode"/>
                <a:cs typeface="Lucida Sans Unicode"/>
              </a:rPr>
              <a:t>85</a:t>
            </a:r>
            <a:r>
              <a:rPr dirty="0" sz="750" spc="5">
                <a:latin typeface="Lucida Sans Unicode"/>
                <a:cs typeface="Lucida Sans Unicode"/>
              </a:rPr>
              <a:t> </a:t>
            </a:r>
            <a:r>
              <a:rPr dirty="0" sz="750">
                <a:latin typeface="Lucida Sans Unicode"/>
                <a:cs typeface="Lucida Sans Unicode"/>
              </a:rPr>
              <a:t>case:</a:t>
            </a:r>
            <a:r>
              <a:rPr dirty="0" sz="750" spc="110">
                <a:latin typeface="Lucida Sans Unicode"/>
                <a:cs typeface="Lucida Sans Unicode"/>
              </a:rPr>
              <a:t> </a:t>
            </a:r>
            <a:r>
              <a:rPr dirty="0" sz="750" spc="-20">
                <a:latin typeface="Tahoma"/>
                <a:cs typeface="Tahoma"/>
              </a:rPr>
              <a:t>c499</a:t>
            </a:r>
            <a:r>
              <a:rPr dirty="0" sz="750" spc="25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is</a:t>
            </a:r>
            <a:r>
              <a:rPr dirty="0" sz="750" spc="25">
                <a:latin typeface="Tahoma"/>
                <a:cs typeface="Tahoma"/>
              </a:rPr>
              <a:t> </a:t>
            </a:r>
            <a:r>
              <a:rPr dirty="0" sz="750" spc="-20">
                <a:latin typeface="Tahoma"/>
                <a:cs typeface="Tahoma"/>
              </a:rPr>
              <a:t>XOR-</a:t>
            </a:r>
            <a:r>
              <a:rPr dirty="0" sz="750">
                <a:latin typeface="Tahoma"/>
                <a:cs typeface="Tahoma"/>
              </a:rPr>
              <a:t>tree</a:t>
            </a:r>
            <a:r>
              <a:rPr dirty="0" sz="750" spc="25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heavy</a:t>
            </a:r>
            <a:r>
              <a:rPr dirty="0" sz="750" spc="20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with</a:t>
            </a:r>
            <a:r>
              <a:rPr dirty="0" sz="750" spc="25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the</a:t>
            </a:r>
            <a:r>
              <a:rPr dirty="0" sz="750" spc="25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highest</a:t>
            </a:r>
            <a:r>
              <a:rPr dirty="0" sz="750" spc="25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reconvergence</a:t>
            </a:r>
            <a:r>
              <a:rPr dirty="0" sz="750" spc="25">
                <a:latin typeface="Tahoma"/>
                <a:cs typeface="Tahoma"/>
              </a:rPr>
              <a:t> </a:t>
            </a:r>
            <a:r>
              <a:rPr dirty="0" sz="750" spc="-10">
                <a:latin typeface="Tahoma"/>
                <a:cs typeface="Tahoma"/>
              </a:rPr>
              <a:t>ratio </a:t>
            </a:r>
            <a:r>
              <a:rPr dirty="0" sz="750">
                <a:latin typeface="Tahoma"/>
                <a:cs typeface="Tahoma"/>
              </a:rPr>
              <a:t>in</a:t>
            </a:r>
            <a:r>
              <a:rPr dirty="0" sz="750" spc="50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the</a:t>
            </a:r>
            <a:r>
              <a:rPr dirty="0" sz="750" spc="50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tested</a:t>
            </a:r>
            <a:r>
              <a:rPr dirty="0" sz="750" spc="50">
                <a:latin typeface="Tahoma"/>
                <a:cs typeface="Tahoma"/>
              </a:rPr>
              <a:t> </a:t>
            </a:r>
            <a:r>
              <a:rPr dirty="0" sz="750" spc="-10">
                <a:latin typeface="Tahoma"/>
                <a:cs typeface="Tahoma"/>
              </a:rPr>
              <a:t>suite.</a:t>
            </a:r>
            <a:endParaRPr sz="7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7731" y="813147"/>
            <a:ext cx="1253177" cy="9722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52620" y="1829762"/>
            <a:ext cx="3974465" cy="920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24560">
              <a:lnSpc>
                <a:spcPct val="100000"/>
              </a:lnSpc>
              <a:spcBef>
                <a:spcPts val="95"/>
              </a:spcBef>
            </a:pPr>
            <a:r>
              <a:rPr dirty="0" sz="700" spc="-45">
                <a:solidFill>
                  <a:srgbClr val="22373A"/>
                </a:solidFill>
                <a:latin typeface="Lucida Sans Unicode"/>
                <a:cs typeface="Lucida Sans Unicode"/>
              </a:rPr>
              <a:t>Figure</a:t>
            </a:r>
            <a:r>
              <a:rPr dirty="0" sz="7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80">
                <a:solidFill>
                  <a:srgbClr val="22373A"/>
                </a:solidFill>
                <a:latin typeface="Lucida Sans Unicode"/>
                <a:cs typeface="Lucida Sans Unicode"/>
              </a:rPr>
              <a:t>5:</a:t>
            </a:r>
            <a:r>
              <a:rPr dirty="0" sz="700" spc="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Bit-</a:t>
            </a: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Accuracy</a:t>
            </a:r>
            <a:r>
              <a:rPr dirty="0" sz="7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vs.</a:t>
            </a:r>
            <a:r>
              <a:rPr dirty="0" sz="700" spc="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Fault</a:t>
            </a:r>
            <a:r>
              <a:rPr dirty="0" sz="7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Depth</a:t>
            </a:r>
            <a:r>
              <a:rPr dirty="0" sz="7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(Validation</a:t>
            </a:r>
            <a:r>
              <a:rPr dirty="0" sz="7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20">
                <a:solidFill>
                  <a:srgbClr val="22373A"/>
                </a:solidFill>
                <a:latin typeface="Tahoma"/>
                <a:cs typeface="Tahoma"/>
              </a:rPr>
              <a:t>Set)</a:t>
            </a:r>
            <a:endParaRPr sz="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700">
              <a:latin typeface="Tahoma"/>
              <a:cs typeface="Tahoma"/>
            </a:endParaRPr>
          </a:p>
          <a:p>
            <a:pPr marL="126364" indent="-75565">
              <a:lnSpc>
                <a:spcPct val="100000"/>
              </a:lnSpc>
              <a:buClr>
                <a:srgbClr val="2C396B"/>
              </a:buClr>
              <a:buChar char="•"/>
              <a:tabLst>
                <a:tab pos="126364" algn="l"/>
              </a:tabLst>
            </a:pP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Cone</a:t>
            </a: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105">
                <a:solidFill>
                  <a:srgbClr val="22373A"/>
                </a:solidFill>
                <a:latin typeface="Lucida Sans Unicode"/>
                <a:cs typeface="Lucida Sans Unicode"/>
              </a:rPr>
              <a:t>C</a:t>
            </a:r>
            <a:r>
              <a:rPr dirty="0" sz="700" spc="-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90">
                <a:solidFill>
                  <a:srgbClr val="22373A"/>
                </a:solidFill>
                <a:latin typeface="Lucida Sans Unicode"/>
                <a:cs typeface="Lucida Sans Unicode"/>
              </a:rPr>
              <a:t>∈</a:t>
            </a:r>
            <a:r>
              <a:rPr dirty="0" sz="700" spc="-1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22373A"/>
                </a:solidFill>
                <a:latin typeface="Arial MT"/>
                <a:cs typeface="Arial MT"/>
              </a:rPr>
              <a:t>R</a:t>
            </a:r>
            <a:r>
              <a:rPr dirty="0" baseline="37037" sz="675">
                <a:solidFill>
                  <a:srgbClr val="22373A"/>
                </a:solidFill>
                <a:latin typeface="Tahoma"/>
                <a:cs typeface="Tahoma"/>
              </a:rPr>
              <a:t>660</a:t>
            </a:r>
            <a:r>
              <a:rPr dirty="0" baseline="37037" sz="675" spc="157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is</a:t>
            </a: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flat</a:t>
            </a: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concatenation</a:t>
            </a:r>
            <a:r>
              <a:rPr dirty="0" sz="7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dirty="0" sz="7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35">
                <a:solidFill>
                  <a:srgbClr val="22373A"/>
                </a:solidFill>
                <a:latin typeface="Tahoma"/>
                <a:cs typeface="Tahoma"/>
              </a:rPr>
              <a:t>20</a:t>
            </a: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path</a:t>
            </a: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 slots</a:t>
            </a:r>
            <a:endParaRPr sz="700">
              <a:latin typeface="Tahoma"/>
              <a:cs typeface="Tahoma"/>
            </a:endParaRPr>
          </a:p>
          <a:p>
            <a:pPr marL="126364" indent="-75565">
              <a:lnSpc>
                <a:spcPct val="100000"/>
              </a:lnSpc>
              <a:spcBef>
                <a:spcPts val="140"/>
              </a:spcBef>
              <a:buClr>
                <a:srgbClr val="2C396B"/>
              </a:buClr>
              <a:buChar char="•"/>
              <a:tabLst>
                <a:tab pos="126364" algn="l"/>
              </a:tabLst>
            </a:pP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Heavy</a:t>
            </a:r>
            <a:r>
              <a:rPr dirty="0" sz="7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reconvergence</a:t>
            </a:r>
            <a:r>
              <a:rPr dirty="0" sz="7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50">
                <a:solidFill>
                  <a:srgbClr val="22373A"/>
                </a:solidFill>
                <a:latin typeface="Lucida Sans Unicode"/>
                <a:cs typeface="Lucida Sans Unicode"/>
              </a:rPr>
              <a:t>⇒</a:t>
            </a:r>
            <a:r>
              <a:rPr dirty="0" sz="700" spc="-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paths</a:t>
            </a:r>
            <a:r>
              <a:rPr dirty="0" sz="7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share</a:t>
            </a:r>
            <a:r>
              <a:rPr dirty="0" sz="7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long</a:t>
            </a:r>
            <a:r>
              <a:rPr dirty="0" sz="7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prefixes</a:t>
            </a:r>
            <a:r>
              <a:rPr dirty="0" sz="7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95">
                <a:solidFill>
                  <a:srgbClr val="22373A"/>
                </a:solidFill>
                <a:latin typeface="Tahoma"/>
                <a:cs typeface="Tahoma"/>
              </a:rPr>
              <a:t>/</a:t>
            </a:r>
            <a:r>
              <a:rPr dirty="0" sz="7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20">
                <a:solidFill>
                  <a:srgbClr val="22373A"/>
                </a:solidFill>
                <a:latin typeface="Tahoma"/>
                <a:cs typeface="Tahoma"/>
              </a:rPr>
              <a:t>suffixes;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 slot</a:t>
            </a:r>
            <a:r>
              <a:rPr dirty="0" sz="7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embeddings</a:t>
            </a:r>
            <a:r>
              <a:rPr dirty="0" sz="7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become</a:t>
            </a:r>
            <a:r>
              <a:rPr dirty="0" sz="7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correlated</a:t>
            </a:r>
            <a:endParaRPr sz="700">
              <a:latin typeface="Tahoma"/>
              <a:cs typeface="Tahoma"/>
            </a:endParaRPr>
          </a:p>
          <a:p>
            <a:pPr marL="125095" marR="205104" indent="-74930">
              <a:lnSpc>
                <a:spcPct val="116599"/>
              </a:lnSpc>
              <a:buClr>
                <a:srgbClr val="2C396B"/>
              </a:buClr>
              <a:buChar char="•"/>
              <a:tabLst>
                <a:tab pos="125095" algn="l"/>
              </a:tabLst>
            </a:pP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Result:</a:t>
            </a:r>
            <a:r>
              <a:rPr dirty="0" sz="700" spc="8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65">
                <a:solidFill>
                  <a:srgbClr val="C0392B"/>
                </a:solidFill>
                <a:latin typeface="Tahoma"/>
                <a:cs typeface="Tahoma"/>
              </a:rPr>
              <a:t>44.3%</a:t>
            </a:r>
            <a:r>
              <a:rPr dirty="0" sz="700" spc="5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C0392B"/>
                </a:solidFill>
                <a:latin typeface="Tahoma"/>
                <a:cs typeface="Tahoma"/>
              </a:rPr>
              <a:t>bit-</a:t>
            </a:r>
            <a:r>
              <a:rPr dirty="0" sz="700" spc="-10">
                <a:solidFill>
                  <a:srgbClr val="C0392B"/>
                </a:solidFill>
                <a:latin typeface="Tahoma"/>
                <a:cs typeface="Tahoma"/>
              </a:rPr>
              <a:t>accuracy</a:t>
            </a:r>
            <a:r>
              <a:rPr dirty="0" sz="700">
                <a:solidFill>
                  <a:srgbClr val="C0392B"/>
                </a:solidFill>
                <a:latin typeface="Tahoma"/>
                <a:cs typeface="Tahoma"/>
              </a:rPr>
              <a:t> on</a:t>
            </a:r>
            <a:r>
              <a:rPr dirty="0" sz="700" spc="5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700" spc="-40">
                <a:solidFill>
                  <a:srgbClr val="C0392B"/>
                </a:solidFill>
                <a:latin typeface="Tahoma"/>
                <a:cs typeface="Tahoma"/>
              </a:rPr>
              <a:t>c499</a:t>
            </a:r>
            <a:r>
              <a:rPr dirty="0" sz="700" spc="5">
                <a:solidFill>
                  <a:srgbClr val="C0392B"/>
                </a:solidFill>
                <a:latin typeface="Tahoma"/>
                <a:cs typeface="Tahoma"/>
              </a:rPr>
              <a:t> </a:t>
            </a:r>
            <a:r>
              <a:rPr dirty="0" sz="700" spc="-40">
                <a:solidFill>
                  <a:srgbClr val="22373A"/>
                </a:solidFill>
                <a:latin typeface="Tahoma"/>
                <a:cs typeface="Tahoma"/>
              </a:rPr>
              <a:t>vs.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70">
                <a:solidFill>
                  <a:srgbClr val="22373A"/>
                </a:solidFill>
                <a:latin typeface="Tahoma"/>
                <a:cs typeface="Tahoma"/>
              </a:rPr>
              <a:t>92.6%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 on</a:t>
            </a:r>
            <a:r>
              <a:rPr dirty="0" sz="7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7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structurally similar</a:t>
            </a:r>
            <a:r>
              <a:rPr dirty="0" sz="7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but</a:t>
            </a:r>
            <a:r>
              <a:rPr dirty="0" sz="7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less </a:t>
            </a: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reconvergent </a:t>
            </a:r>
            <a:r>
              <a:rPr dirty="0" sz="700" spc="-20">
                <a:solidFill>
                  <a:srgbClr val="22373A"/>
                </a:solidFill>
                <a:latin typeface="Tahoma"/>
                <a:cs typeface="Tahoma"/>
              </a:rPr>
              <a:t>c880</a:t>
            </a:r>
            <a:endParaRPr sz="700">
              <a:latin typeface="Tahoma"/>
              <a:cs typeface="Tahoma"/>
            </a:endParaRPr>
          </a:p>
          <a:p>
            <a:pPr marL="126364" indent="-75565">
              <a:lnSpc>
                <a:spcPct val="100000"/>
              </a:lnSpc>
              <a:spcBef>
                <a:spcPts val="140"/>
              </a:spcBef>
              <a:buClr>
                <a:srgbClr val="2C396B"/>
              </a:buClr>
              <a:buChar char="•"/>
              <a:tabLst>
                <a:tab pos="126364" algn="l"/>
              </a:tabLst>
            </a:pPr>
            <a:r>
              <a:rPr dirty="0" sz="700" spc="-4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7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set-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equivariant</a:t>
            </a:r>
            <a:r>
              <a:rPr dirty="0" sz="7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aggregator</a:t>
            </a:r>
            <a:r>
              <a:rPr dirty="0" sz="7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(DeepSets,</a:t>
            </a:r>
            <a:r>
              <a:rPr dirty="0" sz="7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attention</a:t>
            </a:r>
            <a:r>
              <a:rPr dirty="0" sz="7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pooling)</a:t>
            </a:r>
            <a:r>
              <a:rPr dirty="0" sz="7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would</a:t>
            </a:r>
            <a:r>
              <a:rPr dirty="0" sz="7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respect</a:t>
            </a:r>
            <a:r>
              <a:rPr dirty="0" sz="7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>
                <a:solidFill>
                  <a:srgbClr val="22373A"/>
                </a:solidFill>
                <a:latin typeface="Tahoma"/>
                <a:cs typeface="Tahoma"/>
              </a:rPr>
              <a:t>path</a:t>
            </a:r>
            <a:r>
              <a:rPr dirty="0" sz="7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700" spc="-10">
                <a:solidFill>
                  <a:srgbClr val="22373A"/>
                </a:solidFill>
                <a:latin typeface="Tahoma"/>
                <a:cs typeface="Tahoma"/>
              </a:rPr>
              <a:t>interchangeability</a:t>
            </a:r>
            <a:endParaRPr sz="7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292" y="2809085"/>
            <a:ext cx="2723515" cy="12318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50" spc="-10">
                <a:latin typeface="Tahoma"/>
                <a:cs typeface="Tahoma"/>
              </a:rPr>
              <a:t>Correlated</a:t>
            </a:r>
            <a:r>
              <a:rPr dirty="0" sz="550" spc="5">
                <a:latin typeface="Tahoma"/>
                <a:cs typeface="Tahoma"/>
              </a:rPr>
              <a:t> </a:t>
            </a:r>
            <a:r>
              <a:rPr dirty="0" sz="550">
                <a:latin typeface="Tahoma"/>
                <a:cs typeface="Tahoma"/>
              </a:rPr>
              <a:t>path</a:t>
            </a:r>
            <a:r>
              <a:rPr dirty="0" sz="550" spc="10">
                <a:latin typeface="Tahoma"/>
                <a:cs typeface="Tahoma"/>
              </a:rPr>
              <a:t> </a:t>
            </a:r>
            <a:r>
              <a:rPr dirty="0" sz="550">
                <a:latin typeface="Tahoma"/>
                <a:cs typeface="Tahoma"/>
              </a:rPr>
              <a:t>embeddings</a:t>
            </a:r>
            <a:r>
              <a:rPr dirty="0" sz="550" spc="10">
                <a:latin typeface="Tahoma"/>
                <a:cs typeface="Tahoma"/>
              </a:rPr>
              <a:t> </a:t>
            </a:r>
            <a:r>
              <a:rPr dirty="0" sz="550">
                <a:latin typeface="Tahoma"/>
                <a:cs typeface="Tahoma"/>
              </a:rPr>
              <a:t>reduce</a:t>
            </a:r>
            <a:r>
              <a:rPr dirty="0" sz="550" spc="10">
                <a:latin typeface="Tahoma"/>
                <a:cs typeface="Tahoma"/>
              </a:rPr>
              <a:t> </a:t>
            </a:r>
            <a:r>
              <a:rPr dirty="0" sz="550" spc="-10">
                <a:latin typeface="Tahoma"/>
                <a:cs typeface="Tahoma"/>
              </a:rPr>
              <a:t>effective</a:t>
            </a:r>
            <a:r>
              <a:rPr dirty="0" sz="550" spc="5">
                <a:latin typeface="Tahoma"/>
                <a:cs typeface="Tahoma"/>
              </a:rPr>
              <a:t> </a:t>
            </a:r>
            <a:r>
              <a:rPr dirty="0" sz="550" spc="-10">
                <a:latin typeface="Tahoma"/>
                <a:cs typeface="Tahoma"/>
              </a:rPr>
              <a:t>feature</a:t>
            </a:r>
            <a:r>
              <a:rPr dirty="0" sz="550" spc="10">
                <a:latin typeface="Tahoma"/>
                <a:cs typeface="Tahoma"/>
              </a:rPr>
              <a:t> </a:t>
            </a:r>
            <a:r>
              <a:rPr dirty="0" sz="550" spc="-10">
                <a:latin typeface="Tahoma"/>
                <a:cs typeface="Tahoma"/>
              </a:rPr>
              <a:t>diversity,</a:t>
            </a:r>
            <a:r>
              <a:rPr dirty="0" sz="550" spc="10">
                <a:latin typeface="Tahoma"/>
                <a:cs typeface="Tahoma"/>
              </a:rPr>
              <a:t> </a:t>
            </a:r>
            <a:r>
              <a:rPr dirty="0" sz="550" spc="-10">
                <a:latin typeface="Tahoma"/>
                <a:cs typeface="Tahoma"/>
              </a:rPr>
              <a:t>degrading</a:t>
            </a:r>
            <a:r>
              <a:rPr dirty="0" sz="550" spc="10">
                <a:latin typeface="Tahoma"/>
                <a:cs typeface="Tahoma"/>
              </a:rPr>
              <a:t> </a:t>
            </a:r>
            <a:r>
              <a:rPr dirty="0" sz="550" spc="-10">
                <a:latin typeface="Tahoma"/>
                <a:cs typeface="Tahoma"/>
              </a:rPr>
              <a:t>generalisation.</a:t>
            </a:r>
            <a:endParaRPr sz="5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56287" y="2993324"/>
            <a:ext cx="117475" cy="15049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00" spc="-25">
                <a:solidFill>
                  <a:srgbClr val="22373A"/>
                </a:solidFill>
                <a:latin typeface="Tahoma"/>
                <a:cs typeface="Tahoma"/>
              </a:rPr>
              <a:t>30</a:t>
            </a:r>
            <a:endParaRPr sz="7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63700"/>
            <a:ext cx="255270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Future</a:t>
            </a:r>
            <a:r>
              <a:rPr dirty="0" spc="-30"/>
              <a:t> </a:t>
            </a:r>
            <a:r>
              <a:rPr dirty="0" spc="-55"/>
              <a:t>Enhancements</a:t>
            </a:r>
            <a:r>
              <a:rPr dirty="0" spc="-25"/>
              <a:t> </a:t>
            </a:r>
            <a:r>
              <a:rPr dirty="0" spc="-50"/>
              <a:t>and</a:t>
            </a:r>
            <a:r>
              <a:rPr dirty="0" spc="-25"/>
              <a:t> </a:t>
            </a:r>
            <a:r>
              <a:rPr dirty="0" spc="-10"/>
              <a:t>Scalability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18825"/>
            <a:ext cx="47053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Two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directions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extend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this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work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directly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target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limitations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identified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above.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615829"/>
            <a:ext cx="2445385" cy="1923414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75">
                <a:solidFill>
                  <a:srgbClr val="22373A"/>
                </a:solidFill>
                <a:latin typeface="Lucida Sans Unicode"/>
                <a:cs typeface="Lucida Sans Unicode"/>
              </a:rPr>
              <a:t>SCOAP</a:t>
            </a:r>
            <a:r>
              <a:rPr dirty="0" sz="1000" spc="-1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Parameter</a:t>
            </a:r>
            <a:r>
              <a:rPr dirty="0" sz="1000" spc="-1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Integration</a:t>
            </a:r>
            <a:endParaRPr sz="1000">
              <a:latin typeface="Lucida Sans Unicode"/>
              <a:cs typeface="Lucida Sans Unicode"/>
            </a:endParaRPr>
          </a:p>
          <a:p>
            <a:pPr marL="164465" marR="5715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Incorporate</a:t>
            </a:r>
            <a:r>
              <a:rPr dirty="0" sz="1000" spc="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Sandia</a:t>
            </a:r>
            <a:r>
              <a:rPr dirty="0" sz="1000" spc="5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Controllability</a:t>
            </a:r>
            <a:r>
              <a:rPr dirty="0" sz="1000" spc="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75">
                <a:solidFill>
                  <a:srgbClr val="22373A"/>
                </a:solidFill>
                <a:latin typeface="Tahoma"/>
                <a:cs typeface="Tahoma"/>
              </a:rPr>
              <a:t>/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Observability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Analysis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Program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(SCOAP)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metrics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rank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extracted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paths</a:t>
            </a:r>
            <a:endParaRPr sz="1000">
              <a:latin typeface="Tahoma"/>
              <a:cs typeface="Tahoma"/>
            </a:endParaRPr>
          </a:p>
          <a:p>
            <a:pPr algn="just" marL="164465" marR="508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Instead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arbitrary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selection,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model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prioritises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most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“testable”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paths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for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top-</a:t>
            </a:r>
            <a:r>
              <a:rPr dirty="0" sz="1000" spc="-80">
                <a:solidFill>
                  <a:srgbClr val="22373A"/>
                </a:solidFill>
                <a:latin typeface="Tahoma"/>
                <a:cs typeface="Tahoma"/>
              </a:rPr>
              <a:t>10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budget</a:t>
            </a:r>
            <a:endParaRPr sz="1000">
              <a:latin typeface="Tahoma"/>
              <a:cs typeface="Tahoma"/>
            </a:endParaRPr>
          </a:p>
          <a:p>
            <a:pPr algn="just" marL="164465" marR="52324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Reduces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slot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noise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cone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embedding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improves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LSTM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convergence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deep</a:t>
            </a:r>
            <a:r>
              <a:rPr dirty="0" sz="10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circuits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7672" y="615829"/>
            <a:ext cx="2446655" cy="1748789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Ensemble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Modeling</a:t>
            </a:r>
            <a:endParaRPr sz="1000">
              <a:latin typeface="Lucida Sans Unicode"/>
              <a:cs typeface="Lucida Sans Unicode"/>
            </a:endParaRPr>
          </a:p>
          <a:p>
            <a:pPr marL="164465" marR="508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Implement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the paper’s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ensemble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approach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by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training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multiple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DETECTive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instances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with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different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random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seeds</a:t>
            </a:r>
            <a:endParaRPr sz="1000">
              <a:latin typeface="Tahoma"/>
              <a:cs typeface="Tahoma"/>
            </a:endParaRPr>
          </a:p>
          <a:p>
            <a:pPr marL="164465" marR="103505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Aggregating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predictions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across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models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can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boost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fault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coverage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by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up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12%</a:t>
            </a:r>
            <a:endParaRPr sz="1000">
              <a:latin typeface="Lucida Sans Unicode"/>
              <a:cs typeface="Lucida Sans Unicode"/>
            </a:endParaRPr>
          </a:p>
          <a:p>
            <a:pPr marL="164465" marR="102235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Compensates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single-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instance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prediction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errors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hard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cases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(</a:t>
            </a:r>
            <a:r>
              <a:rPr dirty="0" sz="1000" spc="-25" i="1">
                <a:solidFill>
                  <a:srgbClr val="22373A"/>
                </a:solidFill>
                <a:latin typeface="Courier New"/>
                <a:cs typeface="Courier New"/>
              </a:rPr>
              <a:t>c499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, </a:t>
            </a:r>
            <a:r>
              <a:rPr dirty="0" sz="1000" spc="-10" i="1">
                <a:solidFill>
                  <a:srgbClr val="22373A"/>
                </a:solidFill>
                <a:latin typeface="Courier New"/>
                <a:cs typeface="Courier New"/>
              </a:rPr>
              <a:t>c1908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2640901"/>
            <a:ext cx="5039995" cy="190500"/>
          </a:xfrm>
          <a:prstGeom prst="rect">
            <a:avLst/>
          </a:prstGeom>
          <a:solidFill>
            <a:srgbClr val="E9EBF0"/>
          </a:solidFill>
        </p:spPr>
        <p:txBody>
          <a:bodyPr wrap="square" lIns="0" tIns="7620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60"/>
              </a:spcBef>
            </a:pPr>
            <a:r>
              <a:rPr dirty="0" sz="1000" spc="-50">
                <a:solidFill>
                  <a:srgbClr val="C0392B"/>
                </a:solidFill>
                <a:latin typeface="Lucida Sans Unicode"/>
                <a:cs typeface="Lucida Sans Unicode"/>
              </a:rPr>
              <a:t>Mapped</a:t>
            </a:r>
            <a:r>
              <a:rPr dirty="0" sz="1000" spc="-35">
                <a:solidFill>
                  <a:srgbClr val="C0392B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C0392B"/>
                </a:solidFill>
                <a:latin typeface="Lucida Sans Unicode"/>
                <a:cs typeface="Lucida Sans Unicode"/>
              </a:rPr>
              <a:t>to</a:t>
            </a:r>
            <a:r>
              <a:rPr dirty="0" sz="1000" spc="-35">
                <a:solidFill>
                  <a:srgbClr val="C0392B"/>
                </a:solidFill>
                <a:latin typeface="Lucida Sans Unicode"/>
                <a:cs typeface="Lucida Sans Unicode"/>
              </a:rPr>
              <a:t> this </a:t>
            </a:r>
            <a:r>
              <a:rPr dirty="0" sz="1000" spc="-65">
                <a:solidFill>
                  <a:srgbClr val="C0392B"/>
                </a:solidFill>
                <a:latin typeface="Lucida Sans Unicode"/>
                <a:cs typeface="Lucida Sans Unicode"/>
              </a:rPr>
              <a:t>work’s</a:t>
            </a:r>
            <a:r>
              <a:rPr dirty="0" sz="1000" spc="-30">
                <a:solidFill>
                  <a:srgbClr val="C0392B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C0392B"/>
                </a:solidFill>
                <a:latin typeface="Lucida Sans Unicode"/>
                <a:cs typeface="Lucida Sans Unicode"/>
              </a:rPr>
              <a:t>limitations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994" y="2830944"/>
            <a:ext cx="5039995" cy="409575"/>
          </a:xfrm>
          <a:prstGeom prst="rect">
            <a:avLst/>
          </a:prstGeom>
          <a:solidFill>
            <a:srgbClr val="F4F6F9"/>
          </a:solidFill>
        </p:spPr>
        <p:txBody>
          <a:bodyPr wrap="square" lIns="0" tIns="8890" rIns="0" bIns="0" rtlCol="0" vert="horz">
            <a:spAutoFit/>
          </a:bodyPr>
          <a:lstStyle/>
          <a:p>
            <a:pPr marL="41910" marR="240029">
              <a:lnSpc>
                <a:spcPts val="1370"/>
              </a:lnSpc>
              <a:spcBef>
                <a:spcPts val="70"/>
              </a:spcBef>
            </a:pPr>
            <a:r>
              <a:rPr dirty="0" sz="1000" spc="-40">
                <a:latin typeface="Tahoma"/>
                <a:cs typeface="Tahoma"/>
              </a:rPr>
              <a:t>SCOAP</a:t>
            </a:r>
            <a:r>
              <a:rPr dirty="0" sz="1000">
                <a:latin typeface="Tahoma"/>
                <a:cs typeface="Tahoma"/>
              </a:rPr>
              <a:t> addresses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depth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degradation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(Limitation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110">
                <a:latin typeface="Tahoma"/>
                <a:cs typeface="Tahoma"/>
              </a:rPr>
              <a:t>1)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by directing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LSTM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toward </a:t>
            </a:r>
            <a:r>
              <a:rPr dirty="0" sz="1000">
                <a:latin typeface="Tahoma"/>
                <a:cs typeface="Tahoma"/>
              </a:rPr>
              <a:t>informative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paths.</a:t>
            </a:r>
            <a:r>
              <a:rPr dirty="0" sz="1000" spc="9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Ensembles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address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reconvergence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(Limitation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80">
                <a:latin typeface="Tahoma"/>
                <a:cs typeface="Tahoma"/>
              </a:rPr>
              <a:t>2)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by</a:t>
            </a:r>
            <a:r>
              <a:rPr dirty="0" sz="1000" spc="-10">
                <a:latin typeface="Tahoma"/>
                <a:cs typeface="Tahoma"/>
              </a:rPr>
              <a:t> averaging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out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70372" y="2998815"/>
            <a:ext cx="1035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5">
                <a:solidFill>
                  <a:srgbClr val="22373A"/>
                </a:solidFill>
                <a:latin typeface="Tahoma"/>
                <a:cs typeface="Tahoma"/>
              </a:rPr>
              <a:t>31</a:t>
            </a:r>
            <a:endParaRPr sz="7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Conclusion</a:t>
            </a:r>
            <a:r>
              <a:rPr dirty="0" spc="-45"/>
              <a:t> </a:t>
            </a:r>
            <a:r>
              <a:rPr dirty="0" spc="-265"/>
              <a:t>—</a:t>
            </a:r>
            <a:r>
              <a:rPr dirty="0" spc="-45"/>
              <a:t> </a:t>
            </a:r>
            <a:r>
              <a:rPr dirty="0" spc="-150"/>
              <a:t>A</a:t>
            </a:r>
            <a:r>
              <a:rPr dirty="0" spc="-45"/>
              <a:t> </a:t>
            </a:r>
            <a:r>
              <a:rPr dirty="0" spc="-60"/>
              <a:t>Paradigm</a:t>
            </a:r>
            <a:r>
              <a:rPr dirty="0" spc="-40"/>
              <a:t> </a:t>
            </a:r>
            <a:r>
              <a:rPr dirty="0" spc="-10"/>
              <a:t>Shift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96043"/>
            <a:ext cx="4830445" cy="374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000" spc="-125">
                <a:solidFill>
                  <a:srgbClr val="22373A"/>
                </a:solidFill>
                <a:latin typeface="Lucida Sans Unicode"/>
                <a:cs typeface="Lucida Sans Unicode"/>
              </a:rPr>
              <a:t>A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New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Way</a:t>
            </a:r>
            <a:r>
              <a:rPr dirty="0" sz="1000" spc="-2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of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5">
                <a:solidFill>
                  <a:srgbClr val="22373A"/>
                </a:solidFill>
                <a:latin typeface="Lucida Sans Unicode"/>
                <a:cs typeface="Lucida Sans Unicode"/>
              </a:rPr>
              <a:t>Testing:</a:t>
            </a:r>
            <a:r>
              <a:rPr dirty="0" sz="1000" spc="9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We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successfully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transitioned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from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manual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search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intelligent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structural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prediction.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pc="-45"/>
              <a:t>Traditional </a:t>
            </a:r>
            <a:r>
              <a:rPr dirty="0" spc="-35"/>
              <a:t>vs.</a:t>
            </a:r>
            <a:r>
              <a:rPr dirty="0" spc="50"/>
              <a:t> </a:t>
            </a:r>
            <a:r>
              <a:rPr dirty="0" spc="-10"/>
              <a:t>Proposed</a:t>
            </a:r>
          </a:p>
          <a:p>
            <a:pPr algn="just" marL="164465" marR="5080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Font typeface="Tahoma"/>
              <a:buChar char="•"/>
              <a:tabLst>
                <a:tab pos="164465" algn="l"/>
              </a:tabLst>
            </a:pPr>
            <a:r>
              <a:rPr dirty="0" spc="-45"/>
              <a:t>Classical</a:t>
            </a:r>
            <a:r>
              <a:rPr dirty="0" spc="-35"/>
              <a:t> </a:t>
            </a:r>
            <a:r>
              <a:rPr dirty="0" spc="-25"/>
              <a:t>Search:</a:t>
            </a:r>
            <a:r>
              <a:rPr dirty="0" spc="40"/>
              <a:t> </a:t>
            </a:r>
            <a:r>
              <a:rPr dirty="0">
                <a:latin typeface="Tahoma"/>
                <a:cs typeface="Tahoma"/>
              </a:rPr>
              <a:t>Spends</a:t>
            </a:r>
            <a:r>
              <a:rPr dirty="0" spc="-2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massive</a:t>
            </a:r>
            <a:r>
              <a:rPr dirty="0" spc="-35">
                <a:latin typeface="Tahoma"/>
                <a:cs typeface="Tahoma"/>
              </a:rPr>
              <a:t> </a:t>
            </a:r>
            <a:r>
              <a:rPr dirty="0" spc="-20">
                <a:latin typeface="Tahoma"/>
                <a:cs typeface="Tahoma"/>
              </a:rPr>
              <a:t>time </a:t>
            </a:r>
            <a:r>
              <a:rPr dirty="0">
                <a:latin typeface="Tahoma"/>
                <a:cs typeface="Tahoma"/>
              </a:rPr>
              <a:t>navigating</a:t>
            </a:r>
            <a:r>
              <a:rPr dirty="0" spc="-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decision trees and </a:t>
            </a:r>
            <a:r>
              <a:rPr dirty="0" spc="-10">
                <a:latin typeface="Tahoma"/>
                <a:cs typeface="Tahoma"/>
              </a:rPr>
              <a:t>undoing </a:t>
            </a:r>
            <a:r>
              <a:rPr dirty="0">
                <a:latin typeface="Tahoma"/>
                <a:cs typeface="Tahoma"/>
              </a:rPr>
              <a:t>mistakes</a:t>
            </a:r>
            <a:r>
              <a:rPr dirty="0" spc="-10">
                <a:latin typeface="Tahoma"/>
                <a:cs typeface="Tahoma"/>
              </a:rPr>
              <a:t> (backtracking).</a:t>
            </a:r>
          </a:p>
          <a:p>
            <a:pPr marL="164465" marR="69850" indent="-99695">
              <a:lnSpc>
                <a:spcPct val="114599"/>
              </a:lnSpc>
              <a:spcBef>
                <a:spcPts val="300"/>
              </a:spcBef>
              <a:buClr>
                <a:srgbClr val="2C396B"/>
              </a:buClr>
              <a:buFont typeface="Tahoma"/>
              <a:buChar char="•"/>
              <a:tabLst>
                <a:tab pos="164465" algn="l"/>
              </a:tabLst>
            </a:pPr>
            <a:r>
              <a:rPr dirty="0" spc="-70"/>
              <a:t>Our</a:t>
            </a:r>
            <a:r>
              <a:rPr dirty="0" spc="-30"/>
              <a:t> </a:t>
            </a:r>
            <a:r>
              <a:rPr dirty="0" spc="-55"/>
              <a:t>Approach</a:t>
            </a:r>
            <a:r>
              <a:rPr dirty="0" spc="-30"/>
              <a:t> </a:t>
            </a:r>
            <a:r>
              <a:rPr dirty="0" spc="-45"/>
              <a:t>(ATPP):</a:t>
            </a:r>
            <a:r>
              <a:rPr dirty="0" spc="-10"/>
              <a:t> </a:t>
            </a:r>
            <a:r>
              <a:rPr dirty="0" spc="-10">
                <a:latin typeface="Tahoma"/>
                <a:cs typeface="Tahoma"/>
              </a:rPr>
              <a:t>Analyzes </a:t>
            </a:r>
            <a:r>
              <a:rPr dirty="0" spc="-25">
                <a:latin typeface="Tahoma"/>
                <a:cs typeface="Tahoma"/>
              </a:rPr>
              <a:t>the </a:t>
            </a:r>
            <a:r>
              <a:rPr dirty="0">
                <a:latin typeface="Tahoma"/>
                <a:cs typeface="Tahoma"/>
              </a:rPr>
              <a:t>circuit</a:t>
            </a:r>
            <a:r>
              <a:rPr dirty="0" spc="-1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structure</a:t>
            </a:r>
            <a:r>
              <a:rPr dirty="0" spc="-1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as a</a:t>
            </a:r>
            <a:r>
              <a:rPr dirty="0" spc="-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whole</a:t>
            </a:r>
            <a:r>
              <a:rPr dirty="0" spc="-1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to</a:t>
            </a:r>
            <a:r>
              <a:rPr dirty="0" spc="-5">
                <a:latin typeface="Tahoma"/>
                <a:cs typeface="Tahoma"/>
              </a:rPr>
              <a:t> </a:t>
            </a:r>
            <a:r>
              <a:rPr dirty="0" spc="-10">
                <a:latin typeface="Tahoma"/>
                <a:cs typeface="Tahoma"/>
              </a:rPr>
              <a:t>predict </a:t>
            </a:r>
            <a:r>
              <a:rPr dirty="0">
                <a:latin typeface="Tahoma"/>
                <a:cs typeface="Tahoma"/>
              </a:rPr>
              <a:t>the</a:t>
            </a:r>
            <a:r>
              <a:rPr dirty="0" spc="-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test pattern in</a:t>
            </a:r>
            <a:r>
              <a:rPr dirty="0" spc="5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one direct </a:t>
            </a:r>
            <a:r>
              <a:rPr dirty="0" spc="-20">
                <a:latin typeface="Tahoma"/>
                <a:cs typeface="Tahoma"/>
              </a:rPr>
              <a:t>pass.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68117" y="790429"/>
            <a:ext cx="2441575" cy="136207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50">
                <a:solidFill>
                  <a:srgbClr val="22373A"/>
                </a:solidFill>
                <a:latin typeface="Lucida Sans Unicode"/>
                <a:cs typeface="Lucida Sans Unicode"/>
              </a:rPr>
              <a:t>Key</a:t>
            </a:r>
            <a:r>
              <a:rPr dirty="0" sz="1000" spc="-45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Lucida Sans Unicode"/>
                <a:cs typeface="Lucida Sans Unicode"/>
              </a:rPr>
              <a:t>Project</a:t>
            </a:r>
            <a:r>
              <a:rPr dirty="0" sz="1000" spc="-4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Lucida Sans Unicode"/>
                <a:cs typeface="Lucida Sans Unicode"/>
              </a:rPr>
              <a:t>Outcomes</a:t>
            </a:r>
            <a:endParaRPr sz="1000">
              <a:latin typeface="Lucida Sans Unicode"/>
              <a:cs typeface="Lucida Sans Unicode"/>
            </a:endParaRPr>
          </a:p>
          <a:p>
            <a:pPr marL="164465" marR="132715" indent="-99695">
              <a:lnSpc>
                <a:spcPct val="114599"/>
              </a:lnSpc>
              <a:spcBef>
                <a:spcPts val="295"/>
              </a:spcBef>
              <a:buClr>
                <a:srgbClr val="2C396B"/>
              </a:buClr>
              <a:buChar char="•"/>
              <a:tabLst>
                <a:tab pos="16446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Proved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that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Graph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Attention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85">
                <a:solidFill>
                  <a:srgbClr val="22373A"/>
                </a:solidFill>
                <a:latin typeface="Tahoma"/>
                <a:cs typeface="Tahoma"/>
              </a:rPr>
              <a:t>(GAT)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can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effectively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learn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importance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in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digital</a:t>
            </a:r>
            <a:r>
              <a:rPr dirty="0" sz="1000" spc="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logic.</a:t>
            </a:r>
            <a:endParaRPr sz="1000">
              <a:latin typeface="Tahoma"/>
              <a:cs typeface="Tahoma"/>
            </a:endParaRPr>
          </a:p>
          <a:p>
            <a:pPr marL="163830" indent="-99060">
              <a:lnSpc>
                <a:spcPct val="100000"/>
              </a:lnSpc>
              <a:spcBef>
                <a:spcPts val="475"/>
              </a:spcBef>
              <a:buClr>
                <a:srgbClr val="2C396B"/>
              </a:buClr>
              <a:buChar char="•"/>
              <a:tabLst>
                <a:tab pos="163830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Successfully</a:t>
            </a:r>
            <a:r>
              <a:rPr dirty="0" sz="1000" spc="5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handled</a:t>
            </a:r>
            <a:r>
              <a:rPr dirty="0" sz="1000" spc="6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complex,</a:t>
            </a:r>
            <a:endParaRPr sz="1000">
              <a:latin typeface="Tahoma"/>
              <a:cs typeface="Tahoma"/>
            </a:endParaRPr>
          </a:p>
          <a:p>
            <a:pPr marL="164465" marR="5080">
              <a:lnSpc>
                <a:spcPct val="114599"/>
              </a:lnSpc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variable-length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paths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using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dual-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LSTM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architecture.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2304351"/>
            <a:ext cx="5039995" cy="190500"/>
          </a:xfrm>
          <a:prstGeom prst="rect">
            <a:avLst/>
          </a:prstGeom>
          <a:solidFill>
            <a:srgbClr val="E9EBF0"/>
          </a:solidFill>
        </p:spPr>
        <p:txBody>
          <a:bodyPr wrap="square" lIns="0" tIns="7620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60"/>
              </a:spcBef>
            </a:pPr>
            <a:r>
              <a:rPr dirty="0" sz="1000" spc="-75">
                <a:solidFill>
                  <a:srgbClr val="2C396B"/>
                </a:solidFill>
                <a:latin typeface="Lucida Sans Unicode"/>
                <a:cs typeface="Lucida Sans Unicode"/>
              </a:rPr>
              <a:t>The</a:t>
            </a:r>
            <a:r>
              <a:rPr dirty="0" sz="1000" spc="-35">
                <a:solidFill>
                  <a:srgbClr val="2C396B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2C396B"/>
                </a:solidFill>
                <a:latin typeface="Lucida Sans Unicode"/>
                <a:cs typeface="Lucida Sans Unicode"/>
              </a:rPr>
              <a:t>Impact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994" y="2494394"/>
            <a:ext cx="5039995" cy="746125"/>
          </a:xfrm>
          <a:prstGeom prst="rect">
            <a:avLst/>
          </a:prstGeom>
          <a:solidFill>
            <a:srgbClr val="F4F6F9"/>
          </a:solidFill>
        </p:spPr>
        <p:txBody>
          <a:bodyPr wrap="square" lIns="0" tIns="29209" rIns="0" bIns="0" rtlCol="0" vert="horz">
            <a:spAutoFit/>
          </a:bodyPr>
          <a:lstStyle/>
          <a:p>
            <a:pPr marL="151765" marR="376555" indent="-99695">
              <a:lnSpc>
                <a:spcPct val="114599"/>
              </a:lnSpc>
              <a:spcBef>
                <a:spcPts val="229"/>
              </a:spcBef>
              <a:buClr>
                <a:srgbClr val="2C396B"/>
              </a:buClr>
              <a:buFont typeface="Tahoma"/>
              <a:buChar char="•"/>
              <a:tabLst>
                <a:tab pos="151765" algn="l"/>
              </a:tabLst>
            </a:pPr>
            <a:r>
              <a:rPr dirty="0" sz="1000" spc="-40">
                <a:latin typeface="Lucida Sans Unicode"/>
                <a:cs typeface="Lucida Sans Unicode"/>
              </a:rPr>
              <a:t>Significant </a:t>
            </a:r>
            <a:r>
              <a:rPr dirty="0" sz="1000" spc="-30">
                <a:latin typeface="Lucida Sans Unicode"/>
                <a:cs typeface="Lucida Sans Unicode"/>
              </a:rPr>
              <a:t>Speedup:</a:t>
            </a:r>
            <a:r>
              <a:rPr dirty="0" sz="1000" spc="7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Achieved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55">
                <a:latin typeface="Lucida Sans Unicode"/>
                <a:cs typeface="Lucida Sans Unicode"/>
              </a:rPr>
              <a:t>17.6×</a:t>
            </a:r>
            <a:r>
              <a:rPr dirty="0" sz="1000" spc="-2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speed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increase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over</a:t>
            </a:r>
            <a:r>
              <a:rPr dirty="0" sz="1000" spc="-25">
                <a:latin typeface="Tahoma"/>
                <a:cs typeface="Tahoma"/>
              </a:rPr>
              <a:t> PODEM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industrial benchmarks.</a:t>
            </a:r>
            <a:endParaRPr sz="1000">
              <a:latin typeface="Tahoma"/>
              <a:cs typeface="Tahoma"/>
            </a:endParaRPr>
          </a:p>
          <a:p>
            <a:pPr marL="151765" marR="40005" indent="-99695">
              <a:lnSpc>
                <a:spcPts val="1370"/>
              </a:lnSpc>
              <a:spcBef>
                <a:spcPts val="150"/>
              </a:spcBef>
              <a:buClr>
                <a:srgbClr val="2C396B"/>
              </a:buClr>
              <a:buFont typeface="Tahoma"/>
              <a:buChar char="•"/>
              <a:tabLst>
                <a:tab pos="151765" algn="l"/>
              </a:tabLst>
            </a:pPr>
            <a:r>
              <a:rPr dirty="0" sz="1000" spc="-65">
                <a:latin typeface="Lucida Sans Unicode"/>
                <a:cs typeface="Lucida Sans Unicode"/>
              </a:rPr>
              <a:t>High</a:t>
            </a:r>
            <a:r>
              <a:rPr dirty="0" sz="1000" spc="-40">
                <a:latin typeface="Lucida Sans Unicode"/>
                <a:cs typeface="Lucida Sans Unicode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Reliability:</a:t>
            </a:r>
            <a:r>
              <a:rPr dirty="0" sz="1000" spc="8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Delivered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70">
                <a:latin typeface="Lucida Sans Unicode"/>
                <a:cs typeface="Lucida Sans Unicode"/>
              </a:rPr>
              <a:t>83.58%</a:t>
            </a:r>
            <a:r>
              <a:rPr dirty="0" sz="1000" spc="-35">
                <a:latin typeface="Lucida Sans Unicode"/>
                <a:cs typeface="Lucida Sans Unicode"/>
              </a:rPr>
              <a:t> </a:t>
            </a:r>
            <a:r>
              <a:rPr dirty="0" sz="1000" spc="-30">
                <a:latin typeface="Lucida Sans Unicode"/>
                <a:cs typeface="Lucida Sans Unicode"/>
              </a:rPr>
              <a:t>overall</a:t>
            </a:r>
            <a:r>
              <a:rPr dirty="0" sz="1000" spc="-35">
                <a:latin typeface="Lucida Sans Unicode"/>
                <a:cs typeface="Lucida Sans Unicode"/>
              </a:rPr>
              <a:t> </a:t>
            </a:r>
            <a:r>
              <a:rPr dirty="0" sz="1000" spc="-50">
                <a:latin typeface="Lucida Sans Unicode"/>
                <a:cs typeface="Lucida Sans Unicode"/>
              </a:rPr>
              <a:t>accuracy</a:t>
            </a:r>
            <a:r>
              <a:rPr dirty="0" sz="1000" spc="-50">
                <a:latin typeface="Tahoma"/>
                <a:cs typeface="Tahoma"/>
              </a:rPr>
              <a:t>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reaching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nearly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65">
                <a:latin typeface="Lucida Sans Unicode"/>
                <a:cs typeface="Lucida Sans Unicode"/>
              </a:rPr>
              <a:t>100%</a:t>
            </a:r>
            <a:r>
              <a:rPr dirty="0" sz="1000" spc="-20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common </a:t>
            </a:r>
            <a:r>
              <a:rPr dirty="0" sz="1000">
                <a:latin typeface="Tahoma"/>
                <a:cs typeface="Tahoma"/>
              </a:rPr>
              <a:t>circuit</a:t>
            </a:r>
            <a:r>
              <a:rPr dirty="0" sz="1000" spc="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depths.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3463" y="2998815"/>
            <a:ext cx="1104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35">
                <a:solidFill>
                  <a:srgbClr val="22373A"/>
                </a:solidFill>
                <a:latin typeface="Tahoma"/>
                <a:cs typeface="Tahoma"/>
              </a:rPr>
              <a:t>32</a:t>
            </a:r>
            <a:endParaRPr sz="7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41766" y="1198851"/>
            <a:ext cx="1877060" cy="5861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400" spc="-75">
                <a:solidFill>
                  <a:srgbClr val="F9F9F9"/>
                </a:solidFill>
                <a:latin typeface="Lucida Sans Unicode"/>
                <a:cs typeface="Lucida Sans Unicode"/>
              </a:rPr>
              <a:t>Thank</a:t>
            </a:r>
            <a:r>
              <a:rPr dirty="0" sz="1400" spc="-3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F9F9F9"/>
                </a:solidFill>
                <a:latin typeface="Lucida Sans Unicode"/>
                <a:cs typeface="Lucida Sans Unicode"/>
              </a:rPr>
              <a:t>you</a:t>
            </a:r>
            <a:endParaRPr sz="14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1500"/>
              </a:spcBef>
            </a:pPr>
            <a:r>
              <a:rPr dirty="0" sz="1000">
                <a:solidFill>
                  <a:srgbClr val="F9F9F9"/>
                </a:solidFill>
                <a:latin typeface="Tahoma"/>
                <a:cs typeface="Tahoma"/>
              </a:rPr>
              <a:t>Questions</a:t>
            </a:r>
            <a:r>
              <a:rPr dirty="0" sz="1000" spc="55">
                <a:solidFill>
                  <a:srgbClr val="F9F9F9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F9F9F9"/>
                </a:solidFill>
                <a:latin typeface="Tahoma"/>
                <a:cs typeface="Tahoma"/>
              </a:rPr>
              <a:t>&amp;</a:t>
            </a:r>
            <a:r>
              <a:rPr dirty="0" sz="1000" spc="55">
                <a:solidFill>
                  <a:srgbClr val="F9F9F9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F9F9F9"/>
                </a:solidFill>
                <a:latin typeface="Tahoma"/>
                <a:cs typeface="Tahoma"/>
              </a:rPr>
              <a:t>discussion</a:t>
            </a:r>
            <a:r>
              <a:rPr dirty="0" sz="1000" spc="45">
                <a:solidFill>
                  <a:srgbClr val="F9F9F9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9F9F9"/>
                </a:solidFill>
                <a:latin typeface="Tahoma"/>
                <a:cs typeface="Tahoma"/>
              </a:rPr>
              <a:t>welcome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Prasham Shah  |  Dhruvi Jobanputra</dc:creator>
  <dc:title>DETECTive: ML-driven Automatic Test Pattern Prediction - Faults in Digital Circuits — A GNN+LSTM Approach to ATPG</dc:title>
  <dcterms:created xsi:type="dcterms:W3CDTF">2026-05-01T14:10:28Z</dcterms:created>
  <dcterms:modified xsi:type="dcterms:W3CDTF">2026-05-01T14:10:28Z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2026-05-01T00:00:00Z</vt:filetime>
  </property>
  <property fmtid="{D5CDD505-2E9C-101B-9397-08002B2CF9AE}" pid="4" name="Creator">
    <vt:lpwstr>LaTeX with Beamer class</vt:lpwstr>
  </property>
  <property fmtid="{D5CDD505-2E9C-101B-9397-08002B2CF9AE}" pid="5" name="Producer">
    <vt:lpwstr>xdvipdfmx (20210318)</vt:lpwstr>
  </property>
  <property fmtid="{D5CDD505-2E9C-101B-9397-08002B2CF9AE}" pid="6" name="LastSaved">
    <vt:filetime>2026-05-01T00:00:00Z</vt:filetime>
  </property>
</Properties>
</file>